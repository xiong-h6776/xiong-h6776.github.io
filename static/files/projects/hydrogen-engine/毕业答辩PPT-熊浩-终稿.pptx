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502" r:id="rId2"/>
    <p:sldId id="590" r:id="rId3"/>
    <p:sldId id="592" r:id="rId4"/>
    <p:sldId id="593" r:id="rId5"/>
    <p:sldId id="594" r:id="rId6"/>
    <p:sldId id="613" r:id="rId7"/>
    <p:sldId id="599" r:id="rId8"/>
    <p:sldId id="600" r:id="rId9"/>
    <p:sldId id="601" r:id="rId10"/>
    <p:sldId id="602" r:id="rId11"/>
    <p:sldId id="614" r:id="rId12"/>
    <p:sldId id="611" r:id="rId13"/>
    <p:sldId id="604" r:id="rId14"/>
    <p:sldId id="606" r:id="rId15"/>
    <p:sldId id="617" r:id="rId16"/>
    <p:sldId id="615" r:id="rId17"/>
    <p:sldId id="607" r:id="rId18"/>
    <p:sldId id="608" r:id="rId19"/>
    <p:sldId id="609" r:id="rId20"/>
    <p:sldId id="616" r:id="rId21"/>
    <p:sldId id="598" r:id="rId22"/>
    <p:sldId id="612"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00000"/>
    <a:srgbClr val="FF0000"/>
    <a:srgbClr val="2F5597"/>
    <a:srgbClr val="5476AF"/>
    <a:srgbClr val="8FAADC"/>
    <a:srgbClr val="ED7D31"/>
    <a:srgbClr val="F19D64"/>
    <a:srgbClr val="A9734F"/>
    <a:srgbClr val="3A92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2" autoAdjust="0"/>
    <p:restoredTop sz="71254" autoAdjust="0"/>
  </p:normalViewPr>
  <p:slideViewPr>
    <p:cSldViewPr snapToGrid="0">
      <p:cViewPr varScale="1">
        <p:scale>
          <a:sx n="65" d="100"/>
          <a:sy n="65" d="100"/>
        </p:scale>
        <p:origin x="788" y="0"/>
      </p:cViewPr>
      <p:guideLst/>
    </p:cSldViewPr>
  </p:slideViewPr>
  <p:outlineViewPr>
    <p:cViewPr>
      <p:scale>
        <a:sx n="75" d="100"/>
        <a:sy n="75"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A9F04F-F0B4-49B5-BFCE-0689A13DC49B}" type="datetimeFigureOut">
              <a:rPr lang="zh-CN" altLang="en-US" smtClean="0"/>
              <a:t>2026/5/29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68F42-9347-4EA8-B314-ADAAE8A7D24B}" type="slidenum">
              <a:rPr lang="zh-CN" altLang="en-US" smtClean="0"/>
              <a:t>‹#›</a:t>
            </a:fld>
            <a:endParaRPr lang="zh-CN" altLang="en-US"/>
          </a:p>
        </p:txBody>
      </p:sp>
    </p:spTree>
    <p:extLst>
      <p:ext uri="{BB962C8B-B14F-4D97-AF65-F5344CB8AC3E}">
        <p14:creationId xmlns:p14="http://schemas.microsoft.com/office/powerpoint/2010/main" val="3955571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尊敬的各位评审老师，大家好，我是熊浩，我的毕业论文题目是“氢内燃机爆震机理及唯象模型研究”。</a:t>
            </a:r>
            <a:endParaRPr lang="zh-CN" altLang="en-US" dirty="0"/>
          </a:p>
        </p:txBody>
      </p:sp>
      <p:sp>
        <p:nvSpPr>
          <p:cNvPr id="4" name="灯片编号占位符 3"/>
          <p:cNvSpPr>
            <a:spLocks noGrp="1"/>
          </p:cNvSpPr>
          <p:nvPr>
            <p:ph type="sldNum" sz="quarter" idx="10"/>
          </p:nvPr>
        </p:nvSpPr>
        <p:spPr/>
        <p:txBody>
          <a:bodyPr/>
          <a:lstStyle/>
          <a:p>
            <a:fld id="{EBD68F42-9347-4EA8-B314-ADAAE8A7D24B}" type="slidenum">
              <a:rPr lang="zh-CN" altLang="en-US" smtClean="0"/>
              <a:t>1</a:t>
            </a:fld>
            <a:endParaRPr lang="zh-CN" altLang="en-US"/>
          </a:p>
        </p:txBody>
      </p:sp>
    </p:spTree>
    <p:extLst>
      <p:ext uri="{BB962C8B-B14F-4D97-AF65-F5344CB8AC3E}">
        <p14:creationId xmlns:p14="http://schemas.microsoft.com/office/powerpoint/2010/main" val="42619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3F693-E522-D9A6-965E-E222564B34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4C313F-2480-FE25-D198-004E124F58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4E059F-A25F-22BA-B20F-1BC5E3B28807}"/>
              </a:ext>
            </a:extLst>
          </p:cNvPr>
          <p:cNvSpPr>
            <a:spLocks noGrp="1"/>
          </p:cNvSpPr>
          <p:nvPr>
            <p:ph type="body" idx="1"/>
          </p:nvPr>
        </p:nvSpPr>
        <p:spPr/>
        <p:txBody>
          <a:bodyPr/>
          <a:lstStyle/>
          <a:p>
            <a:r>
              <a:rPr lang="zh-CN" altLang="en-US"/>
              <a:t>研究内容总共分为以下五个章节</a:t>
            </a:r>
            <a:endParaRPr lang="zh-CN" altLang="en-US" dirty="0"/>
          </a:p>
        </p:txBody>
      </p:sp>
      <p:sp>
        <p:nvSpPr>
          <p:cNvPr id="4" name="灯片编号占位符 3">
            <a:extLst>
              <a:ext uri="{FF2B5EF4-FFF2-40B4-BE49-F238E27FC236}">
                <a16:creationId xmlns:a16="http://schemas.microsoft.com/office/drawing/2014/main" id="{B78D55D8-FDD0-1281-06E1-E9669A8F1380}"/>
              </a:ext>
            </a:extLst>
          </p:cNvPr>
          <p:cNvSpPr>
            <a:spLocks noGrp="1"/>
          </p:cNvSpPr>
          <p:nvPr>
            <p:ph type="sldNum" sz="quarter" idx="10"/>
          </p:nvPr>
        </p:nvSpPr>
        <p:spPr/>
        <p:txBody>
          <a:bodyPr/>
          <a:lstStyle/>
          <a:p>
            <a:fld id="{050842F3-AA9E-40E5-99C4-B19904F777C1}" type="slidenum">
              <a:rPr lang="zh-CN" altLang="en-US" smtClean="0"/>
              <a:pPr/>
              <a:t>2</a:t>
            </a:fld>
            <a:endParaRPr lang="zh-CN" altLang="en-US"/>
          </a:p>
        </p:txBody>
      </p:sp>
    </p:spTree>
    <p:extLst>
      <p:ext uri="{BB962C8B-B14F-4D97-AF65-F5344CB8AC3E}">
        <p14:creationId xmlns:p14="http://schemas.microsoft.com/office/powerpoint/2010/main" val="373816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C7EA7-BC33-A7E7-DFF9-69A1E62073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7941F0-ACA4-0D59-CB59-86A64219E0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672B57-5724-2742-8CC2-F4EA90284D89}"/>
              </a:ext>
            </a:extLst>
          </p:cNvPr>
          <p:cNvSpPr>
            <a:spLocks noGrp="1"/>
          </p:cNvSpPr>
          <p:nvPr>
            <p:ph type="body" idx="1"/>
          </p:nvPr>
        </p:nvSpPr>
        <p:spPr/>
        <p:txBody>
          <a:bodyPr/>
          <a:lstStyle/>
          <a:p>
            <a:r>
              <a:rPr lang="zh-CN" altLang="en-US"/>
              <a:t>在“双碳”目标的大背景下，氢内燃机成为了内燃机行业实现碳中和的关键路径。然而氢气的化学特性极易引发爆震。而预测氢内燃机爆震问题的方法主要有</a:t>
            </a:r>
            <a:r>
              <a:rPr lang="en-US" altLang="zh-CN"/>
              <a:t>CFD</a:t>
            </a:r>
            <a:r>
              <a:rPr lang="zh-CN" altLang="en-US"/>
              <a:t>仿真与准维</a:t>
            </a:r>
            <a:r>
              <a:rPr lang="en-US" altLang="zh-CN"/>
              <a:t>/</a:t>
            </a:r>
            <a:r>
              <a:rPr lang="zh-CN" altLang="en-US"/>
              <a:t>唯象模型，三维</a:t>
            </a:r>
            <a:r>
              <a:rPr lang="en-US" altLang="zh-CN"/>
              <a:t>CFD</a:t>
            </a:r>
            <a:r>
              <a:rPr lang="zh-CN" altLang="en-US"/>
              <a:t>仿真虽然精度高，但耗时巨大，无法用于控制策略的实时开发，而</a:t>
            </a:r>
            <a:r>
              <a:rPr lang="zh-CN" altLang="en-US" b="1"/>
              <a:t>准维唯象模型</a:t>
            </a:r>
            <a:r>
              <a:rPr lang="zh-CN" altLang="en-US" b="0"/>
              <a:t>可以快速完成氢内燃机燃烧仿真与爆震倾向预测其</a:t>
            </a:r>
            <a:r>
              <a:rPr lang="zh-CN" altLang="en-US" sz="1200" kern="1200">
                <a:solidFill>
                  <a:schemeClr val="tx1"/>
                </a:solidFill>
                <a:effectLst/>
                <a:latin typeface="+mn-lt"/>
                <a:ea typeface="+mn-ea"/>
                <a:cs typeface="+mn-cs"/>
              </a:rPr>
              <a:t>优势明显</a:t>
            </a:r>
            <a:r>
              <a:rPr lang="zh-CN" altLang="en-US"/>
              <a:t>。因此，本课题旨在开发一种计算效率高、物理意义明确的准维唯象模型以快速评估爆震倾向，从而缩短研发周期，降低标定成本。</a:t>
            </a:r>
            <a:endParaRPr lang="zh-CN" altLang="en-US" dirty="0"/>
          </a:p>
        </p:txBody>
      </p:sp>
      <p:sp>
        <p:nvSpPr>
          <p:cNvPr id="4" name="灯片编号占位符 3">
            <a:extLst>
              <a:ext uri="{FF2B5EF4-FFF2-40B4-BE49-F238E27FC236}">
                <a16:creationId xmlns:a16="http://schemas.microsoft.com/office/drawing/2014/main" id="{60BEE49B-AEAC-79D2-51D8-A5DD69B26CDA}"/>
              </a:ext>
            </a:extLst>
          </p:cNvPr>
          <p:cNvSpPr>
            <a:spLocks noGrp="1"/>
          </p:cNvSpPr>
          <p:nvPr>
            <p:ph type="sldNum" sz="quarter" idx="10"/>
          </p:nvPr>
        </p:nvSpPr>
        <p:spPr/>
        <p:txBody>
          <a:bodyPr/>
          <a:lstStyle/>
          <a:p>
            <a:fld id="{050842F3-AA9E-40E5-99C4-B19904F777C1}" type="slidenum">
              <a:rPr lang="zh-CN" altLang="en-US" smtClean="0"/>
              <a:pPr/>
              <a:t>3</a:t>
            </a:fld>
            <a:endParaRPr lang="zh-CN" altLang="en-US"/>
          </a:p>
        </p:txBody>
      </p:sp>
    </p:spTree>
    <p:extLst>
      <p:ext uri="{BB962C8B-B14F-4D97-AF65-F5344CB8AC3E}">
        <p14:creationId xmlns:p14="http://schemas.microsoft.com/office/powerpoint/2010/main" val="1451096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EA772-A5AE-D50C-87CA-4C2EC32E4A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36936D-0975-058E-2EFB-7C07D5C26E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F5D95A-B539-C192-2A2B-F0088F0B3366}"/>
              </a:ext>
            </a:extLst>
          </p:cNvPr>
          <p:cNvSpPr>
            <a:spLocks noGrp="1"/>
          </p:cNvSpPr>
          <p:nvPr>
            <p:ph type="body" idx="1"/>
          </p:nvPr>
        </p:nvSpPr>
        <p:spPr/>
        <p:txBody>
          <a:bodyPr/>
          <a:lstStyle/>
          <a:p>
            <a:r>
              <a:rPr lang="zh-CN" altLang="en-US"/>
              <a:t>相关研究在国内外已有一定的研究基础，准维燃烧模型已经具备较为完善的理论框架，而对爆震的预测正从经验判据转为唯象模型研究，且燃烧</a:t>
            </a:r>
            <a:r>
              <a:rPr lang="en-US" altLang="zh-CN"/>
              <a:t>-</a:t>
            </a:r>
            <a:r>
              <a:rPr lang="zh-CN" altLang="en-US"/>
              <a:t>爆震一体化建模是现有的趋势。</a:t>
            </a:r>
            <a:endParaRPr lang="zh-CN" altLang="en-US" dirty="0"/>
          </a:p>
        </p:txBody>
      </p:sp>
      <p:sp>
        <p:nvSpPr>
          <p:cNvPr id="4" name="灯片编号占位符 3">
            <a:extLst>
              <a:ext uri="{FF2B5EF4-FFF2-40B4-BE49-F238E27FC236}">
                <a16:creationId xmlns:a16="http://schemas.microsoft.com/office/drawing/2014/main" id="{B5510F35-6F7C-1486-C1C1-5616AB6BCF5C}"/>
              </a:ext>
            </a:extLst>
          </p:cNvPr>
          <p:cNvSpPr>
            <a:spLocks noGrp="1"/>
          </p:cNvSpPr>
          <p:nvPr>
            <p:ph type="sldNum" sz="quarter" idx="10"/>
          </p:nvPr>
        </p:nvSpPr>
        <p:spPr/>
        <p:txBody>
          <a:bodyPr/>
          <a:lstStyle/>
          <a:p>
            <a:fld id="{050842F3-AA9E-40E5-99C4-B19904F777C1}" type="slidenum">
              <a:rPr lang="zh-CN" altLang="en-US" smtClean="0"/>
              <a:pPr/>
              <a:t>4</a:t>
            </a:fld>
            <a:endParaRPr lang="zh-CN" altLang="en-US"/>
          </a:p>
        </p:txBody>
      </p:sp>
    </p:spTree>
    <p:extLst>
      <p:ext uri="{BB962C8B-B14F-4D97-AF65-F5344CB8AC3E}">
        <p14:creationId xmlns:p14="http://schemas.microsoft.com/office/powerpoint/2010/main" val="2435808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D12C9-5715-8409-193B-2DF3B1AD27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06C06E-4F60-D585-7112-0FF9E5CCC6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2538C4-6D1A-DEF9-FC0F-A5A28DF1D546}"/>
              </a:ext>
            </a:extLst>
          </p:cNvPr>
          <p:cNvSpPr>
            <a:spLocks noGrp="1"/>
          </p:cNvSpPr>
          <p:nvPr>
            <p:ph type="body" idx="1"/>
          </p:nvPr>
        </p:nvSpPr>
        <p:spPr/>
        <p:txBody>
          <a:bodyPr/>
          <a:lstStyle/>
          <a:p>
            <a:pPr lvl="1"/>
            <a:r>
              <a:rPr lang="zh-CN" altLang="zh-CN" sz="1200" kern="1200">
                <a:solidFill>
                  <a:schemeClr val="tx1"/>
                </a:solidFill>
                <a:effectLst/>
                <a:latin typeface="+mn-lt"/>
                <a:ea typeface="+mn-ea"/>
                <a:cs typeface="+mn-cs"/>
              </a:rPr>
              <a:t>于是，本研究基于课题组已有的模型基础开发准维燃烧模型，并完成氢内燃机爆震唯象模型的构建与双模型的在线集成，最后分别进行标定与准确性验证。</a:t>
            </a:r>
          </a:p>
        </p:txBody>
      </p:sp>
      <p:sp>
        <p:nvSpPr>
          <p:cNvPr id="4" name="灯片编号占位符 3">
            <a:extLst>
              <a:ext uri="{FF2B5EF4-FFF2-40B4-BE49-F238E27FC236}">
                <a16:creationId xmlns:a16="http://schemas.microsoft.com/office/drawing/2014/main" id="{41C642B1-4420-06E2-B7D6-59F90C366690}"/>
              </a:ext>
            </a:extLst>
          </p:cNvPr>
          <p:cNvSpPr>
            <a:spLocks noGrp="1"/>
          </p:cNvSpPr>
          <p:nvPr>
            <p:ph type="sldNum" sz="quarter" idx="10"/>
          </p:nvPr>
        </p:nvSpPr>
        <p:spPr/>
        <p:txBody>
          <a:bodyPr/>
          <a:lstStyle/>
          <a:p>
            <a:fld id="{050842F3-AA9E-40E5-99C4-B19904F777C1}" type="slidenum">
              <a:rPr lang="zh-CN" altLang="en-US" smtClean="0"/>
              <a:pPr/>
              <a:t>5</a:t>
            </a:fld>
            <a:endParaRPr lang="zh-CN" altLang="en-US"/>
          </a:p>
        </p:txBody>
      </p:sp>
    </p:spTree>
    <p:extLst>
      <p:ext uri="{BB962C8B-B14F-4D97-AF65-F5344CB8AC3E}">
        <p14:creationId xmlns:p14="http://schemas.microsoft.com/office/powerpoint/2010/main" val="4783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5EFF1-2762-A6CE-55BE-35E4080FC9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2562B5-05FD-952E-97EE-878E5B9B18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7EC8C9-139C-D1A1-C944-8D1349ABCE49}"/>
              </a:ext>
            </a:extLst>
          </p:cNvPr>
          <p:cNvSpPr>
            <a:spLocks noGrp="1"/>
          </p:cNvSpPr>
          <p:nvPr>
            <p:ph type="body" idx="1"/>
          </p:nvPr>
        </p:nvSpPr>
        <p:spPr/>
        <p:txBody>
          <a:bodyPr/>
          <a:lstStyle/>
          <a:p>
            <a:r>
              <a:rPr lang="zh-CN" altLang="en-US"/>
              <a:t>接下来简述准维燃烧模型</a:t>
            </a:r>
            <a:endParaRPr lang="zh-CN" altLang="en-US" dirty="0"/>
          </a:p>
        </p:txBody>
      </p:sp>
      <p:sp>
        <p:nvSpPr>
          <p:cNvPr id="4" name="灯片编号占位符 3">
            <a:extLst>
              <a:ext uri="{FF2B5EF4-FFF2-40B4-BE49-F238E27FC236}">
                <a16:creationId xmlns:a16="http://schemas.microsoft.com/office/drawing/2014/main" id="{B2C4C6F0-9C46-49B4-E560-130E7875A531}"/>
              </a:ext>
            </a:extLst>
          </p:cNvPr>
          <p:cNvSpPr>
            <a:spLocks noGrp="1"/>
          </p:cNvSpPr>
          <p:nvPr>
            <p:ph type="sldNum" sz="quarter" idx="10"/>
          </p:nvPr>
        </p:nvSpPr>
        <p:spPr/>
        <p:txBody>
          <a:bodyPr/>
          <a:lstStyle/>
          <a:p>
            <a:fld id="{050842F3-AA9E-40E5-99C4-B19904F777C1}" type="slidenum">
              <a:rPr lang="zh-CN" altLang="en-US" smtClean="0"/>
              <a:pPr/>
              <a:t>6</a:t>
            </a:fld>
            <a:endParaRPr lang="zh-CN" altLang="en-US"/>
          </a:p>
        </p:txBody>
      </p:sp>
    </p:spTree>
    <p:extLst>
      <p:ext uri="{BB962C8B-B14F-4D97-AF65-F5344CB8AC3E}">
        <p14:creationId xmlns:p14="http://schemas.microsoft.com/office/powerpoint/2010/main" val="350225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ECC93-4C34-89BB-6CD5-91C2CF0CA3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578C67-232A-9B47-1C3D-40BA5CF67F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B75036-E880-B136-1D40-B41DF8E935EE}"/>
              </a:ext>
            </a:extLst>
          </p:cNvPr>
          <p:cNvSpPr>
            <a:spLocks noGrp="1"/>
          </p:cNvSpPr>
          <p:nvPr>
            <p:ph type="body" idx="1"/>
          </p:nvPr>
        </p:nvSpPr>
        <p:spPr/>
        <p:txBody>
          <a:bodyPr/>
          <a:lstStyle/>
          <a:p>
            <a:r>
              <a:rPr lang="zh-CN" altLang="en-US" b="1"/>
              <a:t>准维模型</a:t>
            </a:r>
            <a:r>
              <a:rPr lang="zh-CN" altLang="en-US"/>
              <a:t>即采用简化几何假设将气缸分为多区，进而求解其热力学状态，本研究针对燃烧期采用双区准维模型，其基本假设如上，双区准维模型对比单区零维模型的空间示意图如图</a:t>
            </a:r>
            <a:r>
              <a:rPr lang="en-US" altLang="zh-CN"/>
              <a:t>2-1</a:t>
            </a:r>
            <a:r>
              <a:rPr lang="zh-CN" altLang="en-US"/>
              <a:t>，单区零维模型主要的输出参数为压力、温度；双区准维模型输出参数为压力、已燃区温度、未燃区温度。</a:t>
            </a:r>
            <a:endParaRPr lang="zh-CN" altLang="en-US" dirty="0"/>
          </a:p>
        </p:txBody>
      </p:sp>
      <p:sp>
        <p:nvSpPr>
          <p:cNvPr id="4" name="灯片编号占位符 3">
            <a:extLst>
              <a:ext uri="{FF2B5EF4-FFF2-40B4-BE49-F238E27FC236}">
                <a16:creationId xmlns:a16="http://schemas.microsoft.com/office/drawing/2014/main" id="{85CF75D7-4C9C-C49F-910C-98F669A7E21B}"/>
              </a:ext>
            </a:extLst>
          </p:cNvPr>
          <p:cNvSpPr>
            <a:spLocks noGrp="1"/>
          </p:cNvSpPr>
          <p:nvPr>
            <p:ph type="sldNum" sz="quarter" idx="10"/>
          </p:nvPr>
        </p:nvSpPr>
        <p:spPr/>
        <p:txBody>
          <a:bodyPr/>
          <a:lstStyle/>
          <a:p>
            <a:fld id="{050842F3-AA9E-40E5-99C4-B19904F777C1}" type="slidenum">
              <a:rPr lang="zh-CN" altLang="en-US" smtClean="0"/>
              <a:pPr/>
              <a:t>7</a:t>
            </a:fld>
            <a:endParaRPr lang="zh-CN" altLang="en-US"/>
          </a:p>
        </p:txBody>
      </p:sp>
    </p:spTree>
    <p:extLst>
      <p:ext uri="{BB962C8B-B14F-4D97-AF65-F5344CB8AC3E}">
        <p14:creationId xmlns:p14="http://schemas.microsoft.com/office/powerpoint/2010/main" val="2438726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FA2A9-9651-5C3B-A18A-58FB272F2D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E5B024-AE61-D773-0434-F54DEA55A2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717A4E-5F94-0F27-2A66-4464817577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为了避免接口冲突并兼顾计算速度，本研究采用完全燃烧假设并结合如表所示各项经典公式重构了涉及的热物性参数。</a:t>
            </a:r>
          </a:p>
          <a:p>
            <a:endParaRPr lang="zh-CN" altLang="en-US" dirty="0"/>
          </a:p>
        </p:txBody>
      </p:sp>
      <p:sp>
        <p:nvSpPr>
          <p:cNvPr id="4" name="灯片编号占位符 3">
            <a:extLst>
              <a:ext uri="{FF2B5EF4-FFF2-40B4-BE49-F238E27FC236}">
                <a16:creationId xmlns:a16="http://schemas.microsoft.com/office/drawing/2014/main" id="{7C567D9D-B188-224F-0E8D-1653DA974BCB}"/>
              </a:ext>
            </a:extLst>
          </p:cNvPr>
          <p:cNvSpPr>
            <a:spLocks noGrp="1"/>
          </p:cNvSpPr>
          <p:nvPr>
            <p:ph type="sldNum" sz="quarter" idx="10"/>
          </p:nvPr>
        </p:nvSpPr>
        <p:spPr/>
        <p:txBody>
          <a:bodyPr/>
          <a:lstStyle/>
          <a:p>
            <a:fld id="{050842F3-AA9E-40E5-99C4-B19904F777C1}" type="slidenum">
              <a:rPr lang="zh-CN" altLang="en-US" smtClean="0"/>
              <a:pPr/>
              <a:t>8</a:t>
            </a:fld>
            <a:endParaRPr lang="zh-CN" altLang="en-US"/>
          </a:p>
        </p:txBody>
      </p:sp>
    </p:spTree>
    <p:extLst>
      <p:ext uri="{BB962C8B-B14F-4D97-AF65-F5344CB8AC3E}">
        <p14:creationId xmlns:p14="http://schemas.microsoft.com/office/powerpoint/2010/main" val="1376361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91197-30C8-76DF-1A71-AD0154BF10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F9A168-B25E-7391-952A-8AD110CE1C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26BCB6-9CDD-1A7B-DE49-50C2A103EE06}"/>
              </a:ext>
            </a:extLst>
          </p:cNvPr>
          <p:cNvSpPr>
            <a:spLocks noGrp="1"/>
          </p:cNvSpPr>
          <p:nvPr>
            <p:ph type="body" idx="1"/>
          </p:nvPr>
        </p:nvSpPr>
        <p:spPr/>
        <p:txBody>
          <a:bodyPr/>
          <a:lstStyle/>
          <a:p>
            <a:r>
              <a:rPr lang="zh-CN" altLang="en-US" sz="1200"/>
              <a:t>而层流火焰速度作为湍流模型中的核心输入参数，无法直接套用经验公式，本研究采用随机森林方法对其进行高精度预测，其预测流程如图，并采用贝叶斯优化进行模型超参数优化，优化流程与迭代结果如图，最终得到的模型的决定系数为</a:t>
            </a:r>
            <a:r>
              <a:rPr lang="en-US" altLang="zh-CN" sz="1200"/>
              <a:t>0.9989</a:t>
            </a:r>
            <a:r>
              <a:rPr lang="zh-CN" altLang="en-US" sz="1200"/>
              <a:t>、</a:t>
            </a:r>
            <a:r>
              <a:rPr lang="en-US" altLang="zh-CN" sz="1200"/>
              <a:t>RMSE</a:t>
            </a:r>
            <a:r>
              <a:rPr lang="zh-CN" altLang="en-US" sz="1200"/>
              <a:t>为</a:t>
            </a:r>
            <a:r>
              <a:rPr lang="en-US" altLang="zh-CN" sz="1200"/>
              <a:t>0.1304m/s</a:t>
            </a:r>
            <a:r>
              <a:rPr lang="zh-CN" altLang="en-US" sz="1200"/>
              <a:t>，可见该预测模型精度足够高。</a:t>
            </a:r>
          </a:p>
          <a:p>
            <a:endParaRPr lang="zh-CN" altLang="en-US" dirty="0"/>
          </a:p>
        </p:txBody>
      </p:sp>
      <p:sp>
        <p:nvSpPr>
          <p:cNvPr id="4" name="灯片编号占位符 3">
            <a:extLst>
              <a:ext uri="{FF2B5EF4-FFF2-40B4-BE49-F238E27FC236}">
                <a16:creationId xmlns:a16="http://schemas.microsoft.com/office/drawing/2014/main" id="{1E8B7F04-8706-A9CA-2D01-814AC47F1783}"/>
              </a:ext>
            </a:extLst>
          </p:cNvPr>
          <p:cNvSpPr>
            <a:spLocks noGrp="1"/>
          </p:cNvSpPr>
          <p:nvPr>
            <p:ph type="sldNum" sz="quarter" idx="10"/>
          </p:nvPr>
        </p:nvSpPr>
        <p:spPr/>
        <p:txBody>
          <a:bodyPr/>
          <a:lstStyle/>
          <a:p>
            <a:fld id="{050842F3-AA9E-40E5-99C4-B19904F777C1}" type="slidenum">
              <a:rPr lang="zh-CN" altLang="en-US" smtClean="0"/>
              <a:pPr/>
              <a:t>9</a:t>
            </a:fld>
            <a:endParaRPr lang="zh-CN" altLang="en-US"/>
          </a:p>
        </p:txBody>
      </p:sp>
    </p:spTree>
    <p:extLst>
      <p:ext uri="{BB962C8B-B14F-4D97-AF65-F5344CB8AC3E}">
        <p14:creationId xmlns:p14="http://schemas.microsoft.com/office/powerpoint/2010/main" val="934588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73747-1519-B1E4-DAC2-F275F54B0C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31E454-324D-8DBC-F179-7DEDCFB667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FB3884-4F22-15D8-858F-1979509D4949}"/>
              </a:ext>
            </a:extLst>
          </p:cNvPr>
          <p:cNvSpPr>
            <a:spLocks noGrp="1"/>
          </p:cNvSpPr>
          <p:nvPr>
            <p:ph type="body" idx="1"/>
          </p:nvPr>
        </p:nvSpPr>
        <p:spPr/>
        <p:txBody>
          <a:bodyPr/>
          <a:lstStyle/>
          <a:p>
            <a:r>
              <a:rPr lang="zh-CN" altLang="en-US"/>
              <a:t>在完成所有参数重构后，本研究针对非燃烧期采用单区零维模型，燃烧期采用双区准维模型进行建模，整个氢内燃机工作过程模型架构与步进计算设计如图所示。</a:t>
            </a:r>
            <a:endParaRPr lang="zh-CN" altLang="en-US" dirty="0"/>
          </a:p>
        </p:txBody>
      </p:sp>
      <p:sp>
        <p:nvSpPr>
          <p:cNvPr id="4" name="灯片编号占位符 3">
            <a:extLst>
              <a:ext uri="{FF2B5EF4-FFF2-40B4-BE49-F238E27FC236}">
                <a16:creationId xmlns:a16="http://schemas.microsoft.com/office/drawing/2014/main" id="{1180AAA7-B035-55C7-747E-1545984A3FE0}"/>
              </a:ext>
            </a:extLst>
          </p:cNvPr>
          <p:cNvSpPr>
            <a:spLocks noGrp="1"/>
          </p:cNvSpPr>
          <p:nvPr>
            <p:ph type="sldNum" sz="quarter" idx="10"/>
          </p:nvPr>
        </p:nvSpPr>
        <p:spPr/>
        <p:txBody>
          <a:bodyPr/>
          <a:lstStyle/>
          <a:p>
            <a:fld id="{050842F3-AA9E-40E5-99C4-B19904F777C1}" type="slidenum">
              <a:rPr lang="zh-CN" altLang="en-US" smtClean="0"/>
              <a:pPr/>
              <a:t>10</a:t>
            </a:fld>
            <a:endParaRPr lang="zh-CN" altLang="en-US"/>
          </a:p>
        </p:txBody>
      </p:sp>
    </p:spTree>
    <p:extLst>
      <p:ext uri="{BB962C8B-B14F-4D97-AF65-F5344CB8AC3E}">
        <p14:creationId xmlns:p14="http://schemas.microsoft.com/office/powerpoint/2010/main" val="317409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746A-D7F3-DEA9-55B0-DD0E0234BC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58CF36-EC55-694C-9871-901313CE47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DDF220-5E1C-0E5F-4152-8DCF04EF35B2}"/>
              </a:ext>
            </a:extLst>
          </p:cNvPr>
          <p:cNvSpPr>
            <a:spLocks noGrp="1"/>
          </p:cNvSpPr>
          <p:nvPr>
            <p:ph type="body" idx="1"/>
          </p:nvPr>
        </p:nvSpPr>
        <p:spPr/>
        <p:txBody>
          <a:bodyPr/>
          <a:lstStyle/>
          <a:p>
            <a:r>
              <a:rPr lang="zh-CN" altLang="en-US"/>
              <a:t>接下来简述爆震唯象模型的构建</a:t>
            </a:r>
            <a:endParaRPr lang="zh-CN" altLang="en-US" dirty="0"/>
          </a:p>
        </p:txBody>
      </p:sp>
      <p:sp>
        <p:nvSpPr>
          <p:cNvPr id="4" name="灯片编号占位符 3">
            <a:extLst>
              <a:ext uri="{FF2B5EF4-FFF2-40B4-BE49-F238E27FC236}">
                <a16:creationId xmlns:a16="http://schemas.microsoft.com/office/drawing/2014/main" id="{94A931F7-82D8-6F84-D038-4B09B21CB75A}"/>
              </a:ext>
            </a:extLst>
          </p:cNvPr>
          <p:cNvSpPr>
            <a:spLocks noGrp="1"/>
          </p:cNvSpPr>
          <p:nvPr>
            <p:ph type="sldNum" sz="quarter" idx="10"/>
          </p:nvPr>
        </p:nvSpPr>
        <p:spPr/>
        <p:txBody>
          <a:bodyPr/>
          <a:lstStyle/>
          <a:p>
            <a:fld id="{050842F3-AA9E-40E5-99C4-B19904F777C1}" type="slidenum">
              <a:rPr lang="zh-CN" altLang="en-US" smtClean="0"/>
              <a:pPr/>
              <a:t>11</a:t>
            </a:fld>
            <a:endParaRPr lang="zh-CN" altLang="en-US"/>
          </a:p>
        </p:txBody>
      </p:sp>
    </p:spTree>
    <p:extLst>
      <p:ext uri="{BB962C8B-B14F-4D97-AF65-F5344CB8AC3E}">
        <p14:creationId xmlns:p14="http://schemas.microsoft.com/office/powerpoint/2010/main" val="2995434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C57E1-AD52-8D60-473B-543A8ADE03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01BCC8-AE9F-C62A-B9FE-072955EDC4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F0FF77-27D3-266E-0606-D6ADF0A5CF6F}"/>
              </a:ext>
            </a:extLst>
          </p:cNvPr>
          <p:cNvSpPr>
            <a:spLocks noGrp="1"/>
          </p:cNvSpPr>
          <p:nvPr>
            <p:ph type="body" idx="1"/>
          </p:nvPr>
        </p:nvSpPr>
        <p:spPr/>
        <p:txBody>
          <a:bodyPr/>
          <a:lstStyle/>
          <a:p>
            <a:r>
              <a:rPr lang="zh-CN" altLang="en-US" b="1"/>
              <a:t>唯象模型</a:t>
            </a:r>
            <a:r>
              <a:rPr lang="zh-CN" altLang="en-US"/>
              <a:t>即根据可观测的现象通过半经验公式描述其行为特征，本研究采用经典的</a:t>
            </a:r>
            <a:r>
              <a:rPr lang="en-US" altLang="zh-CN"/>
              <a:t>livengood-Wu</a:t>
            </a:r>
            <a:r>
              <a:rPr lang="zh-CN" altLang="en-US"/>
              <a:t>积分与自燃发生判据作为末端气体自燃判断的理论依据，其核心参数</a:t>
            </a:r>
            <a:r>
              <a:rPr lang="en-US" altLang="zh-CN"/>
              <a:t>τ</a:t>
            </a:r>
            <a:r>
              <a:rPr lang="zh-CN" altLang="en-US"/>
              <a:t>通过建立搜寻网格进行插值查找。</a:t>
            </a:r>
            <a:endParaRPr lang="zh-CN" altLang="en-US" dirty="0"/>
          </a:p>
        </p:txBody>
      </p:sp>
      <p:sp>
        <p:nvSpPr>
          <p:cNvPr id="4" name="灯片编号占位符 3">
            <a:extLst>
              <a:ext uri="{FF2B5EF4-FFF2-40B4-BE49-F238E27FC236}">
                <a16:creationId xmlns:a16="http://schemas.microsoft.com/office/drawing/2014/main" id="{92721F48-FF3E-31C9-2303-D7E62AFBD232}"/>
              </a:ext>
            </a:extLst>
          </p:cNvPr>
          <p:cNvSpPr>
            <a:spLocks noGrp="1"/>
          </p:cNvSpPr>
          <p:nvPr>
            <p:ph type="sldNum" sz="quarter" idx="10"/>
          </p:nvPr>
        </p:nvSpPr>
        <p:spPr/>
        <p:txBody>
          <a:bodyPr/>
          <a:lstStyle/>
          <a:p>
            <a:fld id="{050842F3-AA9E-40E5-99C4-B19904F777C1}" type="slidenum">
              <a:rPr lang="zh-CN" altLang="en-US" smtClean="0"/>
              <a:pPr/>
              <a:t>12</a:t>
            </a:fld>
            <a:endParaRPr lang="zh-CN" altLang="en-US"/>
          </a:p>
        </p:txBody>
      </p:sp>
    </p:spTree>
    <p:extLst>
      <p:ext uri="{BB962C8B-B14F-4D97-AF65-F5344CB8AC3E}">
        <p14:creationId xmlns:p14="http://schemas.microsoft.com/office/powerpoint/2010/main" val="1157710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8F06-13C4-96B8-876F-FBAE1BDE2D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97978F-F975-A5E2-99D1-53A9C3161F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CD7466-B021-0045-6094-873B690478C0}"/>
              </a:ext>
            </a:extLst>
          </p:cNvPr>
          <p:cNvSpPr>
            <a:spLocks noGrp="1"/>
          </p:cNvSpPr>
          <p:nvPr>
            <p:ph type="body" idx="1"/>
          </p:nvPr>
        </p:nvSpPr>
        <p:spPr/>
        <p:txBody>
          <a:bodyPr/>
          <a:lstStyle/>
          <a:p>
            <a:r>
              <a:rPr lang="zh-CN" altLang="en-US"/>
              <a:t>但自燃只是爆震的必要不充分条件，自燃不等于爆震，于是本研究引入热边界层假设并参考多文献确立末端火焰淬熄失效判据，作为爆震判断另一判据，并引入热边界层未燃气体质量分数作为爆震倾向的物理表征，其爆震判定的逻辑与爆震唯象架构如图所示。</a:t>
            </a:r>
            <a:endParaRPr lang="zh-CN" altLang="en-US" dirty="0"/>
          </a:p>
        </p:txBody>
      </p:sp>
      <p:sp>
        <p:nvSpPr>
          <p:cNvPr id="4" name="灯片编号占位符 3">
            <a:extLst>
              <a:ext uri="{FF2B5EF4-FFF2-40B4-BE49-F238E27FC236}">
                <a16:creationId xmlns:a16="http://schemas.microsoft.com/office/drawing/2014/main" id="{187E0821-4ED3-1E3F-86E2-BDA5B938BE5C}"/>
              </a:ext>
            </a:extLst>
          </p:cNvPr>
          <p:cNvSpPr>
            <a:spLocks noGrp="1"/>
          </p:cNvSpPr>
          <p:nvPr>
            <p:ph type="sldNum" sz="quarter" idx="10"/>
          </p:nvPr>
        </p:nvSpPr>
        <p:spPr/>
        <p:txBody>
          <a:bodyPr/>
          <a:lstStyle/>
          <a:p>
            <a:fld id="{050842F3-AA9E-40E5-99C4-B19904F777C1}" type="slidenum">
              <a:rPr lang="zh-CN" altLang="en-US" smtClean="0"/>
              <a:pPr/>
              <a:t>13</a:t>
            </a:fld>
            <a:endParaRPr lang="zh-CN" altLang="en-US"/>
          </a:p>
        </p:txBody>
      </p:sp>
    </p:spTree>
    <p:extLst>
      <p:ext uri="{BB962C8B-B14F-4D97-AF65-F5344CB8AC3E}">
        <p14:creationId xmlns:p14="http://schemas.microsoft.com/office/powerpoint/2010/main" val="179189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63E3A-62AC-9528-F461-43E3BD9029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9DED0A-96E7-7A52-D4E5-CCBC2ECCF4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4B760F-2D94-7F0F-E75F-34ADFB0060AF}"/>
              </a:ext>
            </a:extLst>
          </p:cNvPr>
          <p:cNvSpPr>
            <a:spLocks noGrp="1"/>
          </p:cNvSpPr>
          <p:nvPr>
            <p:ph type="body" idx="1"/>
          </p:nvPr>
        </p:nvSpPr>
        <p:spPr/>
        <p:txBody>
          <a:bodyPr/>
          <a:lstStyle/>
          <a:p>
            <a:r>
              <a:rPr lang="zh-CN" altLang="en-US"/>
              <a:t>最终将爆震唯象模型融合进双区准维燃烧模型迭代计算中，得到双模型的在线集成计算架构</a:t>
            </a:r>
            <a:endParaRPr lang="zh-CN" altLang="en-US" dirty="0"/>
          </a:p>
        </p:txBody>
      </p:sp>
      <p:sp>
        <p:nvSpPr>
          <p:cNvPr id="4" name="灯片编号占位符 3">
            <a:extLst>
              <a:ext uri="{FF2B5EF4-FFF2-40B4-BE49-F238E27FC236}">
                <a16:creationId xmlns:a16="http://schemas.microsoft.com/office/drawing/2014/main" id="{1F75FFD8-54AE-5B71-3956-475DDD2E451D}"/>
              </a:ext>
            </a:extLst>
          </p:cNvPr>
          <p:cNvSpPr>
            <a:spLocks noGrp="1"/>
          </p:cNvSpPr>
          <p:nvPr>
            <p:ph type="sldNum" sz="quarter" idx="10"/>
          </p:nvPr>
        </p:nvSpPr>
        <p:spPr/>
        <p:txBody>
          <a:bodyPr/>
          <a:lstStyle/>
          <a:p>
            <a:fld id="{050842F3-AA9E-40E5-99C4-B19904F777C1}" type="slidenum">
              <a:rPr lang="zh-CN" altLang="en-US" smtClean="0"/>
              <a:pPr/>
              <a:t>14</a:t>
            </a:fld>
            <a:endParaRPr lang="zh-CN" altLang="en-US"/>
          </a:p>
        </p:txBody>
      </p:sp>
    </p:spTree>
    <p:extLst>
      <p:ext uri="{BB962C8B-B14F-4D97-AF65-F5344CB8AC3E}">
        <p14:creationId xmlns:p14="http://schemas.microsoft.com/office/powerpoint/2010/main" val="4012468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2BCA-6789-F285-B3B6-78081B07E3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CF5984-8BF4-CC8C-F088-98BD7B308A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B5CD2ED-4261-762F-ECE8-75B8900E68D6}"/>
              </a:ext>
            </a:extLst>
          </p:cNvPr>
          <p:cNvSpPr>
            <a:spLocks noGrp="1"/>
          </p:cNvSpPr>
          <p:nvPr>
            <p:ph type="body" idx="1"/>
          </p:nvPr>
        </p:nvSpPr>
        <p:spPr/>
        <p:txBody>
          <a:bodyPr/>
          <a:lstStyle/>
          <a:p>
            <a:r>
              <a:rPr lang="zh-CN" altLang="en-US"/>
              <a:t>最终将爆震唯象模型融合进双区准维燃烧模型迭代计算中，得到双模型的在线集成计算架构</a:t>
            </a:r>
            <a:endParaRPr lang="zh-CN" altLang="en-US" dirty="0"/>
          </a:p>
        </p:txBody>
      </p:sp>
      <p:sp>
        <p:nvSpPr>
          <p:cNvPr id="4" name="灯片编号占位符 3">
            <a:extLst>
              <a:ext uri="{FF2B5EF4-FFF2-40B4-BE49-F238E27FC236}">
                <a16:creationId xmlns:a16="http://schemas.microsoft.com/office/drawing/2014/main" id="{6685BE28-EB03-6234-9A22-1079DB91AF7B}"/>
              </a:ext>
            </a:extLst>
          </p:cNvPr>
          <p:cNvSpPr>
            <a:spLocks noGrp="1"/>
          </p:cNvSpPr>
          <p:nvPr>
            <p:ph type="sldNum" sz="quarter" idx="10"/>
          </p:nvPr>
        </p:nvSpPr>
        <p:spPr/>
        <p:txBody>
          <a:bodyPr/>
          <a:lstStyle/>
          <a:p>
            <a:fld id="{050842F3-AA9E-40E5-99C4-B19904F777C1}" type="slidenum">
              <a:rPr lang="zh-CN" altLang="en-US" smtClean="0"/>
              <a:pPr/>
              <a:t>15</a:t>
            </a:fld>
            <a:endParaRPr lang="zh-CN" altLang="en-US"/>
          </a:p>
        </p:txBody>
      </p:sp>
    </p:spTree>
    <p:extLst>
      <p:ext uri="{BB962C8B-B14F-4D97-AF65-F5344CB8AC3E}">
        <p14:creationId xmlns:p14="http://schemas.microsoft.com/office/powerpoint/2010/main" val="3898193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9D01A-0993-7130-7272-9A5A4D8331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FA3A1B-A557-B421-888E-48D2E16BDD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0CDDF2-E05E-355A-D46D-29BD004863E8}"/>
              </a:ext>
            </a:extLst>
          </p:cNvPr>
          <p:cNvSpPr>
            <a:spLocks noGrp="1"/>
          </p:cNvSpPr>
          <p:nvPr>
            <p:ph type="body" idx="1"/>
          </p:nvPr>
        </p:nvSpPr>
        <p:spPr/>
        <p:txBody>
          <a:bodyPr/>
          <a:lstStyle/>
          <a:p>
            <a:r>
              <a:rPr lang="zh-CN" altLang="en-US"/>
              <a:t>在模型搭建完毕后，通过氢内燃机台架试验数据对模型进行了标定与验证</a:t>
            </a:r>
            <a:endParaRPr lang="zh-CN" altLang="en-US" dirty="0"/>
          </a:p>
        </p:txBody>
      </p:sp>
      <p:sp>
        <p:nvSpPr>
          <p:cNvPr id="4" name="灯片编号占位符 3">
            <a:extLst>
              <a:ext uri="{FF2B5EF4-FFF2-40B4-BE49-F238E27FC236}">
                <a16:creationId xmlns:a16="http://schemas.microsoft.com/office/drawing/2014/main" id="{7181944B-E552-5C63-9AA8-537CE60643E8}"/>
              </a:ext>
            </a:extLst>
          </p:cNvPr>
          <p:cNvSpPr>
            <a:spLocks noGrp="1"/>
          </p:cNvSpPr>
          <p:nvPr>
            <p:ph type="sldNum" sz="quarter" idx="10"/>
          </p:nvPr>
        </p:nvSpPr>
        <p:spPr/>
        <p:txBody>
          <a:bodyPr/>
          <a:lstStyle/>
          <a:p>
            <a:fld id="{050842F3-AA9E-40E5-99C4-B19904F777C1}" type="slidenum">
              <a:rPr lang="zh-CN" altLang="en-US" smtClean="0"/>
              <a:pPr/>
              <a:t>16</a:t>
            </a:fld>
            <a:endParaRPr lang="zh-CN" altLang="en-US"/>
          </a:p>
        </p:txBody>
      </p:sp>
    </p:spTree>
    <p:extLst>
      <p:ext uri="{BB962C8B-B14F-4D97-AF65-F5344CB8AC3E}">
        <p14:creationId xmlns:p14="http://schemas.microsoft.com/office/powerpoint/2010/main" val="2731584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1D9D8-048E-C553-3D87-E75C328AD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43BD09-CA9B-BFBF-B543-DD6A96C023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BAF81B-7AE1-919C-3DA7-036DF6B7A48B}"/>
              </a:ext>
            </a:extLst>
          </p:cNvPr>
          <p:cNvSpPr>
            <a:spLocks noGrp="1"/>
          </p:cNvSpPr>
          <p:nvPr>
            <p:ph type="body" idx="1"/>
          </p:nvPr>
        </p:nvSpPr>
        <p:spPr/>
        <p:txBody>
          <a:bodyPr/>
          <a:lstStyle/>
          <a:p>
            <a:r>
              <a:rPr lang="zh-CN" altLang="en-US"/>
              <a:t>试验台架的部分数据如表</a:t>
            </a:r>
            <a:r>
              <a:rPr lang="en-US" altLang="zh-CN"/>
              <a:t>4-1</a:t>
            </a:r>
            <a:r>
              <a:rPr lang="zh-CN" altLang="en-US"/>
              <a:t>，本研究选取以下五个典型工况，其中</a:t>
            </a:r>
            <a:r>
              <a:rPr lang="en-US" altLang="zh-CN"/>
              <a:t>case1-4</a:t>
            </a:r>
            <a:r>
              <a:rPr lang="zh-CN" altLang="en-US"/>
              <a:t>分别对应无爆震即常规燃烧，轻微爆震、中度爆震、强烈爆震，</a:t>
            </a:r>
            <a:r>
              <a:rPr lang="en-US" altLang="zh-CN"/>
              <a:t>case1</a:t>
            </a:r>
            <a:r>
              <a:rPr lang="zh-CN" altLang="en-US"/>
              <a:t>用于准维模型的标定与验证，</a:t>
            </a:r>
            <a:r>
              <a:rPr lang="en-US" altLang="zh-CN"/>
              <a:t>case5</a:t>
            </a:r>
            <a:r>
              <a:rPr lang="zh-CN" altLang="en-US"/>
              <a:t>用于爆震模型的温度修正标定，</a:t>
            </a:r>
            <a:r>
              <a:rPr lang="en-US" altLang="zh-CN"/>
              <a:t>case1-4</a:t>
            </a:r>
            <a:r>
              <a:rPr lang="zh-CN" altLang="en-US"/>
              <a:t>再用于爆震倾向预测的准确性验证。</a:t>
            </a:r>
            <a:endParaRPr lang="zh-CN" altLang="en-US" dirty="0"/>
          </a:p>
        </p:txBody>
      </p:sp>
      <p:sp>
        <p:nvSpPr>
          <p:cNvPr id="4" name="灯片编号占位符 3">
            <a:extLst>
              <a:ext uri="{FF2B5EF4-FFF2-40B4-BE49-F238E27FC236}">
                <a16:creationId xmlns:a16="http://schemas.microsoft.com/office/drawing/2014/main" id="{CCB3194E-A77E-B72C-0C23-CA9438EA0068}"/>
              </a:ext>
            </a:extLst>
          </p:cNvPr>
          <p:cNvSpPr>
            <a:spLocks noGrp="1"/>
          </p:cNvSpPr>
          <p:nvPr>
            <p:ph type="sldNum" sz="quarter" idx="10"/>
          </p:nvPr>
        </p:nvSpPr>
        <p:spPr/>
        <p:txBody>
          <a:bodyPr/>
          <a:lstStyle/>
          <a:p>
            <a:fld id="{050842F3-AA9E-40E5-99C4-B19904F777C1}" type="slidenum">
              <a:rPr lang="zh-CN" altLang="en-US" smtClean="0"/>
              <a:pPr/>
              <a:t>17</a:t>
            </a:fld>
            <a:endParaRPr lang="zh-CN" altLang="en-US"/>
          </a:p>
        </p:txBody>
      </p:sp>
    </p:spTree>
    <p:extLst>
      <p:ext uri="{BB962C8B-B14F-4D97-AF65-F5344CB8AC3E}">
        <p14:creationId xmlns:p14="http://schemas.microsoft.com/office/powerpoint/2010/main" val="931523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3EE1A-578E-6A2B-51E5-BE33BAE63D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6E90D9-7A71-EE95-1227-0421AC0D6E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FDC49D-4B57-7354-912B-5E69632D96E6}"/>
              </a:ext>
            </a:extLst>
          </p:cNvPr>
          <p:cNvSpPr>
            <a:spLocks noGrp="1"/>
          </p:cNvSpPr>
          <p:nvPr>
            <p:ph type="body" idx="1"/>
          </p:nvPr>
        </p:nvSpPr>
        <p:spPr/>
        <p:txBody>
          <a:bodyPr/>
          <a:lstStyle/>
          <a:p>
            <a:r>
              <a:rPr lang="zh-CN" altLang="en-US"/>
              <a:t>在准维燃烧模型中，模型标定与验证均基于常规燃烧工况</a:t>
            </a:r>
            <a:r>
              <a:rPr lang="en-US" altLang="zh-CN"/>
              <a:t>case1</a:t>
            </a:r>
            <a:r>
              <a:rPr lang="zh-CN" altLang="en-US"/>
              <a:t>，本研究采用遗传算法对模型的湍流模型调节参数进行标定，标定后进行准维模型仿真，其仿真结果如图</a:t>
            </a:r>
            <a:r>
              <a:rPr lang="en-US" altLang="zh-CN"/>
              <a:t>4-3</a:t>
            </a:r>
            <a:r>
              <a:rPr lang="zh-CN" altLang="en-US"/>
              <a:t>，其全局压力的均方根误差仅为</a:t>
            </a:r>
            <a:r>
              <a:rPr lang="en-US" altLang="zh-CN"/>
              <a:t>1.76bar</a:t>
            </a:r>
            <a:r>
              <a:rPr lang="zh-CN" altLang="en-US"/>
              <a:t>，平均绝对百分比误差为</a:t>
            </a:r>
            <a:r>
              <a:rPr lang="en-US" altLang="zh-CN"/>
              <a:t>2.93%</a:t>
            </a:r>
            <a:r>
              <a:rPr lang="zh-CN" altLang="en-US"/>
              <a:t>，其压力曲线与试验缸压曲线大致吻合，可见准维模型拟合精度足够。</a:t>
            </a:r>
            <a:endParaRPr lang="zh-CN" altLang="en-US" dirty="0"/>
          </a:p>
        </p:txBody>
      </p:sp>
      <p:sp>
        <p:nvSpPr>
          <p:cNvPr id="4" name="灯片编号占位符 3">
            <a:extLst>
              <a:ext uri="{FF2B5EF4-FFF2-40B4-BE49-F238E27FC236}">
                <a16:creationId xmlns:a16="http://schemas.microsoft.com/office/drawing/2014/main" id="{0135E740-BFB5-E023-A659-CFB8E9A6EAE6}"/>
              </a:ext>
            </a:extLst>
          </p:cNvPr>
          <p:cNvSpPr>
            <a:spLocks noGrp="1"/>
          </p:cNvSpPr>
          <p:nvPr>
            <p:ph type="sldNum" sz="quarter" idx="10"/>
          </p:nvPr>
        </p:nvSpPr>
        <p:spPr/>
        <p:txBody>
          <a:bodyPr/>
          <a:lstStyle/>
          <a:p>
            <a:fld id="{050842F3-AA9E-40E5-99C4-B19904F777C1}" type="slidenum">
              <a:rPr lang="zh-CN" altLang="en-US" smtClean="0"/>
              <a:pPr/>
              <a:t>18</a:t>
            </a:fld>
            <a:endParaRPr lang="zh-CN" altLang="en-US"/>
          </a:p>
        </p:txBody>
      </p:sp>
    </p:spTree>
    <p:extLst>
      <p:ext uri="{BB962C8B-B14F-4D97-AF65-F5344CB8AC3E}">
        <p14:creationId xmlns:p14="http://schemas.microsoft.com/office/powerpoint/2010/main" val="8455798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CF15D-D8CA-2B0D-B955-89C453A8C6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4B1898-5261-FFCC-2E72-188AD67742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0F994C-9722-79B7-18A5-08B4C8CE38CC}"/>
              </a:ext>
            </a:extLst>
          </p:cNvPr>
          <p:cNvSpPr>
            <a:spLocks noGrp="1"/>
          </p:cNvSpPr>
          <p:nvPr>
            <p:ph type="body" idx="1"/>
          </p:nvPr>
        </p:nvSpPr>
        <p:spPr/>
        <p:txBody>
          <a:bodyPr/>
          <a:lstStyle/>
          <a:p>
            <a:r>
              <a:rPr lang="zh-CN" altLang="en-US"/>
              <a:t>在爆震唯象模型中，采用</a:t>
            </a:r>
            <a:r>
              <a:rPr lang="en-US" altLang="zh-CN"/>
              <a:t>case5</a:t>
            </a:r>
            <a:r>
              <a:rPr lang="zh-CN" altLang="en-US"/>
              <a:t>作为温度修正标定工况，</a:t>
            </a:r>
            <a:r>
              <a:rPr lang="en-US" altLang="zh-CN"/>
              <a:t>case1-case4</a:t>
            </a:r>
            <a:r>
              <a:rPr lang="zh-CN" altLang="en-US"/>
              <a:t>作为模型预测验证工况，模型通过如图</a:t>
            </a:r>
            <a:r>
              <a:rPr lang="en-US" altLang="zh-CN"/>
              <a:t>4-4</a:t>
            </a:r>
            <a:r>
              <a:rPr lang="zh-CN" altLang="en-US"/>
              <a:t>的单点温度标定后得到温度修正项，代入模型验证结果如下，常规燃烧、中度爆震、强烈爆震的预测结果皆符合预期，但在轻微爆震的判断上出现一定的误判，且自燃时刻的判断精度略低，但也足以证明爆震唯象模型有效。</a:t>
            </a:r>
            <a:endParaRPr lang="zh-CN" altLang="en-US" dirty="0"/>
          </a:p>
        </p:txBody>
      </p:sp>
      <p:sp>
        <p:nvSpPr>
          <p:cNvPr id="4" name="灯片编号占位符 3">
            <a:extLst>
              <a:ext uri="{FF2B5EF4-FFF2-40B4-BE49-F238E27FC236}">
                <a16:creationId xmlns:a16="http://schemas.microsoft.com/office/drawing/2014/main" id="{F45E31CA-A67F-B2E3-FB33-B1D6DB5C0D8B}"/>
              </a:ext>
            </a:extLst>
          </p:cNvPr>
          <p:cNvSpPr>
            <a:spLocks noGrp="1"/>
          </p:cNvSpPr>
          <p:nvPr>
            <p:ph type="sldNum" sz="quarter" idx="10"/>
          </p:nvPr>
        </p:nvSpPr>
        <p:spPr/>
        <p:txBody>
          <a:bodyPr/>
          <a:lstStyle/>
          <a:p>
            <a:fld id="{050842F3-AA9E-40E5-99C4-B19904F777C1}" type="slidenum">
              <a:rPr lang="zh-CN" altLang="en-US" smtClean="0"/>
              <a:pPr/>
              <a:t>19</a:t>
            </a:fld>
            <a:endParaRPr lang="zh-CN" altLang="en-US"/>
          </a:p>
        </p:txBody>
      </p:sp>
    </p:spTree>
    <p:extLst>
      <p:ext uri="{BB962C8B-B14F-4D97-AF65-F5344CB8AC3E}">
        <p14:creationId xmlns:p14="http://schemas.microsoft.com/office/powerpoint/2010/main" val="978264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527A1-2108-0F43-8037-767D7B6FDC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064157-576E-62BA-DB10-E95884EBB7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9DC73A-CF55-8D61-A541-E363FAC63087}"/>
              </a:ext>
            </a:extLst>
          </p:cNvPr>
          <p:cNvSpPr>
            <a:spLocks noGrp="1"/>
          </p:cNvSpPr>
          <p:nvPr>
            <p:ph type="body" idx="1"/>
          </p:nvPr>
        </p:nvSpPr>
        <p:spPr/>
        <p:txBody>
          <a:bodyPr/>
          <a:lstStyle/>
          <a:p>
            <a:r>
              <a:rPr lang="zh-CN" altLang="en-US"/>
              <a:t>最后是本研究的总结与展望</a:t>
            </a:r>
            <a:endParaRPr lang="zh-CN" altLang="en-US" dirty="0"/>
          </a:p>
        </p:txBody>
      </p:sp>
      <p:sp>
        <p:nvSpPr>
          <p:cNvPr id="4" name="灯片编号占位符 3">
            <a:extLst>
              <a:ext uri="{FF2B5EF4-FFF2-40B4-BE49-F238E27FC236}">
                <a16:creationId xmlns:a16="http://schemas.microsoft.com/office/drawing/2014/main" id="{8213F795-7032-C279-0198-BC0A256F70C0}"/>
              </a:ext>
            </a:extLst>
          </p:cNvPr>
          <p:cNvSpPr>
            <a:spLocks noGrp="1"/>
          </p:cNvSpPr>
          <p:nvPr>
            <p:ph type="sldNum" sz="quarter" idx="10"/>
          </p:nvPr>
        </p:nvSpPr>
        <p:spPr/>
        <p:txBody>
          <a:bodyPr/>
          <a:lstStyle/>
          <a:p>
            <a:fld id="{050842F3-AA9E-40E5-99C4-B19904F777C1}" type="slidenum">
              <a:rPr lang="zh-CN" altLang="en-US" smtClean="0"/>
              <a:pPr/>
              <a:t>20</a:t>
            </a:fld>
            <a:endParaRPr lang="zh-CN" altLang="en-US"/>
          </a:p>
        </p:txBody>
      </p:sp>
    </p:spTree>
    <p:extLst>
      <p:ext uri="{BB962C8B-B14F-4D97-AF65-F5344CB8AC3E}">
        <p14:creationId xmlns:p14="http://schemas.microsoft.com/office/powerpoint/2010/main" val="2865241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935E9-858F-26BF-D6DB-82F7ACBA1A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E6109D-FD4B-39A2-E14D-8B6F85EE0A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A26180-A648-D233-8A58-CE1BA9CC7060}"/>
              </a:ext>
            </a:extLst>
          </p:cNvPr>
          <p:cNvSpPr>
            <a:spLocks noGrp="1"/>
          </p:cNvSpPr>
          <p:nvPr>
            <p:ph type="body" idx="1"/>
          </p:nvPr>
        </p:nvSpPr>
        <p:spPr/>
        <p:txBody>
          <a:bodyPr/>
          <a:lstStyle/>
          <a:p>
            <a:r>
              <a:rPr lang="zh-CN" altLang="en-US"/>
              <a:t>本研究模型具有一定的有效性与准确性，但在模型精度上仍有大量的优化空间。针对模型精度不足总结了以下六点可优化的方案，以下方案皆有可能使模型精度得到进一步提高，但也可能同步带来一定的限制。</a:t>
            </a:r>
            <a:endParaRPr lang="zh-CN" altLang="en-US" dirty="0"/>
          </a:p>
        </p:txBody>
      </p:sp>
      <p:sp>
        <p:nvSpPr>
          <p:cNvPr id="4" name="灯片编号占位符 3">
            <a:extLst>
              <a:ext uri="{FF2B5EF4-FFF2-40B4-BE49-F238E27FC236}">
                <a16:creationId xmlns:a16="http://schemas.microsoft.com/office/drawing/2014/main" id="{54B4BBD4-AB6A-F1AB-4663-4C252C43D6C1}"/>
              </a:ext>
            </a:extLst>
          </p:cNvPr>
          <p:cNvSpPr>
            <a:spLocks noGrp="1"/>
          </p:cNvSpPr>
          <p:nvPr>
            <p:ph type="sldNum" sz="quarter" idx="10"/>
          </p:nvPr>
        </p:nvSpPr>
        <p:spPr/>
        <p:txBody>
          <a:bodyPr/>
          <a:lstStyle/>
          <a:p>
            <a:fld id="{050842F3-AA9E-40E5-99C4-B19904F777C1}" type="slidenum">
              <a:rPr lang="zh-CN" altLang="en-US" smtClean="0"/>
              <a:pPr/>
              <a:t>21</a:t>
            </a:fld>
            <a:endParaRPr lang="zh-CN" altLang="en-US"/>
          </a:p>
        </p:txBody>
      </p:sp>
    </p:spTree>
    <p:extLst>
      <p:ext uri="{BB962C8B-B14F-4D97-AF65-F5344CB8AC3E}">
        <p14:creationId xmlns:p14="http://schemas.microsoft.com/office/powerpoint/2010/main" val="9079488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F72DE-92FC-B206-2372-A4AE2BCDAF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78F63F-A8E8-54C9-09E1-73DA9BC670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465F36-A72F-9107-7B97-BA7D3A926FE6}"/>
              </a:ext>
            </a:extLst>
          </p:cNvPr>
          <p:cNvSpPr>
            <a:spLocks noGrp="1"/>
          </p:cNvSpPr>
          <p:nvPr>
            <p:ph type="body" idx="1"/>
          </p:nvPr>
        </p:nvSpPr>
        <p:spPr/>
        <p:txBody>
          <a:bodyPr/>
          <a:lstStyle/>
          <a:p>
            <a:r>
              <a:rPr lang="zh-CN" altLang="en-US"/>
              <a:t>我的毕业设计答辩就此结束，感谢各位老师的聆听，请批评指正。</a:t>
            </a:r>
            <a:endParaRPr lang="zh-CN" altLang="en-US" dirty="0"/>
          </a:p>
        </p:txBody>
      </p:sp>
      <p:sp>
        <p:nvSpPr>
          <p:cNvPr id="4" name="灯片编号占位符 3">
            <a:extLst>
              <a:ext uri="{FF2B5EF4-FFF2-40B4-BE49-F238E27FC236}">
                <a16:creationId xmlns:a16="http://schemas.microsoft.com/office/drawing/2014/main" id="{47826F56-D11C-651D-CCA2-61787D68B647}"/>
              </a:ext>
            </a:extLst>
          </p:cNvPr>
          <p:cNvSpPr>
            <a:spLocks noGrp="1"/>
          </p:cNvSpPr>
          <p:nvPr>
            <p:ph type="sldNum" sz="quarter" idx="10"/>
          </p:nvPr>
        </p:nvSpPr>
        <p:spPr/>
        <p:txBody>
          <a:bodyPr/>
          <a:lstStyle/>
          <a:p>
            <a:fld id="{EBD68F42-9347-4EA8-B314-ADAAE8A7D24B}" type="slidenum">
              <a:rPr lang="zh-CN" altLang="en-US" smtClean="0"/>
              <a:t>22</a:t>
            </a:fld>
            <a:endParaRPr lang="zh-CN" altLang="en-US"/>
          </a:p>
        </p:txBody>
      </p:sp>
    </p:spTree>
    <p:extLst>
      <p:ext uri="{BB962C8B-B14F-4D97-AF65-F5344CB8AC3E}">
        <p14:creationId xmlns:p14="http://schemas.microsoft.com/office/powerpoint/2010/main" val="21731327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梯形 6"/>
          <p:cNvSpPr/>
          <p:nvPr userDrawn="1"/>
        </p:nvSpPr>
        <p:spPr>
          <a:xfrm rot="10800000">
            <a:off x="2439493" y="32873"/>
            <a:ext cx="7659006" cy="540000"/>
          </a:xfrm>
          <a:prstGeom prst="trapezoid">
            <a:avLst>
              <a:gd name="adj" fmla="val 5700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400" baseline="0" dirty="0">
              <a:ea typeface="隶书" panose="02010509060101010101" pitchFamily="49" charset="-122"/>
            </a:endParaRPr>
          </a:p>
        </p:txBody>
      </p:sp>
      <p:sp>
        <p:nvSpPr>
          <p:cNvPr id="8" name="矩形 7"/>
          <p:cNvSpPr/>
          <p:nvPr userDrawn="1"/>
        </p:nvSpPr>
        <p:spPr>
          <a:xfrm>
            <a:off x="0" y="1912257"/>
            <a:ext cx="12192000" cy="2278743"/>
          </a:xfrm>
          <a:prstGeom prst="rect">
            <a:avLst/>
          </a:prstGeom>
          <a:solidFill>
            <a:srgbClr val="004A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6498000"/>
            <a:ext cx="12192000" cy="360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aseline="0" dirty="0">
                <a:ea typeface="隶书" panose="02010509060101010101" pitchFamily="49" charset="-122"/>
              </a:rPr>
              <a:t>明德  厚学  求是  创新</a:t>
            </a:r>
          </a:p>
        </p:txBody>
      </p:sp>
      <p:sp>
        <p:nvSpPr>
          <p:cNvPr id="10" name="灯片编号占位符 1"/>
          <p:cNvSpPr txBox="1"/>
          <p:nvPr userDrawn="1"/>
        </p:nvSpPr>
        <p:spPr>
          <a:xfrm>
            <a:off x="9422478" y="6498000"/>
            <a:ext cx="2625863" cy="3600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7F9245BB-51C4-4167-81AE-066097AE39E3}" type="slidenum">
              <a:rPr kumimoji="0" lang="zh-CN" altLang="en-US" sz="1600" b="0" i="0" u="none" strike="noStrike" kern="1200" cap="none" spc="0" normalizeH="0" baseline="0" noProof="0" smtClean="0">
                <a:ln>
                  <a:noFill/>
                </a:ln>
                <a:solidFill>
                  <a:srgbClr val="FFFF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defRPr/>
              </a:pPr>
              <a:t>‹#›</a:t>
            </a:fld>
            <a:endParaRPr kumimoji="0" lang="zh-CN" altLang="en-US" sz="16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075" y="65981"/>
            <a:ext cx="2302773" cy="540000"/>
          </a:xfrm>
          <a:prstGeom prst="rect">
            <a:avLst/>
          </a:prstGeom>
        </p:spPr>
      </p:pic>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63144" y="65981"/>
            <a:ext cx="1935713" cy="540000"/>
          </a:xfrm>
          <a:prstGeom prst="rect">
            <a:avLst/>
          </a:prstGeom>
        </p:spPr>
      </p:pic>
    </p:spTree>
    <p:extLst>
      <p:ext uri="{BB962C8B-B14F-4D97-AF65-F5344CB8AC3E}">
        <p14:creationId xmlns:p14="http://schemas.microsoft.com/office/powerpoint/2010/main" val="2649966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7" name="梯形 6"/>
          <p:cNvSpPr/>
          <p:nvPr userDrawn="1"/>
        </p:nvSpPr>
        <p:spPr>
          <a:xfrm rot="10800000">
            <a:off x="2439493" y="32873"/>
            <a:ext cx="7659006" cy="540000"/>
          </a:xfrm>
          <a:prstGeom prst="trapezoid">
            <a:avLst>
              <a:gd name="adj" fmla="val 5700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400" baseline="0" dirty="0">
              <a:ea typeface="隶书" panose="02010509060101010101" pitchFamily="49" charset="-122"/>
            </a:endParaRPr>
          </a:p>
        </p:txBody>
      </p:sp>
      <p:sp>
        <p:nvSpPr>
          <p:cNvPr id="8" name="矩形 7"/>
          <p:cNvSpPr/>
          <p:nvPr userDrawn="1"/>
        </p:nvSpPr>
        <p:spPr>
          <a:xfrm>
            <a:off x="0" y="1912257"/>
            <a:ext cx="12192000" cy="2278743"/>
          </a:xfrm>
          <a:prstGeom prst="rect">
            <a:avLst/>
          </a:prstGeom>
          <a:solidFill>
            <a:srgbClr val="004A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6498000"/>
            <a:ext cx="12192000" cy="360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aseline="0" dirty="0">
                <a:ea typeface="隶书" panose="02010509060101010101" pitchFamily="49" charset="-122"/>
              </a:rPr>
              <a:t>明德  厚学  求是  创新</a:t>
            </a:r>
          </a:p>
        </p:txBody>
      </p:sp>
      <p:sp>
        <p:nvSpPr>
          <p:cNvPr id="10" name="灯片编号占位符 1"/>
          <p:cNvSpPr txBox="1"/>
          <p:nvPr userDrawn="1"/>
        </p:nvSpPr>
        <p:spPr>
          <a:xfrm>
            <a:off x="9422478" y="6498000"/>
            <a:ext cx="2625863" cy="3600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7F9245BB-51C4-4167-81AE-066097AE39E3}" type="slidenum">
              <a:rPr kumimoji="0" lang="zh-CN" altLang="en-US" sz="1600" b="0" i="0" u="none" strike="noStrike" kern="1200" cap="none" spc="0" normalizeH="0" baseline="0" noProof="0" smtClean="0">
                <a:ln>
                  <a:noFill/>
                </a:ln>
                <a:solidFill>
                  <a:srgbClr val="FFFF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defRPr/>
              </a:pPr>
              <a:t>‹#›</a:t>
            </a:fld>
            <a:endParaRPr kumimoji="0" lang="zh-CN" altLang="en-US" sz="16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075" y="65981"/>
            <a:ext cx="2302773" cy="540000"/>
          </a:xfrm>
          <a:prstGeom prst="rect">
            <a:avLst/>
          </a:prstGeom>
        </p:spPr>
      </p:pic>
      <p:pic>
        <p:nvPicPr>
          <p:cNvPr id="2" name="图片 1">
            <a:extLst>
              <a:ext uri="{FF2B5EF4-FFF2-40B4-BE49-F238E27FC236}">
                <a16:creationId xmlns:a16="http://schemas.microsoft.com/office/drawing/2014/main" id="{80C92510-2713-E1EB-2F01-071B9997BB9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30049" b="26478"/>
          <a:stretch/>
        </p:blipFill>
        <p:spPr>
          <a:xfrm>
            <a:off x="10098499" y="32872"/>
            <a:ext cx="1656210" cy="720000"/>
          </a:xfrm>
          <a:prstGeom prst="rect">
            <a:avLst/>
          </a:prstGeom>
        </p:spPr>
      </p:pic>
    </p:spTree>
    <p:extLst>
      <p:ext uri="{BB962C8B-B14F-4D97-AF65-F5344CB8AC3E}">
        <p14:creationId xmlns:p14="http://schemas.microsoft.com/office/powerpoint/2010/main" val="3300437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01_回顾">
    <p:spTree>
      <p:nvGrpSpPr>
        <p:cNvPr id="1" name=""/>
        <p:cNvGrpSpPr/>
        <p:nvPr/>
      </p:nvGrpSpPr>
      <p:grpSpPr>
        <a:xfrm>
          <a:off x="0" y="0"/>
          <a:ext cx="0" cy="0"/>
          <a:chOff x="0" y="0"/>
          <a:chExt cx="0" cy="0"/>
        </a:xfrm>
      </p:grpSpPr>
      <p:sp>
        <p:nvSpPr>
          <p:cNvPr id="6" name="矩形 5"/>
          <p:cNvSpPr/>
          <p:nvPr userDrawn="1"/>
        </p:nvSpPr>
        <p:spPr>
          <a:xfrm>
            <a:off x="0" y="6498000"/>
            <a:ext cx="12192000" cy="360000"/>
          </a:xfrm>
          <a:prstGeom prst="rect">
            <a:avLst/>
          </a:prstGeom>
          <a:solidFill>
            <a:srgbClr val="D20B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aseline="0" dirty="0">
                <a:ea typeface="隶书" panose="02010509060101010101" pitchFamily="49" charset="-122"/>
              </a:rPr>
              <a:t>明德  厚学  求是  创新</a:t>
            </a:r>
          </a:p>
        </p:txBody>
      </p:sp>
      <p:sp>
        <p:nvSpPr>
          <p:cNvPr id="18" name="灯片编号占位符 1"/>
          <p:cNvSpPr txBox="1"/>
          <p:nvPr userDrawn="1"/>
        </p:nvSpPr>
        <p:spPr>
          <a:xfrm>
            <a:off x="9422478" y="6498000"/>
            <a:ext cx="2625863" cy="3600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7F9245BB-51C4-4167-81AE-066097AE39E3}" type="slidenum">
              <a:rPr kumimoji="0" lang="zh-CN" altLang="en-US" sz="1600" b="0" i="0" u="none" strike="noStrike" kern="1200" cap="none" spc="0" normalizeH="0" baseline="0" noProof="0" smtClean="0">
                <a:ln>
                  <a:noFill/>
                </a:ln>
                <a:solidFill>
                  <a:srgbClr val="FFFF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defRPr/>
              </a:pPr>
              <a:t>‹#›</a:t>
            </a:fld>
            <a:endParaRPr kumimoji="0" lang="zh-CN" altLang="en-US" sz="16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sp>
        <p:nvSpPr>
          <p:cNvPr id="10" name="五边形 19"/>
          <p:cNvSpPr/>
          <p:nvPr userDrawn="1"/>
        </p:nvSpPr>
        <p:spPr>
          <a:xfrm>
            <a:off x="0" y="960004"/>
            <a:ext cx="12191365" cy="18000"/>
          </a:xfrm>
          <a:prstGeom prst="homePlate">
            <a:avLst>
              <a:gd name="adj" fmla="val 69636"/>
            </a:avLst>
          </a:prstGeom>
          <a:solidFill>
            <a:srgbClr val="D20B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zh-CN" sz="4400" b="1" dirty="0">
              <a:solidFill>
                <a:srgbClr val="004A98"/>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11" name="标题 1"/>
          <p:cNvSpPr>
            <a:spLocks noGrp="1"/>
          </p:cNvSpPr>
          <p:nvPr>
            <p:ph type="title"/>
          </p:nvPr>
        </p:nvSpPr>
        <p:spPr>
          <a:xfrm>
            <a:off x="214743" y="166140"/>
            <a:ext cx="9207735" cy="657339"/>
          </a:xfrm>
          <a:prstGeom prst="rect">
            <a:avLst/>
          </a:prstGeom>
        </p:spPr>
        <p:txBody>
          <a:bodyPr>
            <a:normAutofit/>
          </a:bodyPr>
          <a:lstStyle>
            <a:lvl1pPr>
              <a:defRPr sz="3200" b="1">
                <a:solidFill>
                  <a:srgbClr val="D20B17"/>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6617" y="169953"/>
            <a:ext cx="2609810" cy="612000"/>
          </a:xfrm>
          <a:prstGeom prst="rect">
            <a:avLst/>
          </a:prstGeom>
        </p:spPr>
      </p:pic>
    </p:spTree>
    <p:extLst>
      <p:ext uri="{BB962C8B-B14F-4D97-AF65-F5344CB8AC3E}">
        <p14:creationId xmlns:p14="http://schemas.microsoft.com/office/powerpoint/2010/main" val="67797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回顾">
    <p:spTree>
      <p:nvGrpSpPr>
        <p:cNvPr id="1" name=""/>
        <p:cNvGrpSpPr/>
        <p:nvPr/>
      </p:nvGrpSpPr>
      <p:grpSpPr>
        <a:xfrm>
          <a:off x="0" y="0"/>
          <a:ext cx="0" cy="0"/>
          <a:chOff x="0" y="0"/>
          <a:chExt cx="0" cy="0"/>
        </a:xfrm>
      </p:grpSpPr>
      <p:sp>
        <p:nvSpPr>
          <p:cNvPr id="6" name="矩形 5"/>
          <p:cNvSpPr/>
          <p:nvPr userDrawn="1"/>
        </p:nvSpPr>
        <p:spPr>
          <a:xfrm>
            <a:off x="0" y="6498000"/>
            <a:ext cx="12192000" cy="360000"/>
          </a:xfrm>
          <a:prstGeom prst="rect">
            <a:avLst/>
          </a:prstGeom>
          <a:solidFill>
            <a:srgbClr val="D20B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aseline="0" dirty="0">
                <a:ea typeface="隶书" panose="02010509060101010101" pitchFamily="49" charset="-122"/>
              </a:rPr>
              <a:t>明德  厚学  求是  创新</a:t>
            </a:r>
          </a:p>
        </p:txBody>
      </p:sp>
      <p:sp>
        <p:nvSpPr>
          <p:cNvPr id="18" name="灯片编号占位符 1"/>
          <p:cNvSpPr txBox="1"/>
          <p:nvPr userDrawn="1"/>
        </p:nvSpPr>
        <p:spPr>
          <a:xfrm>
            <a:off x="9422478" y="6498000"/>
            <a:ext cx="2625863" cy="3600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7F9245BB-51C4-4167-81AE-066097AE39E3}" type="slidenum">
              <a:rPr kumimoji="0" lang="zh-CN" altLang="en-US" sz="1600" b="0" i="0" u="none" strike="noStrike" kern="1200" cap="none" spc="0" normalizeH="0" baseline="0" noProof="0" smtClean="0">
                <a:ln>
                  <a:noFill/>
                </a:ln>
                <a:solidFill>
                  <a:srgbClr val="FFFF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defRPr/>
              </a:pPr>
              <a:t>‹#›</a:t>
            </a:fld>
            <a:endParaRPr kumimoji="0" lang="zh-CN" altLang="en-US" sz="16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userDrawn="1"/>
        </p:nvSpPr>
        <p:spPr>
          <a:xfrm>
            <a:off x="0" y="1912257"/>
            <a:ext cx="12192000" cy="2278743"/>
          </a:xfrm>
          <a:prstGeom prst="rect">
            <a:avLst/>
          </a:prstGeom>
          <a:solidFill>
            <a:srgbClr val="004A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51514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结尾">
    <p:spTree>
      <p:nvGrpSpPr>
        <p:cNvPr id="1" name=""/>
        <p:cNvGrpSpPr/>
        <p:nvPr/>
      </p:nvGrpSpPr>
      <p:grpSpPr>
        <a:xfrm>
          <a:off x="0" y="0"/>
          <a:ext cx="0" cy="0"/>
          <a:chOff x="0" y="0"/>
          <a:chExt cx="0" cy="0"/>
        </a:xfrm>
      </p:grpSpPr>
      <p:sp>
        <p:nvSpPr>
          <p:cNvPr id="7" name="矩形 6"/>
          <p:cNvSpPr/>
          <p:nvPr userDrawn="1"/>
        </p:nvSpPr>
        <p:spPr>
          <a:xfrm>
            <a:off x="0" y="1912257"/>
            <a:ext cx="12192000" cy="2278743"/>
          </a:xfrm>
          <a:prstGeom prst="rect">
            <a:avLst/>
          </a:prstGeom>
          <a:solidFill>
            <a:srgbClr val="004A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0" y="6498000"/>
            <a:ext cx="12192000" cy="360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aseline="0" dirty="0">
                <a:ea typeface="隶书" panose="02010509060101010101" pitchFamily="49" charset="-122"/>
              </a:rPr>
              <a:t>明德  厚学  求是  创新</a:t>
            </a:r>
          </a:p>
        </p:txBody>
      </p:sp>
      <p:sp>
        <p:nvSpPr>
          <p:cNvPr id="21" name="灯片编号占位符 1"/>
          <p:cNvSpPr txBox="1"/>
          <p:nvPr userDrawn="1"/>
        </p:nvSpPr>
        <p:spPr>
          <a:xfrm>
            <a:off x="9422478" y="6498000"/>
            <a:ext cx="2625863" cy="3600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7F9245BB-51C4-4167-81AE-066097AE39E3}" type="slidenum">
              <a:rPr kumimoji="0" lang="zh-CN" altLang="en-US" sz="1600" b="0" i="0" u="none" strike="noStrike" kern="1200" cap="none" spc="0" normalizeH="0" baseline="0" noProof="0" smtClean="0">
                <a:ln>
                  <a:noFill/>
                </a:ln>
                <a:solidFill>
                  <a:srgbClr val="FFFF00"/>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defRPr/>
              </a:pPr>
              <a:t>‹#›</a:t>
            </a:fld>
            <a:endParaRPr kumimoji="0" lang="zh-CN" altLang="en-US" sz="16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sp>
        <p:nvSpPr>
          <p:cNvPr id="6" name="梯形 5"/>
          <p:cNvSpPr/>
          <p:nvPr userDrawn="1"/>
        </p:nvSpPr>
        <p:spPr>
          <a:xfrm rot="10800000">
            <a:off x="2439493" y="32873"/>
            <a:ext cx="7659006" cy="540000"/>
          </a:xfrm>
          <a:prstGeom prst="trapezoid">
            <a:avLst>
              <a:gd name="adj" fmla="val 5700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400" baseline="0" dirty="0">
              <a:ea typeface="隶书" panose="02010509060101010101" pitchFamily="49" charset="-122"/>
            </a:endParaRP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075" y="65981"/>
            <a:ext cx="2302773" cy="540000"/>
          </a:xfrm>
          <a:prstGeom prst="rect">
            <a:avLst/>
          </a:prstGeom>
        </p:spPr>
      </p:pic>
      <p:pic>
        <p:nvPicPr>
          <p:cNvPr id="2" name="图片 1">
            <a:extLst>
              <a:ext uri="{FF2B5EF4-FFF2-40B4-BE49-F238E27FC236}">
                <a16:creationId xmlns:a16="http://schemas.microsoft.com/office/drawing/2014/main" id="{D4AE292B-977D-038B-74AC-FA0211D81F5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30049" b="26478"/>
          <a:stretch/>
        </p:blipFill>
        <p:spPr>
          <a:xfrm>
            <a:off x="10073893" y="32872"/>
            <a:ext cx="1656210" cy="720000"/>
          </a:xfrm>
          <a:prstGeom prst="rect">
            <a:avLst/>
          </a:prstGeom>
        </p:spPr>
      </p:pic>
    </p:spTree>
    <p:extLst>
      <p:ext uri="{BB962C8B-B14F-4D97-AF65-F5344CB8AC3E}">
        <p14:creationId xmlns:p14="http://schemas.microsoft.com/office/powerpoint/2010/main" val="70551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7" name="灯片编号占位符 5">
            <a:extLst>
              <a:ext uri="{FF2B5EF4-FFF2-40B4-BE49-F238E27FC236}">
                <a16:creationId xmlns:a16="http://schemas.microsoft.com/office/drawing/2014/main" id="{B3CDC28B-B05E-477D-AEAD-CC166B745E4F}"/>
              </a:ext>
            </a:extLst>
          </p:cNvPr>
          <p:cNvSpPr>
            <a:spLocks noGrp="1" noChangeArrowheads="1"/>
          </p:cNvSpPr>
          <p:nvPr>
            <p:ph type="sldNum" sz="quarter" idx="12"/>
          </p:nvPr>
        </p:nvSpPr>
        <p:spPr>
          <a:xfrm>
            <a:off x="10752666" y="6356351"/>
            <a:ext cx="1236133" cy="365125"/>
          </a:xfrm>
          <a:ln/>
        </p:spPr>
        <p:txBody>
          <a:bodyPr/>
          <a:lstStyle>
            <a:lvl1pPr>
              <a:defRPr sz="2400">
                <a:solidFill>
                  <a:schemeClr val="tx1"/>
                </a:solidFill>
              </a:defRPr>
            </a:lvl1pPr>
          </a:lstStyle>
          <a:p>
            <a:pPr>
              <a:defRPr/>
            </a:pPr>
            <a:fld id="{35DEF92D-CF10-41EC-B025-CF1B6427A32A}" type="slidenum">
              <a:rPr lang="zh-CN" altLang="en-US" smtClean="0"/>
              <a:pPr>
                <a:defRPr/>
              </a:pPr>
              <a:t>‹#›</a:t>
            </a:fld>
            <a:endParaRPr lang="en-US"/>
          </a:p>
        </p:txBody>
      </p:sp>
    </p:spTree>
    <p:extLst>
      <p:ext uri="{BB962C8B-B14F-4D97-AF65-F5344CB8AC3E}">
        <p14:creationId xmlns:p14="http://schemas.microsoft.com/office/powerpoint/2010/main" val="29172969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08F5EA1-5863-4082-A6B1-A4BF39422D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B63BE64-E82B-4B64-99BB-9F32DF7354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688DC47-02ED-49D9-A4D2-7F4E09B1EF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C39327-50F7-4C3D-B693-8D101C344A68}" type="datetimeFigureOut">
              <a:rPr lang="zh-CN" altLang="en-US" smtClean="0"/>
              <a:t>2026/5/29</a:t>
            </a:fld>
            <a:endParaRPr lang="zh-CN" altLang="en-US"/>
          </a:p>
        </p:txBody>
      </p:sp>
      <p:sp>
        <p:nvSpPr>
          <p:cNvPr id="5" name="页脚占位符 4">
            <a:extLst>
              <a:ext uri="{FF2B5EF4-FFF2-40B4-BE49-F238E27FC236}">
                <a16:creationId xmlns:a16="http://schemas.microsoft.com/office/drawing/2014/main" id="{0F601FE8-3F35-4B5E-986C-205EF50049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DFFD542-DEB2-4239-8BA2-1218D20BBE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EF3D3C-10E0-41C5-B19D-C9354BF2C20C}" type="slidenum">
              <a:rPr lang="zh-CN" altLang="en-US" smtClean="0"/>
              <a:t>‹#›</a:t>
            </a:fld>
            <a:endParaRPr lang="zh-CN" altLang="en-US"/>
          </a:p>
        </p:txBody>
      </p:sp>
    </p:spTree>
    <p:extLst>
      <p:ext uri="{BB962C8B-B14F-4D97-AF65-F5344CB8AC3E}">
        <p14:creationId xmlns:p14="http://schemas.microsoft.com/office/powerpoint/2010/main" val="2783652410"/>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0" r:id="rId3"/>
    <p:sldLayoutId id="2147483666" r:id="rId4"/>
    <p:sldLayoutId id="2147483663" r:id="rId5"/>
    <p:sldLayoutId id="2147483665"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5.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3.xml"/><Relationship Id="rId17" Type="http://schemas.openxmlformats.org/officeDocument/2006/relationships/image" Target="../media/image9.svg"/><Relationship Id="rId2" Type="http://schemas.openxmlformats.org/officeDocument/2006/relationships/tags" Target="../tags/tag2.xml"/><Relationship Id="rId16" Type="http://schemas.openxmlformats.org/officeDocument/2006/relationships/image" Target="../media/image8.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3.xml"/><Relationship Id="rId5" Type="http://schemas.openxmlformats.org/officeDocument/2006/relationships/tags" Target="../tags/tag5.xml"/><Relationship Id="rId15" Type="http://schemas.openxmlformats.org/officeDocument/2006/relationships/image" Target="../media/image7.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notesSlide" Target="../notesSlides/notesSlide5.xml"/><Relationship Id="rId17" Type="http://schemas.openxmlformats.org/officeDocument/2006/relationships/image" Target="../media/image16.png"/><Relationship Id="rId2" Type="http://schemas.openxmlformats.org/officeDocument/2006/relationships/tags" Target="../tags/tag12.xml"/><Relationship Id="rId16" Type="http://schemas.openxmlformats.org/officeDocument/2006/relationships/image" Target="../media/image15.svg"/><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slideLayout" Target="../slideLayouts/slideLayout3.xml"/><Relationship Id="rId5" Type="http://schemas.openxmlformats.org/officeDocument/2006/relationships/tags" Target="../tags/tag15.xml"/><Relationship Id="rId15" Type="http://schemas.openxmlformats.org/officeDocument/2006/relationships/image" Target="../media/image14.png"/><Relationship Id="rId10" Type="http://schemas.openxmlformats.org/officeDocument/2006/relationships/tags" Target="../tags/tag20.xml"/><Relationship Id="rId19" Type="http://schemas.openxmlformats.org/officeDocument/2006/relationships/image" Target="../media/image18.png"/><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6.emf"/><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27.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12.sv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17.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2659559"/>
            <a:ext cx="12192000" cy="769441"/>
          </a:xfrm>
          <a:prstGeom prst="rect">
            <a:avLst/>
          </a:prstGeom>
          <a:noFill/>
        </p:spPr>
        <p:txBody>
          <a:bodyPr wrap="square" rtlCol="0">
            <a:spAutoFit/>
          </a:bodyPr>
          <a:lstStyle/>
          <a:p>
            <a:pPr algn="ctr"/>
            <a:r>
              <a:rPr lang="zh-CN" altLang="en-US" sz="4400" b="1">
                <a:solidFill>
                  <a:schemeClr val="bg1"/>
                </a:solidFill>
                <a:latin typeface="Times New Roman" panose="02020603050405020304" pitchFamily="18" charset="0"/>
                <a:ea typeface="微软雅黑" panose="020B0503020204020204" pitchFamily="34" charset="-122"/>
              </a:rPr>
              <a:t>氢内燃机爆震机理及唯象模型研究</a:t>
            </a:r>
            <a:endParaRPr lang="en-US" altLang="zh-CN" sz="4400" b="1">
              <a:solidFill>
                <a:schemeClr val="bg1"/>
              </a:solidFill>
              <a:latin typeface="Times New Roman" panose="02020603050405020304" pitchFamily="18" charset="0"/>
              <a:ea typeface="微软雅黑" panose="020B0503020204020204" pitchFamily="34" charset="-122"/>
            </a:endParaRPr>
          </a:p>
        </p:txBody>
      </p:sp>
      <p:sp>
        <p:nvSpPr>
          <p:cNvPr id="6" name="文本框 5"/>
          <p:cNvSpPr txBox="1"/>
          <p:nvPr/>
        </p:nvSpPr>
        <p:spPr>
          <a:xfrm>
            <a:off x="2734322" y="87083"/>
            <a:ext cx="7048869" cy="461665"/>
          </a:xfrm>
          <a:prstGeom prst="rect">
            <a:avLst/>
          </a:prstGeom>
          <a:noFill/>
        </p:spPr>
        <p:txBody>
          <a:bodyPr wrap="square" rtlCol="0">
            <a:spAutoFit/>
          </a:bodyPr>
          <a:lstStyle/>
          <a:p>
            <a:pPr algn="ctr"/>
            <a:r>
              <a:rPr lang="zh-CN" altLang="en-US" sz="2400" b="1">
                <a:solidFill>
                  <a:schemeClr val="bg1"/>
                </a:solidFill>
                <a:latin typeface="Times New Roman" panose="02020603050405020304" pitchFamily="18" charset="0"/>
                <a:ea typeface="微软雅黑" panose="020B0503020204020204" pitchFamily="34" charset="-122"/>
              </a:rPr>
              <a:t>毕业设计答辩</a:t>
            </a:r>
            <a:endParaRPr lang="zh-CN" altLang="en-US" sz="2400" b="1" dirty="0">
              <a:solidFill>
                <a:schemeClr val="bg1"/>
              </a:solidFill>
              <a:latin typeface="Times New Roman" panose="02020603050405020304" pitchFamily="18" charset="0"/>
              <a:ea typeface="微软雅黑" panose="020B0503020204020204" pitchFamily="34" charset="-122"/>
            </a:endParaRPr>
          </a:p>
        </p:txBody>
      </p:sp>
      <p:sp>
        <p:nvSpPr>
          <p:cNvPr id="7" name="文本框 6"/>
          <p:cNvSpPr txBox="1"/>
          <p:nvPr/>
        </p:nvSpPr>
        <p:spPr>
          <a:xfrm>
            <a:off x="0" y="4801311"/>
            <a:ext cx="12192000" cy="1307537"/>
          </a:xfrm>
          <a:prstGeom prst="rect">
            <a:avLst/>
          </a:prstGeom>
          <a:noFill/>
        </p:spPr>
        <p:txBody>
          <a:bodyPr wrap="square" rtlCol="0">
            <a:spAutoFit/>
          </a:bodyPr>
          <a:lstStyle/>
          <a:p>
            <a:pPr algn="ctr">
              <a:lnSpc>
                <a:spcPct val="150000"/>
              </a:lnSpc>
            </a:pPr>
            <a:r>
              <a:rPr lang="zh-CN" altLang="en-US" sz="2800" dirty="0">
                <a:latin typeface="Times New Roman" panose="02020603050405020304" pitchFamily="18" charset="0"/>
                <a:ea typeface="微软雅黑" panose="020B0503020204020204" pitchFamily="34" charset="-122"/>
              </a:rPr>
              <a:t>汇报</a:t>
            </a:r>
            <a:r>
              <a:rPr lang="zh-CN" altLang="en-US" sz="2800">
                <a:latin typeface="Times New Roman" panose="02020603050405020304" pitchFamily="18" charset="0"/>
                <a:ea typeface="微软雅黑" panose="020B0503020204020204" pitchFamily="34" charset="-122"/>
              </a:rPr>
              <a:t>人：熊浩</a:t>
            </a:r>
            <a:endParaRPr lang="en-US" altLang="zh-CN" sz="2800">
              <a:latin typeface="Times New Roman" panose="02020603050405020304" pitchFamily="18" charset="0"/>
              <a:ea typeface="微软雅黑" panose="020B0503020204020204" pitchFamily="34" charset="-122"/>
            </a:endParaRPr>
          </a:p>
          <a:p>
            <a:pPr algn="ctr">
              <a:lnSpc>
                <a:spcPct val="150000"/>
              </a:lnSpc>
            </a:pPr>
            <a:r>
              <a:rPr lang="zh-CN" altLang="en-US" sz="2800">
                <a:latin typeface="Times New Roman" panose="02020603050405020304" pitchFamily="18" charset="0"/>
                <a:ea typeface="微软雅黑" panose="020B0503020204020204" pitchFamily="34" charset="-122"/>
              </a:rPr>
              <a:t>指导老师：杨灿</a:t>
            </a:r>
            <a:endParaRPr lang="en-US" altLang="zh-CN" sz="280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205064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3C479-D580-B64A-14EB-D1BD075E3E6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FF2105D-2FB0-FF77-885A-AA48363B87A6}"/>
              </a:ext>
            </a:extLst>
          </p:cNvPr>
          <p:cNvSpPr>
            <a:spLocks noGrp="1"/>
          </p:cNvSpPr>
          <p:nvPr>
            <p:ph type="title"/>
          </p:nvPr>
        </p:nvSpPr>
        <p:spPr/>
        <p:txBody>
          <a:bodyPr/>
          <a:lstStyle/>
          <a:p>
            <a:r>
              <a:rPr lang="zh-CN" altLang="en-US"/>
              <a:t>目录</a:t>
            </a:r>
            <a:endParaRPr lang="zh-CN" altLang="en-US" dirty="0"/>
          </a:p>
        </p:txBody>
      </p:sp>
      <p:grpSp>
        <p:nvGrpSpPr>
          <p:cNvPr id="5" name="组合 4">
            <a:extLst>
              <a:ext uri="{FF2B5EF4-FFF2-40B4-BE49-F238E27FC236}">
                <a16:creationId xmlns:a16="http://schemas.microsoft.com/office/drawing/2014/main" id="{4EE0C3F5-B721-B052-AEC7-CDF5D70CB82F}"/>
              </a:ext>
            </a:extLst>
          </p:cNvPr>
          <p:cNvGrpSpPr/>
          <p:nvPr/>
        </p:nvGrpSpPr>
        <p:grpSpPr>
          <a:xfrm>
            <a:off x="2897226" y="2013783"/>
            <a:ext cx="6967210" cy="2830434"/>
            <a:chOff x="2767917" y="1781591"/>
            <a:chExt cx="17305538" cy="2830434"/>
          </a:xfrm>
        </p:grpSpPr>
        <p:sp>
          <p:nvSpPr>
            <p:cNvPr id="6" name="矩形 5">
              <a:extLst>
                <a:ext uri="{FF2B5EF4-FFF2-40B4-BE49-F238E27FC236}">
                  <a16:creationId xmlns:a16="http://schemas.microsoft.com/office/drawing/2014/main" id="{E654664C-B753-2F8E-8049-C9AD34EF7A37}"/>
                </a:ext>
              </a:extLst>
            </p:cNvPr>
            <p:cNvSpPr/>
            <p:nvPr/>
          </p:nvSpPr>
          <p:spPr>
            <a:xfrm>
              <a:off x="2767920" y="178159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C00000"/>
                  </a:solidFill>
                  <a:latin typeface="Times New Roman" panose="02020603050405020304" pitchFamily="18" charset="0"/>
                  <a:ea typeface="微软雅黑" panose="020B0503020204020204" pitchFamily="34" charset="-122"/>
                  <a:cs typeface="+mn-ea"/>
                </a:rPr>
                <a:t>第一章：绪论</a:t>
              </a:r>
              <a:endParaRPr lang="zh-CN" altLang="en-US" sz="2400" b="1" dirty="0">
                <a:solidFill>
                  <a:srgbClr val="C00000"/>
                </a:solidFill>
                <a:latin typeface="Times New Roman" panose="02020603050405020304" pitchFamily="18" charset="0"/>
                <a:ea typeface="微软雅黑" panose="020B0503020204020204" pitchFamily="34" charset="-122"/>
                <a:cs typeface="+mn-ea"/>
              </a:endParaRPr>
            </a:p>
          </p:txBody>
        </p:sp>
        <p:sp>
          <p:nvSpPr>
            <p:cNvPr id="7" name="矩形 6">
              <a:extLst>
                <a:ext uri="{FF2B5EF4-FFF2-40B4-BE49-F238E27FC236}">
                  <a16:creationId xmlns:a16="http://schemas.microsoft.com/office/drawing/2014/main" id="{63DB91E7-63F7-0666-279C-FA3C01F99900}"/>
                </a:ext>
              </a:extLst>
            </p:cNvPr>
            <p:cNvSpPr/>
            <p:nvPr/>
          </p:nvSpPr>
          <p:spPr>
            <a:xfrm>
              <a:off x="2767919" y="237087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第二章：氢内燃机准维燃烧模型的构建</a:t>
              </a:r>
              <a:endParaRPr lang="zh-CN" altLang="zh-CN" sz="2400" b="1" dirty="0">
                <a:solidFill>
                  <a:srgbClr val="004A98"/>
                </a:solidFill>
                <a:latin typeface="Times New Roman" panose="02020603050405020304" pitchFamily="18" charset="0"/>
                <a:ea typeface="微软雅黑" panose="020B0503020204020204" pitchFamily="34" charset="-122"/>
                <a:cs typeface="+mn-ea"/>
              </a:endParaRPr>
            </a:p>
          </p:txBody>
        </p:sp>
        <p:sp>
          <p:nvSpPr>
            <p:cNvPr id="8" name="矩形 7">
              <a:extLst>
                <a:ext uri="{FF2B5EF4-FFF2-40B4-BE49-F238E27FC236}">
                  <a16:creationId xmlns:a16="http://schemas.microsoft.com/office/drawing/2014/main" id="{6B944D46-34F7-7AC2-62B3-71913D53E1FC}"/>
                </a:ext>
              </a:extLst>
            </p:cNvPr>
            <p:cNvSpPr/>
            <p:nvPr/>
          </p:nvSpPr>
          <p:spPr>
            <a:xfrm>
              <a:off x="2767919" y="296015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第三章：氢内燃机爆震唯象模型的构建</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sp>
          <p:nvSpPr>
            <p:cNvPr id="10" name="矩形 9">
              <a:extLst>
                <a:ext uri="{FF2B5EF4-FFF2-40B4-BE49-F238E27FC236}">
                  <a16:creationId xmlns:a16="http://schemas.microsoft.com/office/drawing/2014/main" id="{BB73773F-A597-B2E8-1066-868AE74DB71E}"/>
                </a:ext>
              </a:extLst>
            </p:cNvPr>
            <p:cNvSpPr/>
            <p:nvPr/>
          </p:nvSpPr>
          <p:spPr>
            <a:xfrm>
              <a:off x="2767917" y="3549431"/>
              <a:ext cx="1730553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第四章：氢内燃机燃烧与爆震模型的标定与验证</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sp>
          <p:nvSpPr>
            <p:cNvPr id="11" name="矩形 10">
              <a:extLst>
                <a:ext uri="{FF2B5EF4-FFF2-40B4-BE49-F238E27FC236}">
                  <a16:creationId xmlns:a16="http://schemas.microsoft.com/office/drawing/2014/main" id="{F93F4C65-6B8F-9391-9602-3689D237B08E}"/>
                </a:ext>
              </a:extLst>
            </p:cNvPr>
            <p:cNvSpPr/>
            <p:nvPr/>
          </p:nvSpPr>
          <p:spPr>
            <a:xfrm>
              <a:off x="2767917" y="4150360"/>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第五章：总结与展望</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grpSp>
    </p:spTree>
    <p:extLst>
      <p:ext uri="{BB962C8B-B14F-4D97-AF65-F5344CB8AC3E}">
        <p14:creationId xmlns:p14="http://schemas.microsoft.com/office/powerpoint/2010/main" val="3275613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76966-B1BE-16E4-2509-78B2DEC8B1A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42F2D08-A56D-5D8B-5ED8-C9AB233F07BF}"/>
              </a:ext>
            </a:extLst>
          </p:cNvPr>
          <p:cNvSpPr>
            <a:spLocks noGrp="1"/>
          </p:cNvSpPr>
          <p:nvPr>
            <p:ph type="title"/>
          </p:nvPr>
        </p:nvSpPr>
        <p:spPr/>
        <p:txBody>
          <a:bodyPr/>
          <a:lstStyle/>
          <a:p>
            <a:r>
              <a:rPr lang="zh-CN" altLang="en-US"/>
              <a:t>第一章</a:t>
            </a:r>
            <a:r>
              <a:rPr lang="en-US" altLang="zh-CN"/>
              <a:t>:</a:t>
            </a:r>
            <a:r>
              <a:rPr lang="zh-CN" altLang="en-US"/>
              <a:t>绪论</a:t>
            </a:r>
            <a:endParaRPr lang="zh-CN" altLang="en-US" dirty="0"/>
          </a:p>
        </p:txBody>
      </p:sp>
      <p:sp>
        <p:nvSpPr>
          <p:cNvPr id="2" name="矩形 1">
            <a:extLst>
              <a:ext uri="{FF2B5EF4-FFF2-40B4-BE49-F238E27FC236}">
                <a16:creationId xmlns:a16="http://schemas.microsoft.com/office/drawing/2014/main" id="{93967350-BA03-7C0D-73BB-C5932F85E56A}"/>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dirty="0">
                <a:solidFill>
                  <a:srgbClr val="004A98"/>
                </a:solidFill>
                <a:latin typeface="Times New Roman" panose="02020603050405020304" pitchFamily="18" charset="0"/>
                <a:ea typeface="微软雅黑" panose="020B0503020204020204" pitchFamily="34" charset="-122"/>
                <a:cs typeface="+mn-ea"/>
              </a:rPr>
              <a:t>第一节：课题背景与意义</a:t>
            </a:r>
          </a:p>
        </p:txBody>
      </p:sp>
      <p:grpSp>
        <p:nvGrpSpPr>
          <p:cNvPr id="4" name="组合 3">
            <a:extLst>
              <a:ext uri="{FF2B5EF4-FFF2-40B4-BE49-F238E27FC236}">
                <a16:creationId xmlns:a16="http://schemas.microsoft.com/office/drawing/2014/main" id="{E060C32A-C0B2-1323-C44E-9963E6E6EC28}"/>
              </a:ext>
            </a:extLst>
          </p:cNvPr>
          <p:cNvGrpSpPr/>
          <p:nvPr/>
        </p:nvGrpSpPr>
        <p:grpSpPr>
          <a:xfrm>
            <a:off x="3602653" y="5947928"/>
            <a:ext cx="3985195" cy="461398"/>
            <a:chOff x="3602653" y="5947928"/>
            <a:chExt cx="3985195" cy="461398"/>
          </a:xfrm>
        </p:grpSpPr>
        <p:sp>
          <p:nvSpPr>
            <p:cNvPr id="5" name="矩形 4">
              <a:extLst>
                <a:ext uri="{FF2B5EF4-FFF2-40B4-BE49-F238E27FC236}">
                  <a16:creationId xmlns:a16="http://schemas.microsoft.com/office/drawing/2014/main" id="{E20016F1-987B-004F-FE4C-AA610B4DAF91}"/>
                </a:ext>
              </a:extLst>
            </p:cNvPr>
            <p:cNvSpPr/>
            <p:nvPr>
              <p:custDataLst>
                <p:tags r:id="rId10"/>
              </p:custDataLst>
            </p:nvPr>
          </p:nvSpPr>
          <p:spPr>
            <a:xfrm>
              <a:off x="4300956" y="5947928"/>
              <a:ext cx="3286892" cy="461398"/>
            </a:xfrm>
            <a:prstGeom prst="rect">
              <a:avLst/>
            </a:prstGeom>
          </p:spPr>
          <p:txBody>
            <a:bodyPr wrap="square">
              <a:noAutofit/>
            </a:bodyPr>
            <a:lstStyle/>
            <a:p>
              <a:pPr lvl="0" indent="0" defTabSz="685800" fontAlgn="auto">
                <a:lnSpc>
                  <a:spcPct val="150000"/>
                </a:lnSpc>
              </a:pPr>
              <a:r>
                <a:rPr lang="zh-CN" altLang="en-US" sz="1600" b="1" dirty="0">
                  <a:latin typeface="微软雅黑" panose="020B0503020204020204" charset="-122"/>
                  <a:ea typeface="微软雅黑" panose="020B0503020204020204" charset="-122"/>
                </a:rPr>
                <a:t>氢内燃机爆震机理及唯象模型研究</a:t>
              </a:r>
              <a:endParaRPr lang="zh-CN" altLang="en-US" sz="1600" b="1" dirty="0">
                <a:latin typeface="微软雅黑" panose="020B0503020204020204" charset="-122"/>
                <a:ea typeface="微软雅黑" panose="020B0503020204020204" charset="-122"/>
                <a:sym typeface="Arial" panose="020B0604020202020204" pitchFamily="34" charset="0"/>
              </a:endParaRPr>
            </a:p>
          </p:txBody>
        </p:sp>
        <p:sp>
          <p:nvSpPr>
            <p:cNvPr id="7" name="箭头: V 形 6">
              <a:extLst>
                <a:ext uri="{FF2B5EF4-FFF2-40B4-BE49-F238E27FC236}">
                  <a16:creationId xmlns:a16="http://schemas.microsoft.com/office/drawing/2014/main" id="{B31EC5CD-E72B-BA38-88F5-2C33D2C50441}"/>
                </a:ext>
              </a:extLst>
            </p:cNvPr>
            <p:cNvSpPr/>
            <p:nvPr/>
          </p:nvSpPr>
          <p:spPr>
            <a:xfrm>
              <a:off x="3602653" y="6009531"/>
              <a:ext cx="196494" cy="381812"/>
            </a:xfrm>
            <a:prstGeom prst="chevron">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9" name="矩形: 圆角 8">
            <a:extLst>
              <a:ext uri="{FF2B5EF4-FFF2-40B4-BE49-F238E27FC236}">
                <a16:creationId xmlns:a16="http://schemas.microsoft.com/office/drawing/2014/main" id="{D27BF11D-D4FD-752E-5958-7F6203252645}"/>
              </a:ext>
            </a:extLst>
          </p:cNvPr>
          <p:cNvSpPr/>
          <p:nvPr/>
        </p:nvSpPr>
        <p:spPr>
          <a:xfrm>
            <a:off x="877823" y="1521896"/>
            <a:ext cx="11170517" cy="1279690"/>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69AC7AE-975D-BABF-7218-CA374DB1E61F}"/>
              </a:ext>
            </a:extLst>
          </p:cNvPr>
          <p:cNvSpPr/>
          <p:nvPr>
            <p:custDataLst>
              <p:tags r:id="rId1"/>
            </p:custDataLst>
          </p:nvPr>
        </p:nvSpPr>
        <p:spPr>
          <a:xfrm>
            <a:off x="944679" y="1541490"/>
            <a:ext cx="2000242" cy="1240501"/>
          </a:xfrm>
          <a:prstGeom prst="rect">
            <a:avLst/>
          </a:prstGeom>
        </p:spPr>
        <p:txBody>
          <a:bodyPr wrap="square">
            <a:noAutofit/>
          </a:bodyPr>
          <a:lstStyle/>
          <a:p>
            <a:pPr lvl="0" indent="0" defTabSz="685800" fontAlgn="auto">
              <a:lnSpc>
                <a:spcPct val="150000"/>
              </a:lnSpc>
            </a:pPr>
            <a:r>
              <a:rPr lang="zh-CN" altLang="en-US"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双</a:t>
            </a:r>
            <a:r>
              <a:rPr lang="zh-CN" altLang="en-US" sz="1600" b="1">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碳目标背景</a:t>
            </a:r>
            <a:r>
              <a:rPr lang="zh-CN" altLang="en-US" sz="1600" b="1">
                <a:latin typeface="微软雅黑" panose="020B0503020204020204" charset="-122"/>
                <a:ea typeface="微软雅黑" panose="020B0503020204020204" charset="-122"/>
                <a:cs typeface="汉仪旗黑-55简" panose="00020600040101010101" charset="-128"/>
                <a:sym typeface="Arial" panose="020B0604020202020204" pitchFamily="34" charset="0"/>
              </a:rPr>
              <a:t>：</a:t>
            </a:r>
            <a:r>
              <a:rPr lang="en-US" altLang="zh-CN"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2030</a:t>
            </a:r>
            <a:r>
              <a:rPr lang="zh-CN" altLang="en-US"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年实现</a:t>
            </a:r>
            <a:r>
              <a:rPr lang="zh-CN" altLang="en-US" sz="1600" b="1" dirty="0">
                <a:solidFill>
                  <a:srgbClr val="FF0000"/>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碳达峰</a:t>
            </a:r>
            <a:r>
              <a:rPr lang="zh-CN" altLang="en-US"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a:t>
            </a:r>
            <a:r>
              <a:rPr lang="en-US" altLang="zh-CN"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2060</a:t>
            </a:r>
            <a:r>
              <a:rPr lang="zh-CN" altLang="en-US"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年实现</a:t>
            </a:r>
            <a:r>
              <a:rPr lang="zh-CN" altLang="en-US" sz="1600" b="1" dirty="0">
                <a:solidFill>
                  <a:srgbClr val="FF0000"/>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碳中和</a:t>
            </a:r>
          </a:p>
        </p:txBody>
      </p:sp>
      <p:sp>
        <p:nvSpPr>
          <p:cNvPr id="11" name="矩形 10">
            <a:extLst>
              <a:ext uri="{FF2B5EF4-FFF2-40B4-BE49-F238E27FC236}">
                <a16:creationId xmlns:a16="http://schemas.microsoft.com/office/drawing/2014/main" id="{7D495C78-A894-EDFC-5D53-032D0F29CF4F}"/>
              </a:ext>
            </a:extLst>
          </p:cNvPr>
          <p:cNvSpPr/>
          <p:nvPr>
            <p:custDataLst>
              <p:tags r:id="rId2"/>
            </p:custDataLst>
          </p:nvPr>
        </p:nvSpPr>
        <p:spPr>
          <a:xfrm>
            <a:off x="4177133" y="1749614"/>
            <a:ext cx="1001565" cy="941398"/>
          </a:xfrm>
          <a:prstGeom prst="rect">
            <a:avLst/>
          </a:prstGeom>
        </p:spPr>
        <p:txBody>
          <a:bodyPr wrap="square">
            <a:noAutofit/>
          </a:bodyPr>
          <a:lstStyle/>
          <a:p>
            <a:pPr lvl="0" indent="0" defTabSz="685800" fontAlgn="auto">
              <a:lnSpc>
                <a:spcPct val="150000"/>
              </a:lnSpc>
            </a:pPr>
            <a:r>
              <a:rPr lang="zh-CN" altLang="en-US"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能源转型迫在眉睫</a:t>
            </a:r>
            <a:endParaRPr lang="zh-CN" altLang="en-US" sz="1600" b="1" dirty="0">
              <a:solidFill>
                <a:srgbClr val="FF0000"/>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12" name="矩形 11">
            <a:extLst>
              <a:ext uri="{FF2B5EF4-FFF2-40B4-BE49-F238E27FC236}">
                <a16:creationId xmlns:a16="http://schemas.microsoft.com/office/drawing/2014/main" id="{E5B9DE71-A967-7C70-2A1C-E195DC61B682}"/>
              </a:ext>
            </a:extLst>
          </p:cNvPr>
          <p:cNvSpPr/>
          <p:nvPr>
            <p:custDataLst>
              <p:tags r:id="rId3"/>
            </p:custDataLst>
          </p:nvPr>
        </p:nvSpPr>
        <p:spPr>
          <a:xfrm>
            <a:off x="6408925" y="1585593"/>
            <a:ext cx="5249187" cy="1181625"/>
          </a:xfrm>
          <a:prstGeom prst="rect">
            <a:avLst/>
          </a:prstGeom>
        </p:spPr>
        <p:txBody>
          <a:bodyPr wrap="square">
            <a:noAutofit/>
          </a:bodyPr>
          <a:lstStyle/>
          <a:p>
            <a:pPr lvl="0" indent="0" defTabSz="685800" fontAlgn="auto">
              <a:lnSpc>
                <a:spcPct val="150000"/>
              </a:lnSpc>
            </a:pPr>
            <a:r>
              <a:rPr lang="zh-CN" altLang="en-US" sz="1600" b="1" dirty="0">
                <a:latin typeface="微软雅黑" panose="020B0503020204020204" charset="-122"/>
                <a:ea typeface="微软雅黑" panose="020B0503020204020204" charset="-122"/>
              </a:rPr>
              <a:t>交通领域碳减排迫在眉睫，</a:t>
            </a:r>
            <a:r>
              <a:rPr lang="zh-CN" altLang="en-US" sz="1600" b="1">
                <a:solidFill>
                  <a:srgbClr val="FF0000"/>
                </a:solidFill>
                <a:latin typeface="微软雅黑" panose="020B0503020204020204" charset="-122"/>
                <a:ea typeface="微软雅黑" panose="020B0503020204020204" charset="-122"/>
              </a:rPr>
              <a:t>氢能</a:t>
            </a:r>
            <a:r>
              <a:rPr lang="zh-CN" altLang="en-US" sz="1600" b="1">
                <a:latin typeface="微软雅黑" panose="020B0503020204020204" charset="-122"/>
                <a:ea typeface="微软雅黑" panose="020B0503020204020204" charset="-122"/>
              </a:rPr>
              <a:t>是国家</a:t>
            </a:r>
            <a:r>
              <a:rPr lang="zh-CN" altLang="en-US" sz="1600" b="1" dirty="0">
                <a:latin typeface="微软雅黑" panose="020B0503020204020204" charset="-122"/>
                <a:ea typeface="微软雅黑" panose="020B0503020204020204" charset="-122"/>
              </a:rPr>
              <a:t>战略性新兴产业。</a:t>
            </a:r>
          </a:p>
          <a:p>
            <a:pPr lvl="0" indent="0" defTabSz="685800" fontAlgn="auto">
              <a:lnSpc>
                <a:spcPct val="150000"/>
              </a:lnSpc>
            </a:pPr>
            <a:r>
              <a:rPr lang="zh-CN" altLang="en-US" sz="1600" b="1" dirty="0">
                <a:solidFill>
                  <a:srgbClr val="FF0000"/>
                </a:solidFill>
                <a:latin typeface="微软雅黑" panose="020B0503020204020204" charset="-122"/>
                <a:ea typeface="微软雅黑" panose="020B0503020204020204" charset="-122"/>
              </a:rPr>
              <a:t>氢内燃机 </a:t>
            </a:r>
            <a:r>
              <a:rPr lang="en-US" altLang="zh-CN" sz="1600" b="1" dirty="0">
                <a:latin typeface="微软雅黑" panose="020B0503020204020204" charset="-122"/>
                <a:ea typeface="微软雅黑" panose="020B0503020204020204" charset="-122"/>
              </a:rPr>
              <a:t>(H₂-ICE) </a:t>
            </a:r>
            <a:r>
              <a:rPr lang="zh-CN" altLang="en-US" sz="1600" b="1" dirty="0">
                <a:latin typeface="微软雅黑" panose="020B0503020204020204" charset="-122"/>
                <a:ea typeface="微软雅黑" panose="020B0503020204020204" charset="-122"/>
              </a:rPr>
              <a:t>结合了传统内燃机的高可靠性与氢燃料的零碳</a:t>
            </a:r>
            <a:r>
              <a:rPr lang="zh-CN" altLang="en-US" sz="1600" b="1">
                <a:latin typeface="微软雅黑" panose="020B0503020204020204" charset="-122"/>
                <a:ea typeface="微软雅黑" panose="020B0503020204020204" charset="-122"/>
              </a:rPr>
              <a:t>特性，成为了行业</a:t>
            </a:r>
            <a:r>
              <a:rPr lang="zh-CN" altLang="en-US" sz="1600" b="1" dirty="0">
                <a:latin typeface="微软雅黑" panose="020B0503020204020204" charset="-122"/>
                <a:ea typeface="微软雅黑" panose="020B0503020204020204" charset="-122"/>
              </a:rPr>
              <a:t>实现碳中和的关键路径。</a:t>
            </a:r>
            <a:endParaRPr lang="zh-CN" altLang="en-US" sz="1600" b="1" dirty="0">
              <a:latin typeface="微软雅黑" panose="020B0503020204020204" charset="-122"/>
              <a:ea typeface="微软雅黑" panose="020B0503020204020204" charset="-122"/>
              <a:sym typeface="Arial" panose="020B0604020202020204" pitchFamily="34" charset="0"/>
            </a:endParaRPr>
          </a:p>
        </p:txBody>
      </p:sp>
      <p:sp>
        <p:nvSpPr>
          <p:cNvPr id="13" name="箭头: V 形 12">
            <a:extLst>
              <a:ext uri="{FF2B5EF4-FFF2-40B4-BE49-F238E27FC236}">
                <a16:creationId xmlns:a16="http://schemas.microsoft.com/office/drawing/2014/main" id="{48E04F4A-4853-04C6-F33E-8B5EE369C131}"/>
              </a:ext>
            </a:extLst>
          </p:cNvPr>
          <p:cNvSpPr/>
          <p:nvPr/>
        </p:nvSpPr>
        <p:spPr>
          <a:xfrm>
            <a:off x="3952417" y="1883881"/>
            <a:ext cx="175170" cy="651053"/>
          </a:xfrm>
          <a:prstGeom prst="chevron">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4" name="图片 13">
            <a:extLst>
              <a:ext uri="{FF2B5EF4-FFF2-40B4-BE49-F238E27FC236}">
                <a16:creationId xmlns:a16="http://schemas.microsoft.com/office/drawing/2014/main" id="{9F37F015-4CF0-CEF6-7928-9D94529ED759}"/>
              </a:ext>
            </a:extLst>
          </p:cNvPr>
          <p:cNvPicPr>
            <a:picLocks noChangeAspect="1"/>
          </p:cNvPicPr>
          <p:nvPr/>
        </p:nvPicPr>
        <p:blipFill>
          <a:blip r:embed="rId13"/>
          <a:stretch>
            <a:fillRect/>
          </a:stretch>
        </p:blipFill>
        <p:spPr>
          <a:xfrm>
            <a:off x="2878289" y="2100366"/>
            <a:ext cx="920858" cy="664704"/>
          </a:xfrm>
          <a:prstGeom prst="rect">
            <a:avLst/>
          </a:prstGeom>
        </p:spPr>
      </p:pic>
      <p:pic>
        <p:nvPicPr>
          <p:cNvPr id="15" name="图片 14">
            <a:extLst>
              <a:ext uri="{FF2B5EF4-FFF2-40B4-BE49-F238E27FC236}">
                <a16:creationId xmlns:a16="http://schemas.microsoft.com/office/drawing/2014/main" id="{1DEA31A3-ABF1-67B7-3BB3-330590F2324B}"/>
              </a:ext>
            </a:extLst>
          </p:cNvPr>
          <p:cNvPicPr>
            <a:picLocks noChangeAspect="1"/>
          </p:cNvPicPr>
          <p:nvPr/>
        </p:nvPicPr>
        <p:blipFill>
          <a:blip r:embed="rId14"/>
          <a:stretch>
            <a:fillRect/>
          </a:stretch>
        </p:blipFill>
        <p:spPr>
          <a:xfrm>
            <a:off x="2975639" y="1605653"/>
            <a:ext cx="726158" cy="606824"/>
          </a:xfrm>
          <a:prstGeom prst="rect">
            <a:avLst/>
          </a:prstGeom>
        </p:spPr>
      </p:pic>
      <p:pic>
        <p:nvPicPr>
          <p:cNvPr id="16" name="图片 15" descr="图片包含 图标&#10;&#10;AI 生成的内容可能不正确。">
            <a:extLst>
              <a:ext uri="{FF2B5EF4-FFF2-40B4-BE49-F238E27FC236}">
                <a16:creationId xmlns:a16="http://schemas.microsoft.com/office/drawing/2014/main" id="{FCD59004-208C-9BF2-50EF-E31605DDCB0C}"/>
              </a:ext>
            </a:extLst>
          </p:cNvPr>
          <p:cNvPicPr>
            <a:picLocks/>
          </p:cNvPicPr>
          <p:nvPr/>
        </p:nvPicPr>
        <p:blipFill>
          <a:blip r:embed="rId15"/>
          <a:srcRect l="13173" b="34095"/>
          <a:stretch>
            <a:fillRect/>
          </a:stretch>
        </p:blipFill>
        <p:spPr>
          <a:xfrm>
            <a:off x="5178698" y="1872562"/>
            <a:ext cx="799555" cy="619989"/>
          </a:xfrm>
          <a:prstGeom prst="rect">
            <a:avLst/>
          </a:prstGeom>
        </p:spPr>
      </p:pic>
      <p:sp>
        <p:nvSpPr>
          <p:cNvPr id="17" name="箭头: V 形 16">
            <a:extLst>
              <a:ext uri="{FF2B5EF4-FFF2-40B4-BE49-F238E27FC236}">
                <a16:creationId xmlns:a16="http://schemas.microsoft.com/office/drawing/2014/main" id="{37C53F85-4D70-633B-97E6-B0EDD3C5BCF3}"/>
              </a:ext>
            </a:extLst>
          </p:cNvPr>
          <p:cNvSpPr/>
          <p:nvPr/>
        </p:nvSpPr>
        <p:spPr>
          <a:xfrm>
            <a:off x="6082573" y="1883881"/>
            <a:ext cx="175170" cy="651053"/>
          </a:xfrm>
          <a:prstGeom prst="chevron">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矩形: 圆角 17">
            <a:extLst>
              <a:ext uri="{FF2B5EF4-FFF2-40B4-BE49-F238E27FC236}">
                <a16:creationId xmlns:a16="http://schemas.microsoft.com/office/drawing/2014/main" id="{0A6B5DCB-7A55-E6B7-C4B0-08DAB2436CF2}"/>
              </a:ext>
            </a:extLst>
          </p:cNvPr>
          <p:cNvSpPr/>
          <p:nvPr/>
        </p:nvSpPr>
        <p:spPr>
          <a:xfrm>
            <a:off x="877823" y="2924534"/>
            <a:ext cx="11170518" cy="1279690"/>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48735F2C-B3AC-DA08-BF75-3EF95D1FB985}"/>
              </a:ext>
            </a:extLst>
          </p:cNvPr>
          <p:cNvSpPr/>
          <p:nvPr>
            <p:custDataLst>
              <p:tags r:id="rId4"/>
            </p:custDataLst>
          </p:nvPr>
        </p:nvSpPr>
        <p:spPr>
          <a:xfrm>
            <a:off x="1396573" y="2949102"/>
            <a:ext cx="642925" cy="506682"/>
          </a:xfrm>
          <a:prstGeom prst="rect">
            <a:avLst/>
          </a:prstGeom>
        </p:spPr>
        <p:txBody>
          <a:bodyPr wrap="square">
            <a:noAutofit/>
          </a:bodyPr>
          <a:lstStyle/>
          <a:p>
            <a:pPr lvl="0" indent="0" defTabSz="685800" fontAlgn="auto">
              <a:lnSpc>
                <a:spcPct val="150000"/>
              </a:lnSpc>
            </a:pPr>
            <a:r>
              <a:rPr lang="zh-CN" altLang="en-US" sz="16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氢气</a:t>
            </a:r>
          </a:p>
        </p:txBody>
      </p:sp>
      <p:sp>
        <p:nvSpPr>
          <p:cNvPr id="20" name="矩形 19">
            <a:extLst>
              <a:ext uri="{FF2B5EF4-FFF2-40B4-BE49-F238E27FC236}">
                <a16:creationId xmlns:a16="http://schemas.microsoft.com/office/drawing/2014/main" id="{A0664C18-6EAA-2478-5470-40D64E19B033}"/>
              </a:ext>
            </a:extLst>
          </p:cNvPr>
          <p:cNvSpPr/>
          <p:nvPr>
            <p:custDataLst>
              <p:tags r:id="rId5"/>
            </p:custDataLst>
          </p:nvPr>
        </p:nvSpPr>
        <p:spPr>
          <a:xfrm>
            <a:off x="944677" y="3278246"/>
            <a:ext cx="1675232" cy="941398"/>
          </a:xfrm>
          <a:prstGeom prst="rect">
            <a:avLst/>
          </a:prstGeom>
        </p:spPr>
        <p:txBody>
          <a:bodyPr wrap="square">
            <a:noAutofit/>
          </a:bodyPr>
          <a:lstStyle/>
          <a:p>
            <a:pPr lvl="0" indent="0" defTabSz="685800" fontAlgn="auto">
              <a:lnSpc>
                <a:spcPct val="150000"/>
              </a:lnSpc>
            </a:pPr>
            <a:r>
              <a:rPr lang="zh-CN" altLang="en-US"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极高的火焰速度</a:t>
            </a:r>
            <a:endParaRPr lang="en-US" altLang="zh-CN"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a:p>
            <a:pPr lvl="0" indent="0" defTabSz="685800" fontAlgn="auto">
              <a:lnSpc>
                <a:spcPct val="150000"/>
              </a:lnSpc>
            </a:pPr>
            <a:r>
              <a:rPr lang="zh-CN" altLang="en-US" sz="16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极低的点火能量</a:t>
            </a:r>
            <a:endParaRPr lang="zh-CN" altLang="en-US" sz="1600" b="1" dirty="0">
              <a:solidFill>
                <a:srgbClr val="FF0000"/>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21" name="箭头: V 形 20">
            <a:extLst>
              <a:ext uri="{FF2B5EF4-FFF2-40B4-BE49-F238E27FC236}">
                <a16:creationId xmlns:a16="http://schemas.microsoft.com/office/drawing/2014/main" id="{4C28CDE4-2EAE-56B5-F47C-C8D4A65E01FF}"/>
              </a:ext>
            </a:extLst>
          </p:cNvPr>
          <p:cNvSpPr/>
          <p:nvPr/>
        </p:nvSpPr>
        <p:spPr>
          <a:xfrm>
            <a:off x="2822528" y="3281951"/>
            <a:ext cx="175170" cy="651053"/>
          </a:xfrm>
          <a:prstGeom prst="chevron">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矩形: 圆角 21">
            <a:extLst>
              <a:ext uri="{FF2B5EF4-FFF2-40B4-BE49-F238E27FC236}">
                <a16:creationId xmlns:a16="http://schemas.microsoft.com/office/drawing/2014/main" id="{35E8DE80-2E58-B8A3-AB04-CBFDE88232BE}"/>
              </a:ext>
            </a:extLst>
          </p:cNvPr>
          <p:cNvSpPr/>
          <p:nvPr/>
        </p:nvSpPr>
        <p:spPr>
          <a:xfrm>
            <a:off x="877821" y="4321367"/>
            <a:ext cx="11170519" cy="1447553"/>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747D1C5-A2E5-A225-37FC-ED71BDE16019}"/>
              </a:ext>
            </a:extLst>
          </p:cNvPr>
          <p:cNvSpPr/>
          <p:nvPr>
            <p:custDataLst>
              <p:tags r:id="rId6"/>
            </p:custDataLst>
          </p:nvPr>
        </p:nvSpPr>
        <p:spPr>
          <a:xfrm>
            <a:off x="944677" y="4415137"/>
            <a:ext cx="1094822" cy="1383043"/>
          </a:xfrm>
          <a:prstGeom prst="rect">
            <a:avLst/>
          </a:prstGeom>
        </p:spPr>
        <p:txBody>
          <a:bodyPr wrap="square">
            <a:noAutofit/>
          </a:bodyPr>
          <a:lstStyle/>
          <a:p>
            <a:pPr lvl="0" indent="0" defTabSz="685800" fontAlgn="auto">
              <a:lnSpc>
                <a:spcPct val="150000"/>
              </a:lnSpc>
            </a:pPr>
            <a:r>
              <a:rPr lang="zh-CN" altLang="en-US" sz="1600" b="1">
                <a:latin typeface="微软雅黑" panose="020B0503020204020204" charset="-122"/>
                <a:ea typeface="微软雅黑" panose="020B0503020204020204" charset="-122"/>
                <a:cs typeface="汉仪旗黑-55简" panose="00020600040101010101" charset="-128"/>
                <a:sym typeface="Arial" panose="020B0604020202020204" pitchFamily="34" charset="0"/>
              </a:rPr>
              <a:t>氢</a:t>
            </a:r>
            <a:r>
              <a:rPr lang="zh-CN" altLang="en-US" sz="1600" b="1">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内燃机</a:t>
            </a:r>
            <a:r>
              <a:rPr lang="zh-CN" altLang="en-US" sz="1600" b="1">
                <a:latin typeface="微软雅黑" panose="020B0503020204020204" charset="-122"/>
                <a:ea typeface="微软雅黑" panose="020B0503020204020204" charset="-122"/>
                <a:cs typeface="汉仪旗黑-55简" panose="00020600040101010101" charset="-128"/>
                <a:sym typeface="Arial" panose="020B0604020202020204" pitchFamily="34" charset="0"/>
              </a:rPr>
              <a:t>燃烧爆震模拟</a:t>
            </a:r>
            <a:r>
              <a:rPr lang="zh-CN" altLang="en-US" sz="16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方法</a:t>
            </a:r>
          </a:p>
        </p:txBody>
      </p:sp>
      <p:sp>
        <p:nvSpPr>
          <p:cNvPr id="24" name="矩形 23">
            <a:extLst>
              <a:ext uri="{FF2B5EF4-FFF2-40B4-BE49-F238E27FC236}">
                <a16:creationId xmlns:a16="http://schemas.microsoft.com/office/drawing/2014/main" id="{422CEAA6-0EC4-6082-2AE6-3CF438B828DC}"/>
              </a:ext>
            </a:extLst>
          </p:cNvPr>
          <p:cNvSpPr/>
          <p:nvPr>
            <p:custDataLst>
              <p:tags r:id="rId7"/>
            </p:custDataLst>
          </p:nvPr>
        </p:nvSpPr>
        <p:spPr>
          <a:xfrm>
            <a:off x="6301472" y="4455012"/>
            <a:ext cx="5537660" cy="1069047"/>
          </a:xfrm>
          <a:prstGeom prst="rect">
            <a:avLst/>
          </a:prstGeom>
        </p:spPr>
        <p:txBody>
          <a:bodyPr wrap="square">
            <a:noAutofit/>
          </a:bodyPr>
          <a:lstStyle/>
          <a:p>
            <a:pPr lvl="0" indent="0" defTabSz="685800" fontAlgn="auto">
              <a:lnSpc>
                <a:spcPct val="150000"/>
              </a:lnSpc>
            </a:pPr>
            <a:r>
              <a:rPr lang="zh-CN" altLang="en-US" sz="1600" b="1">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本</a:t>
            </a:r>
            <a:r>
              <a:rPr lang="zh-CN" altLang="en-US" sz="1600" b="1">
                <a:latin typeface="微软雅黑" panose="020B0503020204020204" charset="-122"/>
                <a:ea typeface="微软雅黑" panose="020B0503020204020204" charset="-122"/>
                <a:cs typeface="汉仪旗黑-55简" panose="00020600040101010101" charset="-128"/>
                <a:sym typeface="Arial" panose="020B0604020202020204" pitchFamily="34" charset="0"/>
              </a:rPr>
              <a:t>研究旨在</a:t>
            </a:r>
            <a:r>
              <a:rPr lang="zh-CN" altLang="en-US" sz="1600" b="1">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：开发一种计算效率</a:t>
            </a:r>
            <a:r>
              <a:rPr lang="zh-CN" altLang="en-US"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高、物理意义明确的</a:t>
            </a:r>
            <a:r>
              <a:rPr lang="zh-CN" altLang="en-US" sz="1600" b="1" dirty="0">
                <a:solidFill>
                  <a:srgbClr val="FF0000"/>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准维唯象模型</a:t>
            </a:r>
            <a:r>
              <a:rPr lang="zh-CN" altLang="en-US"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，实现对爆震倾向</a:t>
            </a:r>
            <a:r>
              <a:rPr lang="zh-CN" altLang="en-US" sz="1600" b="1">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的快速</a:t>
            </a:r>
            <a:r>
              <a:rPr lang="zh-CN" altLang="en-US" sz="1600" b="1">
                <a:latin typeface="微软雅黑" panose="020B0503020204020204" charset="-122"/>
                <a:ea typeface="微软雅黑" panose="020B0503020204020204" charset="-122"/>
                <a:cs typeface="汉仪旗黑-55简" panose="00020600040101010101" charset="-128"/>
                <a:sym typeface="Arial" panose="020B0604020202020204" pitchFamily="34" charset="0"/>
              </a:rPr>
              <a:t>评估</a:t>
            </a:r>
            <a:r>
              <a:rPr lang="zh-CN" altLang="en-US" sz="1600" b="1">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a:t>
            </a:r>
            <a:r>
              <a:rPr lang="zh-CN" altLang="en-US" sz="1600" b="1" dirty="0">
                <a:solidFill>
                  <a:schemeClr val="tx1"/>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缩短研发周期，降低标定成本。</a:t>
            </a:r>
            <a:endParaRPr lang="zh-CN" altLang="en-US" sz="1600" b="1" dirty="0">
              <a:solidFill>
                <a:srgbClr val="FF0000"/>
              </a:solidFill>
              <a:latin typeface="微软雅黑" panose="020B0503020204020204" charset="-122"/>
              <a:ea typeface="微软雅黑" panose="020B0503020204020204" charset="-122"/>
              <a:cs typeface="汉仪旗黑-55简" panose="00020600040101010101" charset="-128"/>
              <a:sym typeface="Arial" panose="020B0604020202020204" pitchFamily="34" charset="0"/>
            </a:endParaRPr>
          </a:p>
        </p:txBody>
      </p:sp>
      <p:sp>
        <p:nvSpPr>
          <p:cNvPr id="25" name="箭头: V 形 24">
            <a:extLst>
              <a:ext uri="{FF2B5EF4-FFF2-40B4-BE49-F238E27FC236}">
                <a16:creationId xmlns:a16="http://schemas.microsoft.com/office/drawing/2014/main" id="{C167746D-2A3A-1706-84D8-86C493642036}"/>
              </a:ext>
            </a:extLst>
          </p:cNvPr>
          <p:cNvSpPr/>
          <p:nvPr/>
        </p:nvSpPr>
        <p:spPr>
          <a:xfrm>
            <a:off x="6007426" y="4673582"/>
            <a:ext cx="175170" cy="651053"/>
          </a:xfrm>
          <a:prstGeom prst="chevron">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矩形 25">
            <a:extLst>
              <a:ext uri="{FF2B5EF4-FFF2-40B4-BE49-F238E27FC236}">
                <a16:creationId xmlns:a16="http://schemas.microsoft.com/office/drawing/2014/main" id="{B544F891-FA5C-697B-87A5-E52D5D22343D}"/>
              </a:ext>
            </a:extLst>
          </p:cNvPr>
          <p:cNvSpPr/>
          <p:nvPr>
            <p:custDataLst>
              <p:tags r:id="rId8"/>
            </p:custDataLst>
          </p:nvPr>
        </p:nvSpPr>
        <p:spPr>
          <a:xfrm>
            <a:off x="3071806" y="3361280"/>
            <a:ext cx="2310596" cy="651053"/>
          </a:xfrm>
          <a:prstGeom prst="rect">
            <a:avLst/>
          </a:prstGeom>
        </p:spPr>
        <p:txBody>
          <a:bodyPr wrap="square">
            <a:noAutofit/>
          </a:bodyPr>
          <a:lstStyle/>
          <a:p>
            <a:pPr lvl="0" indent="0" defTabSz="685800" fontAlgn="auto">
              <a:lnSpc>
                <a:spcPct val="150000"/>
              </a:lnSpc>
            </a:pPr>
            <a:r>
              <a:rPr lang="zh-CN" altLang="en-US" sz="16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极易引发</a:t>
            </a:r>
            <a:r>
              <a:rPr lang="zh-CN" altLang="en-US" sz="1600" b="1" dirty="0">
                <a:solidFill>
                  <a:srgbClr val="FF0000"/>
                </a:solidFill>
                <a:latin typeface="微软雅黑" panose="020B0503020204020204" charset="-122"/>
                <a:ea typeface="微软雅黑" panose="020B0503020204020204" charset="-122"/>
                <a:cs typeface="汉仪旗黑-55简" panose="00020600040101010101" charset="-128"/>
                <a:sym typeface="Arial" panose="020B0604020202020204" pitchFamily="34" charset="0"/>
              </a:rPr>
              <a:t>爆震</a:t>
            </a:r>
            <a:r>
              <a:rPr lang="zh-CN" altLang="en-US" sz="16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a:t>
            </a:r>
            <a:r>
              <a:rPr lang="en-US" altLang="zh-CN" sz="16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Knock</a:t>
            </a:r>
            <a:r>
              <a:rPr lang="zh-CN" altLang="en-US" sz="16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a:t>
            </a:r>
          </a:p>
        </p:txBody>
      </p:sp>
      <p:cxnSp>
        <p:nvCxnSpPr>
          <p:cNvPr id="27" name="直接连接符 26">
            <a:extLst>
              <a:ext uri="{FF2B5EF4-FFF2-40B4-BE49-F238E27FC236}">
                <a16:creationId xmlns:a16="http://schemas.microsoft.com/office/drawing/2014/main" id="{B9D06B13-88D6-A717-F708-3F7E70115A76}"/>
              </a:ext>
            </a:extLst>
          </p:cNvPr>
          <p:cNvCxnSpPr>
            <a:cxnSpLocks/>
          </p:cNvCxnSpPr>
          <p:nvPr/>
        </p:nvCxnSpPr>
        <p:spPr>
          <a:xfrm>
            <a:off x="5578474" y="3034453"/>
            <a:ext cx="0" cy="1146046"/>
          </a:xfrm>
          <a:prstGeom prst="line">
            <a:avLst/>
          </a:prstGeom>
          <a:ln w="28575">
            <a:solidFill>
              <a:schemeClr val="accent1">
                <a:lumMod val="40000"/>
                <a:lumOff val="60000"/>
              </a:schemeClr>
            </a:solidFill>
            <a:prstDash val="dashDot"/>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602A1B09-8018-57E2-556A-9B439A018B2B}"/>
              </a:ext>
            </a:extLst>
          </p:cNvPr>
          <p:cNvSpPr txBox="1"/>
          <p:nvPr/>
        </p:nvSpPr>
        <p:spPr>
          <a:xfrm>
            <a:off x="5688097" y="3191978"/>
            <a:ext cx="4734852" cy="830997"/>
          </a:xfrm>
          <a:prstGeom prst="rect">
            <a:avLst/>
          </a:prstGeom>
          <a:noFill/>
        </p:spPr>
        <p:txBody>
          <a:bodyPr wrap="square">
            <a:spAutoFit/>
          </a:bodyPr>
          <a:lstStyle/>
          <a:p>
            <a:r>
              <a:rPr lang="zh-CN" altLang="en-US" sz="1600" b="1" dirty="0">
                <a:solidFill>
                  <a:srgbClr val="FF0000"/>
                </a:solidFill>
                <a:latin typeface="微软雅黑" panose="020B0503020204020204" charset="-122"/>
                <a:ea typeface="微软雅黑" panose="020B0503020204020204" charset="-122"/>
              </a:rPr>
              <a:t>爆震的危害</a:t>
            </a:r>
            <a:r>
              <a:rPr lang="zh-CN" altLang="en-US" sz="1600" b="1" dirty="0">
                <a:latin typeface="微软雅黑" panose="020B0503020204020204" charset="-122"/>
                <a:ea typeface="微软雅黑" panose="020B0503020204020204" charset="-122"/>
              </a:rPr>
              <a:t>：</a:t>
            </a:r>
            <a:r>
              <a:rPr lang="zh-CN" altLang="zh-CN" sz="1600" b="1" dirty="0">
                <a:latin typeface="微软雅黑" panose="020B0503020204020204" charset="-122"/>
                <a:ea typeface="微软雅黑" panose="020B0503020204020204" charset="-122"/>
              </a:rPr>
              <a:t>不仅会导致发动机噪声、振动显著增加，破坏润滑油膜，严重时产生的极高压力波甚至会造成活塞烧蚀、连杆断裂等结构性损伤</a:t>
            </a:r>
            <a:endParaRPr lang="zh-CN" altLang="en-US" sz="1600" b="1" dirty="0">
              <a:latin typeface="微软雅黑" panose="020B0503020204020204" charset="-122"/>
              <a:ea typeface="微软雅黑" panose="020B0503020204020204" charset="-122"/>
            </a:endParaRPr>
          </a:p>
        </p:txBody>
      </p:sp>
      <p:pic>
        <p:nvPicPr>
          <p:cNvPr id="29" name="图片 28" descr="图片包含 甜甜圈, 照相机, 躺, 桌子&#10;&#10;AI 生成的内容可能不正确。">
            <a:extLst>
              <a:ext uri="{FF2B5EF4-FFF2-40B4-BE49-F238E27FC236}">
                <a16:creationId xmlns:a16="http://schemas.microsoft.com/office/drawing/2014/main" id="{2039AE44-EB14-1A42-EF61-E51B76C7927B}"/>
              </a:ext>
            </a:extLst>
          </p:cNvPr>
          <p:cNvPicPr>
            <a:picLocks noChangeAspect="1"/>
          </p:cNvPicPr>
          <p:nvPr/>
        </p:nvPicPr>
        <p:blipFill>
          <a:blip r:embed="rId16"/>
          <a:stretch>
            <a:fillRect/>
          </a:stretch>
        </p:blipFill>
        <p:spPr>
          <a:xfrm>
            <a:off x="10519464" y="2985609"/>
            <a:ext cx="1278752" cy="943564"/>
          </a:xfrm>
          <a:prstGeom prst="rect">
            <a:avLst/>
          </a:prstGeom>
        </p:spPr>
      </p:pic>
      <p:sp>
        <p:nvSpPr>
          <p:cNvPr id="30" name="矩形 29">
            <a:extLst>
              <a:ext uri="{FF2B5EF4-FFF2-40B4-BE49-F238E27FC236}">
                <a16:creationId xmlns:a16="http://schemas.microsoft.com/office/drawing/2014/main" id="{E6F0B484-8C17-5F65-11E8-B46543D4D89A}"/>
              </a:ext>
            </a:extLst>
          </p:cNvPr>
          <p:cNvSpPr/>
          <p:nvPr>
            <p:custDataLst>
              <p:tags r:id="rId9"/>
            </p:custDataLst>
          </p:nvPr>
        </p:nvSpPr>
        <p:spPr>
          <a:xfrm>
            <a:off x="10463865" y="3875333"/>
            <a:ext cx="1375267" cy="278228"/>
          </a:xfrm>
          <a:prstGeom prst="rect">
            <a:avLst/>
          </a:prstGeom>
        </p:spPr>
        <p:txBody>
          <a:bodyPr wrap="square">
            <a:noAutofit/>
          </a:bodyPr>
          <a:lstStyle/>
          <a:p>
            <a:pPr lvl="0" indent="0" defTabSz="685800" fontAlgn="auto">
              <a:lnSpc>
                <a:spcPct val="150000"/>
              </a:lnSpc>
            </a:pPr>
            <a:r>
              <a:rPr lang="zh-CN" altLang="en-US" sz="12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图</a:t>
            </a:r>
            <a:r>
              <a:rPr lang="en-US" altLang="zh-CN" sz="12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1</a:t>
            </a:r>
            <a:r>
              <a:rPr lang="zh-CN" altLang="en-US" sz="1200" b="1" dirty="0">
                <a:latin typeface="微软雅黑" panose="020B0503020204020204" charset="-122"/>
                <a:ea typeface="微软雅黑" panose="020B0503020204020204" charset="-122"/>
                <a:cs typeface="汉仪旗黑-55简" panose="00020600040101010101" charset="-128"/>
                <a:sym typeface="Arial" panose="020B0604020202020204" pitchFamily="34" charset="0"/>
              </a:rPr>
              <a:t>：活塞的烧蚀</a:t>
            </a:r>
          </a:p>
        </p:txBody>
      </p:sp>
      <p:cxnSp>
        <p:nvCxnSpPr>
          <p:cNvPr id="31" name="直接连接符 30">
            <a:extLst>
              <a:ext uri="{FF2B5EF4-FFF2-40B4-BE49-F238E27FC236}">
                <a16:creationId xmlns:a16="http://schemas.microsoft.com/office/drawing/2014/main" id="{62E3EE3D-6860-1F11-B9D7-E407E39B9A88}"/>
              </a:ext>
            </a:extLst>
          </p:cNvPr>
          <p:cNvCxnSpPr>
            <a:cxnSpLocks/>
          </p:cNvCxnSpPr>
          <p:nvPr/>
        </p:nvCxnSpPr>
        <p:spPr>
          <a:xfrm>
            <a:off x="2039498" y="4455012"/>
            <a:ext cx="0" cy="1230288"/>
          </a:xfrm>
          <a:prstGeom prst="line">
            <a:avLst/>
          </a:prstGeom>
          <a:ln w="28575">
            <a:solidFill>
              <a:schemeClr val="accent1">
                <a:lumMod val="40000"/>
                <a:lumOff val="60000"/>
              </a:schemeClr>
            </a:solidFill>
            <a:prstDash val="dashDot"/>
          </a:ln>
        </p:spPr>
        <p:style>
          <a:lnRef idx="1">
            <a:schemeClr val="accent1"/>
          </a:lnRef>
          <a:fillRef idx="0">
            <a:schemeClr val="accent1"/>
          </a:fillRef>
          <a:effectRef idx="0">
            <a:schemeClr val="accent1"/>
          </a:effectRef>
          <a:fontRef idx="minor">
            <a:schemeClr val="tx1"/>
          </a:fontRef>
        </p:style>
      </p:cxnSp>
      <p:grpSp>
        <p:nvGrpSpPr>
          <p:cNvPr id="32" name="组合 31">
            <a:extLst>
              <a:ext uri="{FF2B5EF4-FFF2-40B4-BE49-F238E27FC236}">
                <a16:creationId xmlns:a16="http://schemas.microsoft.com/office/drawing/2014/main" id="{73652A8A-809C-5953-2421-9C7E1E7C4E36}"/>
              </a:ext>
            </a:extLst>
          </p:cNvPr>
          <p:cNvGrpSpPr/>
          <p:nvPr/>
        </p:nvGrpSpPr>
        <p:grpSpPr>
          <a:xfrm>
            <a:off x="2499762" y="4395811"/>
            <a:ext cx="3265070" cy="366249"/>
            <a:chOff x="1721356" y="4374001"/>
            <a:chExt cx="3265070" cy="366249"/>
          </a:xfrm>
        </p:grpSpPr>
        <p:sp>
          <p:nvSpPr>
            <p:cNvPr id="33" name="矩形: 圆角 32">
              <a:extLst>
                <a:ext uri="{FF2B5EF4-FFF2-40B4-BE49-F238E27FC236}">
                  <a16:creationId xmlns:a16="http://schemas.microsoft.com/office/drawing/2014/main" id="{CF6FDB5C-26EE-0EA1-5D3D-1E1635C2FA6D}"/>
                </a:ext>
              </a:extLst>
            </p:cNvPr>
            <p:cNvSpPr/>
            <p:nvPr/>
          </p:nvSpPr>
          <p:spPr>
            <a:xfrm>
              <a:off x="1721356" y="4374001"/>
              <a:ext cx="1609413" cy="366249"/>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solidFill>
                  <a:latin typeface="微软雅黑" panose="020B0503020204020204" charset="-122"/>
                  <a:ea typeface="微软雅黑" panose="020B0503020204020204" charset="-122"/>
                </a:rPr>
                <a:t>CFD</a:t>
              </a:r>
              <a:r>
                <a:rPr lang="zh-CN" altLang="en-US" sz="1600" b="1" dirty="0">
                  <a:solidFill>
                    <a:schemeClr val="tx1"/>
                  </a:solidFill>
                  <a:latin typeface="微软雅黑" panose="020B0503020204020204" charset="-122"/>
                  <a:ea typeface="微软雅黑" panose="020B0503020204020204" charset="-122"/>
                </a:rPr>
                <a:t>仿真</a:t>
              </a:r>
            </a:p>
          </p:txBody>
        </p:sp>
        <p:sp>
          <p:nvSpPr>
            <p:cNvPr id="34" name="矩形: 圆角 33">
              <a:extLst>
                <a:ext uri="{FF2B5EF4-FFF2-40B4-BE49-F238E27FC236}">
                  <a16:creationId xmlns:a16="http://schemas.microsoft.com/office/drawing/2014/main" id="{B45A7327-B1E3-167A-623D-725EE461BBC3}"/>
                </a:ext>
              </a:extLst>
            </p:cNvPr>
            <p:cNvSpPr/>
            <p:nvPr/>
          </p:nvSpPr>
          <p:spPr>
            <a:xfrm>
              <a:off x="3377013" y="4374001"/>
              <a:ext cx="1609413" cy="366249"/>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FF0000"/>
                  </a:solidFill>
                  <a:latin typeface="微软雅黑" panose="020B0503020204020204" charset="-122"/>
                  <a:ea typeface="微软雅黑" panose="020B0503020204020204" charset="-122"/>
                </a:rPr>
                <a:t>准维</a:t>
              </a:r>
              <a:r>
                <a:rPr lang="en-US" altLang="zh-CN" sz="1600" b="1" dirty="0">
                  <a:solidFill>
                    <a:srgbClr val="FF0000"/>
                  </a:solidFill>
                  <a:latin typeface="微软雅黑" panose="020B0503020204020204" charset="-122"/>
                  <a:ea typeface="微软雅黑" panose="020B0503020204020204" charset="-122"/>
                </a:rPr>
                <a:t>/</a:t>
              </a:r>
              <a:r>
                <a:rPr lang="zh-CN" altLang="en-US" sz="1600" b="1" dirty="0">
                  <a:solidFill>
                    <a:srgbClr val="FF0000"/>
                  </a:solidFill>
                  <a:latin typeface="微软雅黑" panose="020B0503020204020204" charset="-122"/>
                  <a:ea typeface="微软雅黑" panose="020B0503020204020204" charset="-122"/>
                </a:rPr>
                <a:t>唯象模型</a:t>
              </a:r>
            </a:p>
          </p:txBody>
        </p:sp>
      </p:grpSp>
      <p:grpSp>
        <p:nvGrpSpPr>
          <p:cNvPr id="35" name="组合 34">
            <a:extLst>
              <a:ext uri="{FF2B5EF4-FFF2-40B4-BE49-F238E27FC236}">
                <a16:creationId xmlns:a16="http://schemas.microsoft.com/office/drawing/2014/main" id="{CC81FFE4-4F5F-1CEA-38AE-C71EC435EDB1}"/>
              </a:ext>
            </a:extLst>
          </p:cNvPr>
          <p:cNvGrpSpPr/>
          <p:nvPr/>
        </p:nvGrpSpPr>
        <p:grpSpPr>
          <a:xfrm>
            <a:off x="2495050" y="4836504"/>
            <a:ext cx="3269779" cy="848796"/>
            <a:chOff x="1721356" y="4374001"/>
            <a:chExt cx="3265070" cy="366249"/>
          </a:xfrm>
        </p:grpSpPr>
        <p:sp>
          <p:nvSpPr>
            <p:cNvPr id="36" name="矩形: 圆角 35">
              <a:extLst>
                <a:ext uri="{FF2B5EF4-FFF2-40B4-BE49-F238E27FC236}">
                  <a16:creationId xmlns:a16="http://schemas.microsoft.com/office/drawing/2014/main" id="{2DED8CBB-A79C-6884-7823-7252C3765847}"/>
                </a:ext>
              </a:extLst>
            </p:cNvPr>
            <p:cNvSpPr/>
            <p:nvPr/>
          </p:nvSpPr>
          <p:spPr>
            <a:xfrm>
              <a:off x="1721356" y="4374001"/>
              <a:ext cx="1609413" cy="366249"/>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latin typeface="微软雅黑" panose="020B0503020204020204" charset="-122"/>
                  <a:ea typeface="微软雅黑" panose="020B0503020204020204" charset="-122"/>
                </a:rPr>
                <a:t>精度高但耗时</a:t>
              </a:r>
              <a:r>
                <a:rPr lang="zh-CN" altLang="en-US" sz="1400" b="1" dirty="0">
                  <a:solidFill>
                    <a:schemeClr val="tx1"/>
                  </a:solidFill>
                  <a:latin typeface="微软雅黑" panose="020B0503020204020204" charset="-122"/>
                  <a:ea typeface="微软雅黑" panose="020B0503020204020204" charset="-122"/>
                </a:rPr>
                <a:t>巨大，无法用于实时控制策略开发</a:t>
              </a:r>
            </a:p>
          </p:txBody>
        </p:sp>
        <p:sp>
          <p:nvSpPr>
            <p:cNvPr id="37" name="矩形: 圆角 36">
              <a:extLst>
                <a:ext uri="{FF2B5EF4-FFF2-40B4-BE49-F238E27FC236}">
                  <a16:creationId xmlns:a16="http://schemas.microsoft.com/office/drawing/2014/main" id="{12B5848B-C5E7-136A-B6E7-422722E86496}"/>
                </a:ext>
              </a:extLst>
            </p:cNvPr>
            <p:cNvSpPr/>
            <p:nvPr/>
          </p:nvSpPr>
          <p:spPr>
            <a:xfrm>
              <a:off x="3377013" y="4374001"/>
              <a:ext cx="1609413" cy="366249"/>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latin typeface="微软雅黑" panose="020B0503020204020204" charset="-122"/>
                  <a:ea typeface="微软雅黑" panose="020B0503020204020204" charset="-122"/>
                </a:rPr>
                <a:t>快速完成燃烧仿真与爆震倾向的预测，优势明显</a:t>
              </a:r>
              <a:endParaRPr lang="zh-CN" altLang="en-US" sz="1400" b="1" dirty="0">
                <a:solidFill>
                  <a:schemeClr val="tx1"/>
                </a:solidFill>
                <a:latin typeface="微软雅黑" panose="020B0503020204020204" charset="-122"/>
                <a:ea typeface="微软雅黑" panose="020B0503020204020204" charset="-122"/>
              </a:endParaRPr>
            </a:p>
          </p:txBody>
        </p:sp>
      </p:grpSp>
      <p:grpSp>
        <p:nvGrpSpPr>
          <p:cNvPr id="38" name="组合 37">
            <a:extLst>
              <a:ext uri="{FF2B5EF4-FFF2-40B4-BE49-F238E27FC236}">
                <a16:creationId xmlns:a16="http://schemas.microsoft.com/office/drawing/2014/main" id="{6820131E-357C-190F-20EE-B1D3EDFADBCB}"/>
              </a:ext>
            </a:extLst>
          </p:cNvPr>
          <p:cNvGrpSpPr/>
          <p:nvPr/>
        </p:nvGrpSpPr>
        <p:grpSpPr>
          <a:xfrm>
            <a:off x="171161" y="1628481"/>
            <a:ext cx="691303" cy="1161852"/>
            <a:chOff x="171161" y="1628481"/>
            <a:chExt cx="691303" cy="1161852"/>
          </a:xfrm>
        </p:grpSpPr>
        <p:sp>
          <p:nvSpPr>
            <p:cNvPr id="39" name="矩形 38">
              <a:extLst>
                <a:ext uri="{FF2B5EF4-FFF2-40B4-BE49-F238E27FC236}">
                  <a16:creationId xmlns:a16="http://schemas.microsoft.com/office/drawing/2014/main" id="{78618FC0-EEEE-20CE-EF00-411DE9C3BB2D}"/>
                </a:ext>
              </a:extLst>
            </p:cNvPr>
            <p:cNvSpPr/>
            <p:nvPr/>
          </p:nvSpPr>
          <p:spPr>
            <a:xfrm>
              <a:off x="171161" y="1628481"/>
              <a:ext cx="294163" cy="1161852"/>
            </a:xfrm>
            <a:prstGeom prst="rect">
              <a:avLst/>
            </a:prstGeom>
            <a:solidFill>
              <a:schemeClr val="accent1">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charset="-122"/>
                  <a:ea typeface="微软雅黑" panose="020B0503020204020204" charset="-122"/>
                </a:rPr>
                <a:t>氢内燃机</a:t>
              </a:r>
            </a:p>
          </p:txBody>
        </p:sp>
        <p:pic>
          <p:nvPicPr>
            <p:cNvPr id="40" name="图形 39" descr="V 形箭头 纯色填充">
              <a:extLst>
                <a:ext uri="{FF2B5EF4-FFF2-40B4-BE49-F238E27FC236}">
                  <a16:creationId xmlns:a16="http://schemas.microsoft.com/office/drawing/2014/main" id="{DBEBB1E9-F9DD-B7EF-D12B-E18B8EE8C2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70295" y="2013324"/>
              <a:ext cx="392169" cy="392166"/>
            </a:xfrm>
            <a:prstGeom prst="rect">
              <a:avLst/>
            </a:prstGeom>
          </p:spPr>
        </p:pic>
      </p:grpSp>
      <p:grpSp>
        <p:nvGrpSpPr>
          <p:cNvPr id="41" name="组合 40">
            <a:extLst>
              <a:ext uri="{FF2B5EF4-FFF2-40B4-BE49-F238E27FC236}">
                <a16:creationId xmlns:a16="http://schemas.microsoft.com/office/drawing/2014/main" id="{15007A9A-92AF-8429-F562-223F75D93916}"/>
              </a:ext>
            </a:extLst>
          </p:cNvPr>
          <p:cNvGrpSpPr/>
          <p:nvPr/>
        </p:nvGrpSpPr>
        <p:grpSpPr>
          <a:xfrm>
            <a:off x="166062" y="2983453"/>
            <a:ext cx="691303" cy="1161852"/>
            <a:chOff x="171161" y="1628481"/>
            <a:chExt cx="691303" cy="1161852"/>
          </a:xfrm>
        </p:grpSpPr>
        <p:sp>
          <p:nvSpPr>
            <p:cNvPr id="42" name="矩形 41">
              <a:extLst>
                <a:ext uri="{FF2B5EF4-FFF2-40B4-BE49-F238E27FC236}">
                  <a16:creationId xmlns:a16="http://schemas.microsoft.com/office/drawing/2014/main" id="{CCECE257-C2EB-D1E6-0AA4-0A435D0D2699}"/>
                </a:ext>
              </a:extLst>
            </p:cNvPr>
            <p:cNvSpPr/>
            <p:nvPr/>
          </p:nvSpPr>
          <p:spPr>
            <a:xfrm>
              <a:off x="171161" y="1628481"/>
              <a:ext cx="294163" cy="1161852"/>
            </a:xfrm>
            <a:prstGeom prst="rect">
              <a:avLst/>
            </a:prstGeom>
            <a:solidFill>
              <a:schemeClr val="accent1">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charset="-122"/>
                  <a:ea typeface="微软雅黑" panose="020B0503020204020204" charset="-122"/>
                </a:rPr>
                <a:t>爆震</a:t>
              </a:r>
            </a:p>
          </p:txBody>
        </p:sp>
        <p:pic>
          <p:nvPicPr>
            <p:cNvPr id="43" name="图形 42" descr="V 形箭头 纯色填充">
              <a:extLst>
                <a:ext uri="{FF2B5EF4-FFF2-40B4-BE49-F238E27FC236}">
                  <a16:creationId xmlns:a16="http://schemas.microsoft.com/office/drawing/2014/main" id="{76222DFB-61B0-AF22-63E5-394E9BF658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70295" y="2013324"/>
              <a:ext cx="392169" cy="392166"/>
            </a:xfrm>
            <a:prstGeom prst="rect">
              <a:avLst/>
            </a:prstGeom>
          </p:spPr>
        </p:pic>
      </p:grpSp>
      <p:grpSp>
        <p:nvGrpSpPr>
          <p:cNvPr id="44" name="组合 43">
            <a:extLst>
              <a:ext uri="{FF2B5EF4-FFF2-40B4-BE49-F238E27FC236}">
                <a16:creationId xmlns:a16="http://schemas.microsoft.com/office/drawing/2014/main" id="{7559F594-544F-2B24-8328-CDAC84219F81}"/>
              </a:ext>
            </a:extLst>
          </p:cNvPr>
          <p:cNvGrpSpPr/>
          <p:nvPr/>
        </p:nvGrpSpPr>
        <p:grpSpPr>
          <a:xfrm>
            <a:off x="168184" y="4242814"/>
            <a:ext cx="686481" cy="1638607"/>
            <a:chOff x="175983" y="1453113"/>
            <a:chExt cx="686481" cy="1638607"/>
          </a:xfrm>
        </p:grpSpPr>
        <p:sp>
          <p:nvSpPr>
            <p:cNvPr id="45" name="矩形 44">
              <a:extLst>
                <a:ext uri="{FF2B5EF4-FFF2-40B4-BE49-F238E27FC236}">
                  <a16:creationId xmlns:a16="http://schemas.microsoft.com/office/drawing/2014/main" id="{69717B51-F52C-2FD2-96D6-31A7D25F97B9}"/>
                </a:ext>
              </a:extLst>
            </p:cNvPr>
            <p:cNvSpPr/>
            <p:nvPr/>
          </p:nvSpPr>
          <p:spPr>
            <a:xfrm>
              <a:off x="175983" y="1453113"/>
              <a:ext cx="294163" cy="1638607"/>
            </a:xfrm>
            <a:prstGeom prst="rect">
              <a:avLst/>
            </a:prstGeom>
            <a:solidFill>
              <a:schemeClr val="accent1">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charset="-122"/>
                  <a:ea typeface="微软雅黑" panose="020B0503020204020204" charset="-122"/>
                </a:rPr>
                <a:t>准维唯象模型</a:t>
              </a:r>
            </a:p>
          </p:txBody>
        </p:sp>
        <p:pic>
          <p:nvPicPr>
            <p:cNvPr id="46" name="图形 45" descr="V 形箭头 纯色填充">
              <a:extLst>
                <a:ext uri="{FF2B5EF4-FFF2-40B4-BE49-F238E27FC236}">
                  <a16:creationId xmlns:a16="http://schemas.microsoft.com/office/drawing/2014/main" id="{75EB82E8-B1B5-FEFA-4CD2-B537D4ADEB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70295" y="2084372"/>
              <a:ext cx="392169" cy="392166"/>
            </a:xfrm>
            <a:prstGeom prst="rect">
              <a:avLst/>
            </a:prstGeom>
          </p:spPr>
        </p:pic>
      </p:grpSp>
      <p:sp>
        <p:nvSpPr>
          <p:cNvPr id="47" name="箭头: V 形 46">
            <a:extLst>
              <a:ext uri="{FF2B5EF4-FFF2-40B4-BE49-F238E27FC236}">
                <a16:creationId xmlns:a16="http://schemas.microsoft.com/office/drawing/2014/main" id="{0D9F6E5F-5E21-C943-A229-F9A3EDDB834A}"/>
              </a:ext>
            </a:extLst>
          </p:cNvPr>
          <p:cNvSpPr/>
          <p:nvPr/>
        </p:nvSpPr>
        <p:spPr>
          <a:xfrm rot="10800000">
            <a:off x="7859029" y="5987721"/>
            <a:ext cx="196494" cy="381812"/>
          </a:xfrm>
          <a:prstGeom prst="chevron">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Tree>
    <p:extLst>
      <p:ext uri="{BB962C8B-B14F-4D97-AF65-F5344CB8AC3E}">
        <p14:creationId xmlns:p14="http://schemas.microsoft.com/office/powerpoint/2010/main" val="413449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B86D-B79D-F350-6990-F0763BAF71A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B825A49-26FB-A58A-47DF-E29856DE6001}"/>
              </a:ext>
            </a:extLst>
          </p:cNvPr>
          <p:cNvSpPr>
            <a:spLocks noGrp="1"/>
          </p:cNvSpPr>
          <p:nvPr>
            <p:ph type="title"/>
          </p:nvPr>
        </p:nvSpPr>
        <p:spPr/>
        <p:txBody>
          <a:bodyPr/>
          <a:lstStyle/>
          <a:p>
            <a:r>
              <a:rPr lang="zh-CN" altLang="en-US"/>
              <a:t>第一章</a:t>
            </a:r>
            <a:r>
              <a:rPr lang="en-US" altLang="zh-CN"/>
              <a:t>:</a:t>
            </a:r>
            <a:r>
              <a:rPr lang="zh-CN" altLang="en-US"/>
              <a:t>绪论</a:t>
            </a:r>
            <a:endParaRPr lang="zh-CN" altLang="en-US" dirty="0"/>
          </a:p>
        </p:txBody>
      </p:sp>
      <p:sp>
        <p:nvSpPr>
          <p:cNvPr id="2" name="矩形 1">
            <a:extLst>
              <a:ext uri="{FF2B5EF4-FFF2-40B4-BE49-F238E27FC236}">
                <a16:creationId xmlns:a16="http://schemas.microsoft.com/office/drawing/2014/main" id="{49464DC1-C859-F24A-3FE1-8EA87820F7A7}"/>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dirty="0">
                <a:solidFill>
                  <a:srgbClr val="004A98"/>
                </a:solidFill>
                <a:latin typeface="Times New Roman" panose="02020603050405020304" pitchFamily="18" charset="0"/>
                <a:ea typeface="微软雅黑" panose="020B0503020204020204" pitchFamily="34" charset="-122"/>
                <a:cs typeface="+mn-ea"/>
              </a:rPr>
              <a:t>第二</a:t>
            </a:r>
            <a:r>
              <a:rPr lang="zh-CN" altLang="en-US" sz="2400" b="1">
                <a:solidFill>
                  <a:srgbClr val="004A98"/>
                </a:solidFill>
                <a:latin typeface="Times New Roman" panose="02020603050405020304" pitchFamily="18" charset="0"/>
                <a:ea typeface="微软雅黑" panose="020B0503020204020204" pitchFamily="34" charset="-122"/>
                <a:cs typeface="+mn-ea"/>
              </a:rPr>
              <a:t>节：氢内燃机爆震机理及唯象模型研究现状</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grpSp>
        <p:nvGrpSpPr>
          <p:cNvPr id="42" name="组合 41">
            <a:extLst>
              <a:ext uri="{FF2B5EF4-FFF2-40B4-BE49-F238E27FC236}">
                <a16:creationId xmlns:a16="http://schemas.microsoft.com/office/drawing/2014/main" id="{88984D94-3DD5-3840-20BB-9E3D616F783E}"/>
              </a:ext>
            </a:extLst>
          </p:cNvPr>
          <p:cNvGrpSpPr/>
          <p:nvPr/>
        </p:nvGrpSpPr>
        <p:grpSpPr>
          <a:xfrm>
            <a:off x="4163990" y="1604020"/>
            <a:ext cx="4039888" cy="4493043"/>
            <a:chOff x="4567726" y="1625817"/>
            <a:chExt cx="4039888" cy="4493043"/>
          </a:xfrm>
        </p:grpSpPr>
        <p:grpSp>
          <p:nvGrpSpPr>
            <p:cNvPr id="19" name="组合 18">
              <a:extLst>
                <a:ext uri="{FF2B5EF4-FFF2-40B4-BE49-F238E27FC236}">
                  <a16:creationId xmlns:a16="http://schemas.microsoft.com/office/drawing/2014/main" id="{30E5A2A1-3A63-D6FB-40FA-70B83F1F82EA}"/>
                </a:ext>
              </a:extLst>
            </p:cNvPr>
            <p:cNvGrpSpPr/>
            <p:nvPr/>
          </p:nvGrpSpPr>
          <p:grpSpPr>
            <a:xfrm>
              <a:off x="4575346" y="1625817"/>
              <a:ext cx="3931920" cy="4493043"/>
              <a:chOff x="457200" y="1625817"/>
              <a:chExt cx="3931920" cy="4493043"/>
            </a:xfrm>
          </p:grpSpPr>
          <p:sp>
            <p:nvSpPr>
              <p:cNvPr id="26" name="矩形 25">
                <a:extLst>
                  <a:ext uri="{FF2B5EF4-FFF2-40B4-BE49-F238E27FC236}">
                    <a16:creationId xmlns:a16="http://schemas.microsoft.com/office/drawing/2014/main" id="{2783A5FD-A30C-8897-D6B0-DE1F5E72A1D2}"/>
                  </a:ext>
                </a:extLst>
              </p:cNvPr>
              <p:cNvSpPr/>
              <p:nvPr/>
            </p:nvSpPr>
            <p:spPr>
              <a:xfrm>
                <a:off x="457200" y="1758648"/>
                <a:ext cx="3931920" cy="4360212"/>
              </a:xfrm>
              <a:prstGeom prst="rect">
                <a:avLst/>
              </a:prstGeom>
              <a:solidFill>
                <a:schemeClr val="bg1"/>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梯形 26">
                <a:extLst>
                  <a:ext uri="{FF2B5EF4-FFF2-40B4-BE49-F238E27FC236}">
                    <a16:creationId xmlns:a16="http://schemas.microsoft.com/office/drawing/2014/main" id="{B1E9BB75-D00B-1D3F-AFBF-40D8F3A0ECD1}"/>
                  </a:ext>
                </a:extLst>
              </p:cNvPr>
              <p:cNvSpPr/>
              <p:nvPr/>
            </p:nvSpPr>
            <p:spPr>
              <a:xfrm>
                <a:off x="1203960" y="1625817"/>
                <a:ext cx="2430780" cy="304801"/>
              </a:xfrm>
              <a:prstGeom prst="trapezoid">
                <a:avLst>
                  <a:gd name="adj" fmla="val 6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bg1"/>
                    </a:solidFill>
                  </a:rPr>
                  <a:t>爆震唯象模型</a:t>
                </a:r>
              </a:p>
            </p:txBody>
          </p:sp>
        </p:grpSp>
        <p:sp>
          <p:nvSpPr>
            <p:cNvPr id="20" name="文本框 19">
              <a:extLst>
                <a:ext uri="{FF2B5EF4-FFF2-40B4-BE49-F238E27FC236}">
                  <a16:creationId xmlns:a16="http://schemas.microsoft.com/office/drawing/2014/main" id="{632CB316-74F9-9142-62B6-D939A93C510F}"/>
                </a:ext>
              </a:extLst>
            </p:cNvPr>
            <p:cNvSpPr txBox="1"/>
            <p:nvPr/>
          </p:nvSpPr>
          <p:spPr>
            <a:xfrm>
              <a:off x="4567726" y="1921499"/>
              <a:ext cx="3974165" cy="523220"/>
            </a:xfrm>
            <a:prstGeom prst="rect">
              <a:avLst/>
            </a:prstGeom>
            <a:noFill/>
          </p:spPr>
          <p:txBody>
            <a:bodyPr wrap="none" rtlCol="0">
              <a:spAutoFit/>
            </a:bodyPr>
            <a:lstStyle/>
            <a:p>
              <a:pPr marL="285750" indent="-285750">
                <a:buFont typeface="Wingdings" panose="05000000000000000000" pitchFamily="2" charset="2"/>
                <a:buChar char="Ø"/>
              </a:pPr>
              <a:r>
                <a:rPr lang="en-US" altLang="zh-CN" sz="1400" b="1">
                  <a:solidFill>
                    <a:srgbClr val="2F5597"/>
                  </a:solidFill>
                </a:rPr>
                <a:t>Fandakov</a:t>
              </a:r>
              <a:r>
                <a:rPr lang="zh-CN" altLang="en-US" sz="1400" b="1">
                  <a:solidFill>
                    <a:srgbClr val="2F5597"/>
                  </a:solidFill>
                </a:rPr>
                <a:t>等</a:t>
              </a:r>
              <a:r>
                <a:rPr lang="en-US" altLang="zh-CN" sz="1400" b="1" baseline="30000">
                  <a:solidFill>
                    <a:srgbClr val="2F5597"/>
                  </a:solidFill>
                </a:rPr>
                <a:t>[21]</a:t>
              </a:r>
              <a:r>
                <a:rPr lang="en-US" altLang="zh-CN" sz="1400" b="1">
                  <a:solidFill>
                    <a:srgbClr val="2F5597"/>
                  </a:solidFill>
                </a:rPr>
                <a:t>:</a:t>
              </a:r>
            </a:p>
            <a:p>
              <a:pPr algn="ctr"/>
              <a:r>
                <a:rPr lang="zh-CN" altLang="en-US" sz="1400"/>
                <a:t>以物理机理公式替代传统查表法计算自燃诱导期</a:t>
              </a:r>
            </a:p>
          </p:txBody>
        </p:sp>
        <p:sp>
          <p:nvSpPr>
            <p:cNvPr id="21" name="文本框 20">
              <a:extLst>
                <a:ext uri="{FF2B5EF4-FFF2-40B4-BE49-F238E27FC236}">
                  <a16:creationId xmlns:a16="http://schemas.microsoft.com/office/drawing/2014/main" id="{1C779A86-46B9-904F-BD11-2B4A87609F9C}"/>
                </a:ext>
              </a:extLst>
            </p:cNvPr>
            <p:cNvSpPr txBox="1"/>
            <p:nvPr/>
          </p:nvSpPr>
          <p:spPr>
            <a:xfrm>
              <a:off x="4567726" y="2519157"/>
              <a:ext cx="4039888" cy="738664"/>
            </a:xfrm>
            <a:prstGeom prst="rect">
              <a:avLst/>
            </a:prstGeom>
            <a:noFill/>
          </p:spPr>
          <p:txBody>
            <a:bodyPr wrap="none" rtlCol="0">
              <a:spAutoFit/>
            </a:bodyPr>
            <a:lstStyle/>
            <a:p>
              <a:pPr marL="285750" indent="-285750">
                <a:buFont typeface="Wingdings" panose="05000000000000000000" pitchFamily="2" charset="2"/>
                <a:buChar char="Ø"/>
              </a:pPr>
              <a:r>
                <a:rPr lang="en-US" altLang="zh-CN" sz="1400" b="1">
                  <a:solidFill>
                    <a:srgbClr val="2F5597"/>
                  </a:solidFill>
                </a:rPr>
                <a:t>Weber</a:t>
              </a:r>
              <a:r>
                <a:rPr lang="zh-CN" altLang="en-US" sz="1400" b="1">
                  <a:solidFill>
                    <a:srgbClr val="2F5597"/>
                  </a:solidFill>
                </a:rPr>
                <a:t>等</a:t>
              </a:r>
              <a:r>
                <a:rPr lang="en-US" altLang="zh-CN" sz="1400" b="1" baseline="30000">
                  <a:solidFill>
                    <a:srgbClr val="2F5597"/>
                  </a:solidFill>
                </a:rPr>
                <a:t>[22]</a:t>
              </a:r>
              <a:r>
                <a:rPr lang="en-US" altLang="zh-CN" sz="1400" b="1">
                  <a:solidFill>
                    <a:srgbClr val="2F5597"/>
                  </a:solidFill>
                </a:rPr>
                <a:t>:</a:t>
              </a:r>
            </a:p>
            <a:p>
              <a:pPr algn="ctr"/>
              <a:r>
                <a:rPr lang="zh-CN" altLang="en-US" sz="1400"/>
                <a:t>针对氢气模型对</a:t>
              </a:r>
              <a:r>
                <a:rPr lang="en-US" altLang="zh-CN" sz="1400"/>
                <a:t>Livengood-Wu</a:t>
              </a:r>
              <a:r>
                <a:rPr lang="zh-CN" altLang="en-US" sz="1400"/>
                <a:t>积分的触发阈值进</a:t>
              </a:r>
              <a:endParaRPr lang="en-US" altLang="zh-CN" sz="1400"/>
            </a:p>
            <a:p>
              <a:pPr algn="ctr"/>
              <a:r>
                <a:rPr lang="zh-CN" altLang="en-US" sz="1400"/>
                <a:t>行了修正</a:t>
              </a:r>
            </a:p>
          </p:txBody>
        </p:sp>
        <p:sp>
          <p:nvSpPr>
            <p:cNvPr id="22" name="文本框 21">
              <a:extLst>
                <a:ext uri="{FF2B5EF4-FFF2-40B4-BE49-F238E27FC236}">
                  <a16:creationId xmlns:a16="http://schemas.microsoft.com/office/drawing/2014/main" id="{F5EBDE0B-699F-CD1F-FC21-4375F2B81D0F}"/>
                </a:ext>
              </a:extLst>
            </p:cNvPr>
            <p:cNvSpPr txBox="1"/>
            <p:nvPr/>
          </p:nvSpPr>
          <p:spPr>
            <a:xfrm>
              <a:off x="4567726" y="3128819"/>
              <a:ext cx="3931920" cy="738664"/>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400" b="1">
                  <a:solidFill>
                    <a:srgbClr val="2F5597"/>
                  </a:solidFill>
                </a:rPr>
                <a:t>Bozza</a:t>
              </a:r>
              <a:r>
                <a:rPr lang="zh-CN" altLang="en-US" sz="1400" b="1">
                  <a:solidFill>
                    <a:srgbClr val="2F5597"/>
                  </a:solidFill>
                </a:rPr>
                <a:t>等</a:t>
              </a:r>
              <a:r>
                <a:rPr lang="en-US" altLang="zh-CN" sz="1400" b="1" baseline="30000">
                  <a:solidFill>
                    <a:srgbClr val="2F5597"/>
                  </a:solidFill>
                </a:rPr>
                <a:t>[23]</a:t>
              </a:r>
              <a:r>
                <a:rPr lang="en-US" altLang="zh-CN" sz="1400" b="1">
                  <a:solidFill>
                    <a:srgbClr val="2F5597"/>
                  </a:solidFill>
                </a:rPr>
                <a:t>:</a:t>
              </a:r>
            </a:p>
            <a:p>
              <a:pPr algn="ctr"/>
              <a:r>
                <a:rPr lang="zh-CN" altLang="en-US" sz="1400"/>
                <a:t>提出了一种面向准维燃烧模型的表格化化学方法，能够预测变工况条件下自燃时刻</a:t>
              </a:r>
            </a:p>
          </p:txBody>
        </p:sp>
        <p:sp>
          <p:nvSpPr>
            <p:cNvPr id="23" name="文本框 22">
              <a:extLst>
                <a:ext uri="{FF2B5EF4-FFF2-40B4-BE49-F238E27FC236}">
                  <a16:creationId xmlns:a16="http://schemas.microsoft.com/office/drawing/2014/main" id="{CCA944CE-6A96-3F14-6ED3-389B80D4946E}"/>
                </a:ext>
              </a:extLst>
            </p:cNvPr>
            <p:cNvSpPr txBox="1"/>
            <p:nvPr/>
          </p:nvSpPr>
          <p:spPr>
            <a:xfrm>
              <a:off x="4567727" y="3783871"/>
              <a:ext cx="3931920" cy="738664"/>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400" b="1">
                  <a:solidFill>
                    <a:srgbClr val="2F5597"/>
                  </a:solidFill>
                </a:rPr>
                <a:t>Luo</a:t>
              </a:r>
              <a:r>
                <a:rPr lang="zh-CN" altLang="en-US" sz="1400" b="1">
                  <a:solidFill>
                    <a:srgbClr val="2F5597"/>
                  </a:solidFill>
                </a:rPr>
                <a:t>等</a:t>
              </a:r>
              <a:r>
                <a:rPr lang="en-US" altLang="zh-CN" sz="1400" b="1" baseline="30000">
                  <a:solidFill>
                    <a:srgbClr val="2F5597"/>
                  </a:solidFill>
                </a:rPr>
                <a:t>[24]</a:t>
              </a:r>
              <a:r>
                <a:rPr lang="zh-CN" altLang="en-US" sz="1400" b="1">
                  <a:solidFill>
                    <a:srgbClr val="2F5597"/>
                  </a:solidFill>
                </a:rPr>
                <a:t>：</a:t>
              </a:r>
              <a:endParaRPr lang="en-US" altLang="zh-CN" sz="1400" b="1">
                <a:solidFill>
                  <a:srgbClr val="2F5597"/>
                </a:solidFill>
              </a:endParaRPr>
            </a:p>
            <a:p>
              <a:pPr algn="ctr"/>
              <a:r>
                <a:rPr lang="zh-CN" altLang="en-US" sz="1400"/>
                <a:t>实验建立了爆震强度的量化方法，给出了爆震边</a:t>
              </a:r>
              <a:endParaRPr lang="en-US" altLang="zh-CN" sz="1400"/>
            </a:p>
            <a:p>
              <a:pPr algn="ctr"/>
              <a:r>
                <a:rPr lang="zh-CN" altLang="en-US" sz="1400"/>
                <a:t>界的实验依据</a:t>
              </a:r>
            </a:p>
          </p:txBody>
        </p:sp>
        <p:sp>
          <p:nvSpPr>
            <p:cNvPr id="24" name="文本框 23">
              <a:extLst>
                <a:ext uri="{FF2B5EF4-FFF2-40B4-BE49-F238E27FC236}">
                  <a16:creationId xmlns:a16="http://schemas.microsoft.com/office/drawing/2014/main" id="{E642ED8A-4D99-732E-732E-A0C73936A270}"/>
                </a:ext>
              </a:extLst>
            </p:cNvPr>
            <p:cNvSpPr txBox="1"/>
            <p:nvPr/>
          </p:nvSpPr>
          <p:spPr>
            <a:xfrm>
              <a:off x="4567726" y="4548291"/>
              <a:ext cx="3931920" cy="738664"/>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400" b="1">
                  <a:solidFill>
                    <a:srgbClr val="2F5597"/>
                  </a:solidFill>
                </a:rPr>
                <a:t>Yu</a:t>
              </a:r>
              <a:r>
                <a:rPr lang="zh-CN" altLang="en-US" sz="1400" b="1">
                  <a:solidFill>
                    <a:srgbClr val="2F5597"/>
                  </a:solidFill>
                </a:rPr>
                <a:t>等</a:t>
              </a:r>
              <a:r>
                <a:rPr lang="en-US" altLang="zh-CN" sz="1400" b="1" baseline="30000">
                  <a:solidFill>
                    <a:srgbClr val="2F5597"/>
                  </a:solidFill>
                </a:rPr>
                <a:t>[25]</a:t>
              </a:r>
              <a:r>
                <a:rPr lang="zh-CN" altLang="en-US" sz="1400" b="1">
                  <a:solidFill>
                    <a:srgbClr val="2F5597"/>
                  </a:solidFill>
                </a:rPr>
                <a:t>：</a:t>
              </a:r>
              <a:endParaRPr lang="en-US" altLang="zh-CN" sz="1400" b="1">
                <a:solidFill>
                  <a:srgbClr val="2F5597"/>
                </a:solidFill>
              </a:endParaRPr>
            </a:p>
            <a:p>
              <a:pPr algn="ctr"/>
              <a:r>
                <a:rPr lang="zh-CN" altLang="en-US" sz="1400"/>
                <a:t>观测了氢气爆震过程中从末端自燃到多点爆发的火焰演变</a:t>
              </a:r>
            </a:p>
          </p:txBody>
        </p:sp>
        <p:sp>
          <p:nvSpPr>
            <p:cNvPr id="25" name="文本框 24">
              <a:extLst>
                <a:ext uri="{FF2B5EF4-FFF2-40B4-BE49-F238E27FC236}">
                  <a16:creationId xmlns:a16="http://schemas.microsoft.com/office/drawing/2014/main" id="{90C936ED-962E-CF4F-DFFB-46AF93578A53}"/>
                </a:ext>
              </a:extLst>
            </p:cNvPr>
            <p:cNvSpPr txBox="1"/>
            <p:nvPr/>
          </p:nvSpPr>
          <p:spPr>
            <a:xfrm>
              <a:off x="4567726" y="5312947"/>
              <a:ext cx="3931920" cy="738664"/>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400" b="1">
                  <a:solidFill>
                    <a:srgbClr val="2F5597"/>
                  </a:solidFill>
                </a:rPr>
                <a:t>Zou</a:t>
              </a:r>
              <a:r>
                <a:rPr lang="zh-CN" altLang="en-US" sz="1400" b="1">
                  <a:solidFill>
                    <a:srgbClr val="2F5597"/>
                  </a:solidFill>
                </a:rPr>
                <a:t>等</a:t>
              </a:r>
              <a:r>
                <a:rPr lang="en-US" altLang="zh-CN" sz="1400" b="1" baseline="30000">
                  <a:solidFill>
                    <a:srgbClr val="2F5597"/>
                  </a:solidFill>
                </a:rPr>
                <a:t>[28]</a:t>
              </a:r>
              <a:r>
                <a:rPr lang="zh-CN" altLang="en-US" sz="1400" b="1">
                  <a:solidFill>
                    <a:srgbClr val="2F5597"/>
                  </a:solidFill>
                </a:rPr>
                <a:t>：</a:t>
              </a:r>
              <a:endParaRPr lang="en-US" altLang="zh-CN" sz="1400" b="1">
                <a:solidFill>
                  <a:srgbClr val="2F5597"/>
                </a:solidFill>
              </a:endParaRPr>
            </a:p>
            <a:p>
              <a:pPr algn="ctr"/>
              <a:r>
                <a:rPr lang="zh-CN" altLang="en-US" sz="1400"/>
                <a:t>建立了双燃料发动机准维模型，引入爆震强度指数系数作为爆震强度的评估指标</a:t>
              </a:r>
            </a:p>
          </p:txBody>
        </p:sp>
      </p:grpSp>
      <p:grpSp>
        <p:nvGrpSpPr>
          <p:cNvPr id="70" name="组合 69">
            <a:extLst>
              <a:ext uri="{FF2B5EF4-FFF2-40B4-BE49-F238E27FC236}">
                <a16:creationId xmlns:a16="http://schemas.microsoft.com/office/drawing/2014/main" id="{56465B61-E0DD-6AC1-169A-63A63E80AC18}"/>
              </a:ext>
            </a:extLst>
          </p:cNvPr>
          <p:cNvGrpSpPr/>
          <p:nvPr/>
        </p:nvGrpSpPr>
        <p:grpSpPr>
          <a:xfrm>
            <a:off x="78890" y="1604019"/>
            <a:ext cx="3954929" cy="4877365"/>
            <a:chOff x="434191" y="1625817"/>
            <a:chExt cx="3954929" cy="4877365"/>
          </a:xfrm>
        </p:grpSpPr>
        <p:sp>
          <p:nvSpPr>
            <p:cNvPr id="5" name="矩形 4">
              <a:extLst>
                <a:ext uri="{FF2B5EF4-FFF2-40B4-BE49-F238E27FC236}">
                  <a16:creationId xmlns:a16="http://schemas.microsoft.com/office/drawing/2014/main" id="{6FC6026A-00B4-5C93-FF78-EE85BC3F20EA}"/>
                </a:ext>
              </a:extLst>
            </p:cNvPr>
            <p:cNvSpPr/>
            <p:nvPr/>
          </p:nvSpPr>
          <p:spPr>
            <a:xfrm>
              <a:off x="457200" y="1758649"/>
              <a:ext cx="3931920" cy="4360212"/>
            </a:xfrm>
            <a:prstGeom prst="rect">
              <a:avLst/>
            </a:prstGeom>
            <a:solidFill>
              <a:schemeClr val="bg1"/>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a:extLst>
                <a:ext uri="{FF2B5EF4-FFF2-40B4-BE49-F238E27FC236}">
                  <a16:creationId xmlns:a16="http://schemas.microsoft.com/office/drawing/2014/main" id="{F64695D8-A3F0-62A8-DDA4-27FC0131E58C}"/>
                </a:ext>
              </a:extLst>
            </p:cNvPr>
            <p:cNvSpPr/>
            <p:nvPr/>
          </p:nvSpPr>
          <p:spPr>
            <a:xfrm>
              <a:off x="1203960" y="1625817"/>
              <a:ext cx="2430780" cy="304801"/>
            </a:xfrm>
            <a:prstGeom prst="trapezoid">
              <a:avLst>
                <a:gd name="adj" fmla="val 6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bg1"/>
                  </a:solidFill>
                </a:rPr>
                <a:t>准维燃烧模型</a:t>
              </a:r>
            </a:p>
          </p:txBody>
        </p:sp>
        <p:sp>
          <p:nvSpPr>
            <p:cNvPr id="8" name="文本框 7">
              <a:extLst>
                <a:ext uri="{FF2B5EF4-FFF2-40B4-BE49-F238E27FC236}">
                  <a16:creationId xmlns:a16="http://schemas.microsoft.com/office/drawing/2014/main" id="{B39886E1-F59B-8921-EDC6-672B251D1A9F}"/>
                </a:ext>
              </a:extLst>
            </p:cNvPr>
            <p:cNvSpPr txBox="1"/>
            <p:nvPr/>
          </p:nvSpPr>
          <p:spPr>
            <a:xfrm>
              <a:off x="434191" y="1921737"/>
              <a:ext cx="3954929" cy="738664"/>
            </a:xfrm>
            <a:prstGeom prst="rect">
              <a:avLst/>
            </a:prstGeom>
            <a:noFill/>
          </p:spPr>
          <p:txBody>
            <a:bodyPr wrap="none" rtlCol="0">
              <a:spAutoFit/>
            </a:bodyPr>
            <a:lstStyle/>
            <a:p>
              <a:pPr marL="285750" indent="-285750">
                <a:buFont typeface="Wingdings" panose="05000000000000000000" pitchFamily="2" charset="2"/>
                <a:buChar char="Ø"/>
              </a:pPr>
              <a:r>
                <a:rPr lang="en-US" altLang="zh-CN" sz="1400" b="1">
                  <a:solidFill>
                    <a:srgbClr val="2F5597"/>
                  </a:solidFill>
                </a:rPr>
                <a:t>D‘Errico</a:t>
              </a:r>
              <a:r>
                <a:rPr lang="zh-CN" altLang="en-US" sz="1400" b="1">
                  <a:solidFill>
                    <a:srgbClr val="2F5597"/>
                  </a:solidFill>
                </a:rPr>
                <a:t>等</a:t>
              </a:r>
              <a:r>
                <a:rPr lang="en-US" altLang="zh-CN" sz="1400" b="1" baseline="30000">
                  <a:solidFill>
                    <a:srgbClr val="2F5597"/>
                  </a:solidFill>
                </a:rPr>
                <a:t>[14]</a:t>
              </a:r>
              <a:r>
                <a:rPr lang="en-US" altLang="zh-CN" sz="1400" b="1">
                  <a:solidFill>
                    <a:srgbClr val="2F5597"/>
                  </a:solidFill>
                </a:rPr>
                <a:t>:</a:t>
              </a:r>
            </a:p>
            <a:p>
              <a:pPr algn="ctr"/>
              <a:r>
                <a:rPr lang="zh-CN" altLang="en-US" sz="1400"/>
                <a:t>推导双区准维模型的质量与能量守恒方程，建立</a:t>
              </a:r>
              <a:endParaRPr lang="en-US" altLang="zh-CN" sz="1400"/>
            </a:p>
            <a:p>
              <a:pPr algn="ctr"/>
              <a:r>
                <a:rPr lang="zh-CN" altLang="en-US" sz="1400"/>
                <a:t>了双区准维模型基本的数学框架</a:t>
              </a:r>
            </a:p>
          </p:txBody>
        </p:sp>
        <p:sp>
          <p:nvSpPr>
            <p:cNvPr id="10" name="文本框 9">
              <a:extLst>
                <a:ext uri="{FF2B5EF4-FFF2-40B4-BE49-F238E27FC236}">
                  <a16:creationId xmlns:a16="http://schemas.microsoft.com/office/drawing/2014/main" id="{CDF05B5D-5F60-3EDA-5770-8EBB2E0AFE19}"/>
                </a:ext>
              </a:extLst>
            </p:cNvPr>
            <p:cNvSpPr txBox="1"/>
            <p:nvPr/>
          </p:nvSpPr>
          <p:spPr>
            <a:xfrm>
              <a:off x="434191" y="2686157"/>
              <a:ext cx="3469219" cy="523220"/>
            </a:xfrm>
            <a:prstGeom prst="rect">
              <a:avLst/>
            </a:prstGeom>
            <a:noFill/>
          </p:spPr>
          <p:txBody>
            <a:bodyPr wrap="none" rtlCol="0">
              <a:spAutoFit/>
            </a:bodyPr>
            <a:lstStyle/>
            <a:p>
              <a:pPr marL="285750" indent="-285750">
                <a:buFont typeface="Wingdings" panose="05000000000000000000" pitchFamily="2" charset="2"/>
                <a:buChar char="Ø"/>
              </a:pPr>
              <a:r>
                <a:rPr lang="en-US" altLang="zh-CN" sz="1400" b="1">
                  <a:solidFill>
                    <a:srgbClr val="2F5597"/>
                  </a:solidFill>
                </a:rPr>
                <a:t>Piano</a:t>
              </a:r>
              <a:r>
                <a:rPr lang="zh-CN" altLang="en-US" sz="1400" b="1">
                  <a:solidFill>
                    <a:srgbClr val="2F5597"/>
                  </a:solidFill>
                </a:rPr>
                <a:t>等</a:t>
              </a:r>
              <a:r>
                <a:rPr lang="en-US" altLang="zh-CN" sz="1400" b="1" baseline="30000">
                  <a:solidFill>
                    <a:srgbClr val="2F5597"/>
                  </a:solidFill>
                </a:rPr>
                <a:t>[15]</a:t>
              </a:r>
              <a:r>
                <a:rPr lang="en-US" altLang="zh-CN" sz="1400" b="1">
                  <a:solidFill>
                    <a:srgbClr val="2F5597"/>
                  </a:solidFill>
                </a:rPr>
                <a:t>:</a:t>
              </a:r>
            </a:p>
            <a:p>
              <a:r>
                <a:rPr lang="en-US" altLang="zh-CN" sz="1400" b="1">
                  <a:solidFill>
                    <a:srgbClr val="2F5597"/>
                  </a:solidFill>
                </a:rPr>
                <a:t>          </a:t>
              </a:r>
              <a:r>
                <a:rPr lang="zh-CN" altLang="en-US" sz="1400"/>
                <a:t>引入</a:t>
              </a:r>
              <a:r>
                <a:rPr lang="en-US" altLang="zh-CN" sz="1400"/>
                <a:t>K-k</a:t>
              </a:r>
              <a:r>
                <a:rPr lang="zh-CN" altLang="en-US" sz="1400"/>
                <a:t>湍流子模型和分形燃烧模型</a:t>
              </a:r>
            </a:p>
          </p:txBody>
        </p:sp>
        <p:sp>
          <p:nvSpPr>
            <p:cNvPr id="11" name="文本框 10">
              <a:extLst>
                <a:ext uri="{FF2B5EF4-FFF2-40B4-BE49-F238E27FC236}">
                  <a16:creationId xmlns:a16="http://schemas.microsoft.com/office/drawing/2014/main" id="{2F8752E3-B939-C32C-5C29-2F0C6A627AD0}"/>
                </a:ext>
              </a:extLst>
            </p:cNvPr>
            <p:cNvSpPr txBox="1"/>
            <p:nvPr/>
          </p:nvSpPr>
          <p:spPr>
            <a:xfrm>
              <a:off x="434191" y="3235133"/>
              <a:ext cx="3775393" cy="523220"/>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400" b="1">
                  <a:solidFill>
                    <a:srgbClr val="2F5597"/>
                  </a:solidFill>
                </a:rPr>
                <a:t>Irimescu</a:t>
              </a:r>
              <a:r>
                <a:rPr lang="zh-CN" altLang="en-US" sz="1400" b="1">
                  <a:solidFill>
                    <a:srgbClr val="2F5597"/>
                  </a:solidFill>
                </a:rPr>
                <a:t>等</a:t>
              </a:r>
              <a:r>
                <a:rPr lang="en-US" altLang="zh-CN" sz="1400" b="1" baseline="30000">
                  <a:solidFill>
                    <a:srgbClr val="2F5597"/>
                  </a:solidFill>
                </a:rPr>
                <a:t>[16]</a:t>
              </a:r>
              <a:r>
                <a:rPr lang="en-US" altLang="zh-CN" sz="1400" b="1">
                  <a:solidFill>
                    <a:srgbClr val="2F5597"/>
                  </a:solidFill>
                </a:rPr>
                <a:t>:</a:t>
              </a:r>
            </a:p>
            <a:p>
              <a:pPr algn="ctr"/>
              <a:r>
                <a:rPr lang="zh-CN" altLang="en-US" sz="1400"/>
                <a:t>将准维模型用于爆震极限的评估</a:t>
              </a:r>
            </a:p>
          </p:txBody>
        </p:sp>
        <p:sp>
          <p:nvSpPr>
            <p:cNvPr id="12" name="文本框 11">
              <a:extLst>
                <a:ext uri="{FF2B5EF4-FFF2-40B4-BE49-F238E27FC236}">
                  <a16:creationId xmlns:a16="http://schemas.microsoft.com/office/drawing/2014/main" id="{5552D1BD-1F7D-91B4-7E2D-CD1AE7023AE4}"/>
                </a:ext>
              </a:extLst>
            </p:cNvPr>
            <p:cNvSpPr txBox="1"/>
            <p:nvPr/>
          </p:nvSpPr>
          <p:spPr>
            <a:xfrm>
              <a:off x="434191" y="3784109"/>
              <a:ext cx="3775393" cy="738664"/>
            </a:xfrm>
            <a:prstGeom prst="rect">
              <a:avLst/>
            </a:prstGeom>
            <a:noFill/>
          </p:spPr>
          <p:txBody>
            <a:bodyPr wrap="none" rtlCol="0">
              <a:spAutoFit/>
            </a:bodyPr>
            <a:lstStyle/>
            <a:p>
              <a:pPr marL="285750" indent="-285750">
                <a:buFont typeface="Wingdings" panose="05000000000000000000" pitchFamily="2" charset="2"/>
                <a:buChar char="Ø"/>
              </a:pPr>
              <a:r>
                <a:rPr lang="en-US" altLang="zh-CN" sz="1400" b="1">
                  <a:solidFill>
                    <a:srgbClr val="2F5597"/>
                  </a:solidFill>
                </a:rPr>
                <a:t>Vancoillie</a:t>
              </a:r>
              <a:r>
                <a:rPr lang="zh-CN" altLang="en-US" sz="1400" b="1">
                  <a:solidFill>
                    <a:srgbClr val="2F5597"/>
                  </a:solidFill>
                </a:rPr>
                <a:t>等</a:t>
              </a:r>
              <a:r>
                <a:rPr lang="en-US" altLang="zh-CN" sz="1400" b="1" baseline="30000">
                  <a:solidFill>
                    <a:srgbClr val="2F5597"/>
                  </a:solidFill>
                </a:rPr>
                <a:t>[17]</a:t>
              </a:r>
              <a:r>
                <a:rPr lang="en-US" altLang="zh-CN" sz="1400" b="1">
                  <a:solidFill>
                    <a:srgbClr val="2F5597"/>
                  </a:solidFill>
                </a:rPr>
                <a:t>+Verhelst</a:t>
              </a:r>
              <a:r>
                <a:rPr lang="zh-CN" altLang="en-US" sz="1400" b="1">
                  <a:solidFill>
                    <a:srgbClr val="2F5597"/>
                  </a:solidFill>
                </a:rPr>
                <a:t>等</a:t>
              </a:r>
              <a:r>
                <a:rPr lang="en-US" altLang="zh-CN" sz="1400" b="1" baseline="30000">
                  <a:solidFill>
                    <a:srgbClr val="2F5597"/>
                  </a:solidFill>
                </a:rPr>
                <a:t>[18]</a:t>
              </a:r>
              <a:r>
                <a:rPr lang="zh-CN" altLang="en-US" sz="1400" b="1">
                  <a:solidFill>
                    <a:srgbClr val="2F5597"/>
                  </a:solidFill>
                </a:rPr>
                <a:t>：</a:t>
              </a:r>
              <a:endParaRPr lang="en-US" altLang="zh-CN" sz="1400" b="1">
                <a:solidFill>
                  <a:srgbClr val="2F5597"/>
                </a:solidFill>
              </a:endParaRPr>
            </a:p>
            <a:p>
              <a:pPr algn="ctr"/>
              <a:r>
                <a:rPr lang="zh-CN" altLang="en-US" sz="1400"/>
                <a:t>需使用基于物理机理的关联式或高精度的预测</a:t>
              </a:r>
              <a:endParaRPr lang="en-US" altLang="zh-CN" sz="1400"/>
            </a:p>
            <a:p>
              <a:pPr algn="ctr"/>
              <a:r>
                <a:rPr lang="zh-CN" altLang="en-US" sz="1400"/>
                <a:t>方法</a:t>
              </a:r>
            </a:p>
          </p:txBody>
        </p:sp>
        <p:sp>
          <p:nvSpPr>
            <p:cNvPr id="15" name="文本框 14">
              <a:extLst>
                <a:ext uri="{FF2B5EF4-FFF2-40B4-BE49-F238E27FC236}">
                  <a16:creationId xmlns:a16="http://schemas.microsoft.com/office/drawing/2014/main" id="{B80A8751-0E9B-AC4B-1DFD-F08CD4710226}"/>
                </a:ext>
              </a:extLst>
            </p:cNvPr>
            <p:cNvSpPr txBox="1"/>
            <p:nvPr/>
          </p:nvSpPr>
          <p:spPr>
            <a:xfrm>
              <a:off x="434191" y="4548529"/>
              <a:ext cx="3954929" cy="738664"/>
            </a:xfrm>
            <a:prstGeom prst="rect">
              <a:avLst/>
            </a:prstGeom>
            <a:noFill/>
          </p:spPr>
          <p:txBody>
            <a:bodyPr wrap="none" rtlCol="0">
              <a:spAutoFit/>
            </a:bodyPr>
            <a:lstStyle/>
            <a:p>
              <a:pPr marL="285750" indent="-285750">
                <a:buFont typeface="Wingdings" panose="05000000000000000000" pitchFamily="2" charset="2"/>
                <a:buChar char="Ø"/>
              </a:pPr>
              <a:r>
                <a:rPr lang="en-US" altLang="zh-CN" sz="1400" b="1">
                  <a:solidFill>
                    <a:srgbClr val="2F5597"/>
                  </a:solidFill>
                </a:rPr>
                <a:t>Ma</a:t>
              </a:r>
              <a:r>
                <a:rPr lang="zh-CN" altLang="en-US" sz="1400" b="1">
                  <a:solidFill>
                    <a:srgbClr val="2F5597"/>
                  </a:solidFill>
                </a:rPr>
                <a:t>等</a:t>
              </a:r>
              <a:r>
                <a:rPr lang="en-US" altLang="zh-CN" sz="1400" b="1" baseline="30000">
                  <a:solidFill>
                    <a:srgbClr val="2F5597"/>
                  </a:solidFill>
                </a:rPr>
                <a:t>[19]</a:t>
              </a:r>
              <a:r>
                <a:rPr lang="zh-CN" altLang="en-US" sz="1400" b="1">
                  <a:solidFill>
                    <a:srgbClr val="2F5597"/>
                  </a:solidFill>
                </a:rPr>
                <a:t>：</a:t>
              </a:r>
              <a:endParaRPr lang="en-US" altLang="zh-CN" sz="1400" b="1">
                <a:solidFill>
                  <a:srgbClr val="2F5597"/>
                </a:solidFill>
              </a:endParaRPr>
            </a:p>
            <a:p>
              <a:pPr algn="ctr"/>
              <a:r>
                <a:rPr lang="zh-CN" altLang="en-US" sz="1400"/>
                <a:t>建立了分形维数与歧管绝对压力、当量比及氢分</a:t>
              </a:r>
              <a:endParaRPr lang="en-US" altLang="zh-CN" sz="1400"/>
            </a:p>
            <a:p>
              <a:pPr algn="ctr"/>
              <a:r>
                <a:rPr lang="zh-CN" altLang="en-US" sz="1400"/>
                <a:t>数之间的关系，并提出改进的分形维数表达式</a:t>
              </a:r>
            </a:p>
          </p:txBody>
        </p:sp>
        <p:sp>
          <p:nvSpPr>
            <p:cNvPr id="16" name="文本框 15">
              <a:extLst>
                <a:ext uri="{FF2B5EF4-FFF2-40B4-BE49-F238E27FC236}">
                  <a16:creationId xmlns:a16="http://schemas.microsoft.com/office/drawing/2014/main" id="{9D35E857-551D-7D3E-B278-251C0F5686D2}"/>
                </a:ext>
              </a:extLst>
            </p:cNvPr>
            <p:cNvSpPr txBox="1"/>
            <p:nvPr/>
          </p:nvSpPr>
          <p:spPr>
            <a:xfrm>
              <a:off x="434191" y="5312947"/>
              <a:ext cx="3954929" cy="738664"/>
            </a:xfrm>
            <a:prstGeom prst="rect">
              <a:avLst/>
            </a:prstGeom>
            <a:noFill/>
          </p:spPr>
          <p:txBody>
            <a:bodyPr wrap="none" rtlCol="0">
              <a:spAutoFit/>
            </a:bodyPr>
            <a:lstStyle/>
            <a:p>
              <a:pPr marL="285750" indent="-285750">
                <a:buFont typeface="Wingdings" panose="05000000000000000000" pitchFamily="2" charset="2"/>
                <a:buChar char="Ø"/>
              </a:pPr>
              <a:r>
                <a:rPr lang="en-US" altLang="zh-CN" sz="1400" b="1">
                  <a:solidFill>
                    <a:srgbClr val="2F5597"/>
                  </a:solidFill>
                </a:rPr>
                <a:t>De Bellis</a:t>
              </a:r>
              <a:r>
                <a:rPr lang="zh-CN" altLang="en-US" sz="1400" b="1">
                  <a:solidFill>
                    <a:srgbClr val="2F5597"/>
                  </a:solidFill>
                </a:rPr>
                <a:t>等</a:t>
              </a:r>
              <a:r>
                <a:rPr lang="en-US" altLang="zh-CN" sz="1400" b="1" baseline="30000">
                  <a:solidFill>
                    <a:srgbClr val="2F5597"/>
                  </a:solidFill>
                </a:rPr>
                <a:t>[20]</a:t>
              </a:r>
              <a:r>
                <a:rPr lang="zh-CN" altLang="en-US" sz="1400" b="1">
                  <a:solidFill>
                    <a:srgbClr val="2F5597"/>
                  </a:solidFill>
                </a:rPr>
                <a:t>：</a:t>
              </a:r>
              <a:endParaRPr lang="en-US" altLang="zh-CN" sz="1400" b="1">
                <a:solidFill>
                  <a:srgbClr val="2F5597"/>
                </a:solidFill>
              </a:endParaRPr>
            </a:p>
            <a:p>
              <a:pPr algn="ctr"/>
              <a:r>
                <a:rPr lang="zh-CN" altLang="en-US" sz="1400"/>
                <a:t>开发了专门的子模型用于量化热扩散不稳定性对</a:t>
              </a:r>
              <a:endParaRPr lang="en-US" altLang="zh-CN" sz="1400"/>
            </a:p>
            <a:p>
              <a:pPr algn="ctr"/>
              <a:r>
                <a:rPr lang="zh-CN" altLang="en-US" sz="1400"/>
                <a:t>自由传播火焰速度的修正作用</a:t>
              </a:r>
            </a:p>
          </p:txBody>
        </p:sp>
        <p:sp>
          <p:nvSpPr>
            <p:cNvPr id="37" name="文本框 36">
              <a:extLst>
                <a:ext uri="{FF2B5EF4-FFF2-40B4-BE49-F238E27FC236}">
                  <a16:creationId xmlns:a16="http://schemas.microsoft.com/office/drawing/2014/main" id="{EB6DDA03-EBBF-0922-2898-CF2A9B6DEDE0}"/>
                </a:ext>
              </a:extLst>
            </p:cNvPr>
            <p:cNvSpPr txBox="1"/>
            <p:nvPr/>
          </p:nvSpPr>
          <p:spPr>
            <a:xfrm>
              <a:off x="972799" y="6195405"/>
              <a:ext cx="2877712" cy="307777"/>
            </a:xfrm>
            <a:prstGeom prst="rect">
              <a:avLst/>
            </a:prstGeom>
            <a:noFill/>
          </p:spPr>
          <p:txBody>
            <a:bodyPr wrap="none" rtlCol="0">
              <a:spAutoFit/>
            </a:bodyPr>
            <a:lstStyle/>
            <a:p>
              <a:pPr algn="ctr"/>
              <a:r>
                <a:rPr lang="zh-CN" altLang="en-US" sz="1400" b="1">
                  <a:solidFill>
                    <a:srgbClr val="C00000"/>
                  </a:solidFill>
                </a:rPr>
                <a:t>准维模型已具备较完善的理论框架</a:t>
              </a:r>
            </a:p>
          </p:txBody>
        </p:sp>
        <p:sp>
          <p:nvSpPr>
            <p:cNvPr id="35" name="箭头: V 形 34">
              <a:extLst>
                <a:ext uri="{FF2B5EF4-FFF2-40B4-BE49-F238E27FC236}">
                  <a16:creationId xmlns:a16="http://schemas.microsoft.com/office/drawing/2014/main" id="{A543D7FF-52C8-2908-94FF-D367B5924FFF}"/>
                </a:ext>
              </a:extLst>
            </p:cNvPr>
            <p:cNvSpPr/>
            <p:nvPr/>
          </p:nvSpPr>
          <p:spPr>
            <a:xfrm>
              <a:off x="841498" y="6251839"/>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6" name="箭头: V 形 35">
              <a:extLst>
                <a:ext uri="{FF2B5EF4-FFF2-40B4-BE49-F238E27FC236}">
                  <a16:creationId xmlns:a16="http://schemas.microsoft.com/office/drawing/2014/main" id="{D65C252D-41D2-A660-98C1-CE1C0CE00B30}"/>
                </a:ext>
              </a:extLst>
            </p:cNvPr>
            <p:cNvSpPr/>
            <p:nvPr/>
          </p:nvSpPr>
          <p:spPr>
            <a:xfrm rot="10800000">
              <a:off x="3834244" y="6249051"/>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38" name="组合 37">
            <a:extLst>
              <a:ext uri="{FF2B5EF4-FFF2-40B4-BE49-F238E27FC236}">
                <a16:creationId xmlns:a16="http://schemas.microsoft.com/office/drawing/2014/main" id="{8B6B92D4-A6BA-07A2-309B-BC9E1C9CC0AF}"/>
              </a:ext>
            </a:extLst>
          </p:cNvPr>
          <p:cNvGrpSpPr/>
          <p:nvPr/>
        </p:nvGrpSpPr>
        <p:grpSpPr>
          <a:xfrm>
            <a:off x="4221843" y="6173608"/>
            <a:ext cx="3858458" cy="307777"/>
            <a:chOff x="8718540" y="6074474"/>
            <a:chExt cx="3858458" cy="307777"/>
          </a:xfrm>
        </p:grpSpPr>
        <p:sp>
          <p:nvSpPr>
            <p:cNvPr id="39" name="文本框 38">
              <a:extLst>
                <a:ext uri="{FF2B5EF4-FFF2-40B4-BE49-F238E27FC236}">
                  <a16:creationId xmlns:a16="http://schemas.microsoft.com/office/drawing/2014/main" id="{73799BC5-408E-CC5B-B079-2B07143C956C}"/>
                </a:ext>
              </a:extLst>
            </p:cNvPr>
            <p:cNvSpPr txBox="1"/>
            <p:nvPr/>
          </p:nvSpPr>
          <p:spPr>
            <a:xfrm>
              <a:off x="8849841" y="6074474"/>
              <a:ext cx="3595856" cy="307777"/>
            </a:xfrm>
            <a:prstGeom prst="rect">
              <a:avLst/>
            </a:prstGeom>
            <a:noFill/>
          </p:spPr>
          <p:txBody>
            <a:bodyPr wrap="none" rtlCol="0">
              <a:spAutoFit/>
            </a:bodyPr>
            <a:lstStyle/>
            <a:p>
              <a:pPr algn="ctr"/>
              <a:r>
                <a:rPr lang="zh-CN" altLang="en-US" sz="1400" b="1">
                  <a:solidFill>
                    <a:srgbClr val="C00000"/>
                  </a:solidFill>
                </a:rPr>
                <a:t>爆震预测正从经验判据转向机理化唯象模型</a:t>
              </a:r>
            </a:p>
          </p:txBody>
        </p:sp>
        <p:sp>
          <p:nvSpPr>
            <p:cNvPr id="40" name="箭头: V 形 39">
              <a:extLst>
                <a:ext uri="{FF2B5EF4-FFF2-40B4-BE49-F238E27FC236}">
                  <a16:creationId xmlns:a16="http://schemas.microsoft.com/office/drawing/2014/main" id="{7643C8AC-00A4-3E57-2210-8B0B3D5E833E}"/>
                </a:ext>
              </a:extLst>
            </p:cNvPr>
            <p:cNvSpPr/>
            <p:nvPr/>
          </p:nvSpPr>
          <p:spPr>
            <a:xfrm>
              <a:off x="8718540" y="6128121"/>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1" name="箭头: V 形 40">
              <a:extLst>
                <a:ext uri="{FF2B5EF4-FFF2-40B4-BE49-F238E27FC236}">
                  <a16:creationId xmlns:a16="http://schemas.microsoft.com/office/drawing/2014/main" id="{DA2B9065-F88F-C4CA-4784-4B4F724DFED1}"/>
                </a:ext>
              </a:extLst>
            </p:cNvPr>
            <p:cNvSpPr/>
            <p:nvPr/>
          </p:nvSpPr>
          <p:spPr>
            <a:xfrm rot="10800000">
              <a:off x="12429430" y="6128121"/>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56" name="组合 55">
            <a:extLst>
              <a:ext uri="{FF2B5EF4-FFF2-40B4-BE49-F238E27FC236}">
                <a16:creationId xmlns:a16="http://schemas.microsoft.com/office/drawing/2014/main" id="{D0F896DE-CD2A-98A3-D4AD-D4E692DFE400}"/>
              </a:ext>
            </a:extLst>
          </p:cNvPr>
          <p:cNvGrpSpPr/>
          <p:nvPr/>
        </p:nvGrpSpPr>
        <p:grpSpPr>
          <a:xfrm>
            <a:off x="8742868" y="3560091"/>
            <a:ext cx="2923983" cy="2767404"/>
            <a:chOff x="9017081" y="1630313"/>
            <a:chExt cx="2923983" cy="2767404"/>
          </a:xfrm>
        </p:grpSpPr>
        <p:sp>
          <p:nvSpPr>
            <p:cNvPr id="51" name="矩形 50">
              <a:extLst>
                <a:ext uri="{FF2B5EF4-FFF2-40B4-BE49-F238E27FC236}">
                  <a16:creationId xmlns:a16="http://schemas.microsoft.com/office/drawing/2014/main" id="{48542E63-AA9D-131D-D69D-FC686E9F5AE7}"/>
                </a:ext>
              </a:extLst>
            </p:cNvPr>
            <p:cNvSpPr/>
            <p:nvPr/>
          </p:nvSpPr>
          <p:spPr>
            <a:xfrm>
              <a:off x="9017081" y="1758649"/>
              <a:ext cx="2923983" cy="2639068"/>
            </a:xfrm>
            <a:prstGeom prst="rect">
              <a:avLst/>
            </a:prstGeom>
            <a:solidFill>
              <a:schemeClr val="bg1"/>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梯形 51">
              <a:extLst>
                <a:ext uri="{FF2B5EF4-FFF2-40B4-BE49-F238E27FC236}">
                  <a16:creationId xmlns:a16="http://schemas.microsoft.com/office/drawing/2014/main" id="{F3053F78-3CBB-6AC5-D126-035BEDF70198}"/>
                </a:ext>
              </a:extLst>
            </p:cNvPr>
            <p:cNvSpPr/>
            <p:nvPr/>
          </p:nvSpPr>
          <p:spPr>
            <a:xfrm>
              <a:off x="9482497" y="1630313"/>
              <a:ext cx="1981071" cy="304801"/>
            </a:xfrm>
            <a:prstGeom prst="trapezoid">
              <a:avLst>
                <a:gd name="adj"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bg1"/>
                  </a:solidFill>
                </a:rPr>
                <a:t>现有不足</a:t>
              </a:r>
            </a:p>
          </p:txBody>
        </p:sp>
        <p:sp>
          <p:nvSpPr>
            <p:cNvPr id="28" name="文本框 27">
              <a:extLst>
                <a:ext uri="{FF2B5EF4-FFF2-40B4-BE49-F238E27FC236}">
                  <a16:creationId xmlns:a16="http://schemas.microsoft.com/office/drawing/2014/main" id="{82DBC1BD-2DF7-D552-86D1-D04E4CD79191}"/>
                </a:ext>
              </a:extLst>
            </p:cNvPr>
            <p:cNvSpPr txBox="1"/>
            <p:nvPr/>
          </p:nvSpPr>
          <p:spPr>
            <a:xfrm>
              <a:off x="9205915" y="2038038"/>
              <a:ext cx="2114681" cy="338554"/>
            </a:xfrm>
            <a:prstGeom prst="rect">
              <a:avLst/>
            </a:prstGeom>
            <a:noFill/>
          </p:spPr>
          <p:txBody>
            <a:bodyPr wrap="none" rtlCol="0">
              <a:spAutoFit/>
            </a:bodyPr>
            <a:lstStyle/>
            <a:p>
              <a:pPr marL="285750" indent="-285750">
                <a:buClr>
                  <a:srgbClr val="C00000"/>
                </a:buClr>
                <a:buFont typeface="Wingdings" panose="05000000000000000000" pitchFamily="2" charset="2"/>
                <a:buChar char="u"/>
              </a:pPr>
              <a:r>
                <a:rPr lang="zh-CN" altLang="en-US" sz="1600">
                  <a:solidFill>
                    <a:srgbClr val="C00000"/>
                  </a:solidFill>
                </a:rPr>
                <a:t>依赖外部热力学库</a:t>
              </a:r>
            </a:p>
          </p:txBody>
        </p:sp>
        <p:sp>
          <p:nvSpPr>
            <p:cNvPr id="53" name="文本框 52">
              <a:extLst>
                <a:ext uri="{FF2B5EF4-FFF2-40B4-BE49-F238E27FC236}">
                  <a16:creationId xmlns:a16="http://schemas.microsoft.com/office/drawing/2014/main" id="{209AD0B2-C1BC-8BD2-E2CC-E7DC768870C8}"/>
                </a:ext>
              </a:extLst>
            </p:cNvPr>
            <p:cNvSpPr txBox="1"/>
            <p:nvPr/>
          </p:nvSpPr>
          <p:spPr>
            <a:xfrm>
              <a:off x="9308506" y="2280172"/>
              <a:ext cx="1909497" cy="738664"/>
            </a:xfrm>
            <a:prstGeom prst="rect">
              <a:avLst/>
            </a:prstGeom>
            <a:noFill/>
          </p:spPr>
          <p:txBody>
            <a:bodyPr wrap="none" rtlCol="0">
              <a:spAutoFit/>
            </a:bodyPr>
            <a:lstStyle/>
            <a:p>
              <a:pPr marL="285750" indent="-285750">
                <a:buClr>
                  <a:srgbClr val="C00000"/>
                </a:buClr>
                <a:buFont typeface="Arial" panose="020B0604020202020204" pitchFamily="34" charset="0"/>
                <a:buChar char="•"/>
              </a:pPr>
              <a:r>
                <a:rPr lang="zh-CN" altLang="en-US" sz="1400"/>
                <a:t>计算耗时长</a:t>
              </a:r>
              <a:endParaRPr lang="en-US" altLang="zh-CN" sz="1400"/>
            </a:p>
            <a:p>
              <a:pPr marL="285750" indent="-285750">
                <a:buClr>
                  <a:srgbClr val="C00000"/>
                </a:buClr>
                <a:buFont typeface="Arial" panose="020B0604020202020204" pitchFamily="34" charset="0"/>
                <a:buChar char="•"/>
              </a:pPr>
              <a:r>
                <a:rPr lang="zh-CN" altLang="en-US" sz="1400"/>
                <a:t>耦合困难</a:t>
              </a:r>
              <a:endParaRPr lang="en-US" altLang="zh-CN" sz="1400"/>
            </a:p>
            <a:p>
              <a:pPr marL="285750" indent="-285750">
                <a:buClr>
                  <a:srgbClr val="C00000"/>
                </a:buClr>
                <a:buFont typeface="Arial" panose="020B0604020202020204" pitchFamily="34" charset="0"/>
                <a:buChar char="•"/>
              </a:pPr>
              <a:r>
                <a:rPr lang="zh-CN" altLang="en-US" sz="1400"/>
                <a:t>联合仿真兼容性差</a:t>
              </a:r>
            </a:p>
          </p:txBody>
        </p:sp>
        <p:sp>
          <p:nvSpPr>
            <p:cNvPr id="54" name="文本框 53">
              <a:extLst>
                <a:ext uri="{FF2B5EF4-FFF2-40B4-BE49-F238E27FC236}">
                  <a16:creationId xmlns:a16="http://schemas.microsoft.com/office/drawing/2014/main" id="{8C995515-4BDC-7B23-DC37-E41077C09061}"/>
                </a:ext>
              </a:extLst>
            </p:cNvPr>
            <p:cNvSpPr txBox="1"/>
            <p:nvPr/>
          </p:nvSpPr>
          <p:spPr>
            <a:xfrm>
              <a:off x="9205915" y="3033058"/>
              <a:ext cx="2525050" cy="584775"/>
            </a:xfrm>
            <a:prstGeom prst="rect">
              <a:avLst/>
            </a:prstGeom>
            <a:noFill/>
          </p:spPr>
          <p:txBody>
            <a:bodyPr wrap="none" rtlCol="0">
              <a:spAutoFit/>
            </a:bodyPr>
            <a:lstStyle/>
            <a:p>
              <a:pPr marL="285750" indent="-285750">
                <a:buClr>
                  <a:srgbClr val="C00000"/>
                </a:buClr>
                <a:buFont typeface="Wingdings" panose="05000000000000000000" pitchFamily="2" charset="2"/>
                <a:buChar char="u"/>
              </a:pPr>
              <a:r>
                <a:rPr lang="zh-CN" altLang="en-US" sz="1600">
                  <a:solidFill>
                    <a:srgbClr val="C00000"/>
                  </a:solidFill>
                </a:rPr>
                <a:t>爆震预测多为准维模型</a:t>
              </a:r>
              <a:endParaRPr lang="en-US" altLang="zh-CN" sz="1600">
                <a:solidFill>
                  <a:srgbClr val="C00000"/>
                </a:solidFill>
              </a:endParaRPr>
            </a:p>
            <a:p>
              <a:pPr>
                <a:buClr>
                  <a:srgbClr val="C00000"/>
                </a:buClr>
              </a:pPr>
              <a:r>
                <a:rPr lang="en-US" altLang="zh-CN" sz="1600">
                  <a:solidFill>
                    <a:srgbClr val="C00000"/>
                  </a:solidFill>
                </a:rPr>
                <a:t>     </a:t>
              </a:r>
              <a:r>
                <a:rPr lang="zh-CN" altLang="en-US" sz="1600">
                  <a:solidFill>
                    <a:srgbClr val="C00000"/>
                  </a:solidFill>
                </a:rPr>
                <a:t>后处理</a:t>
              </a:r>
            </a:p>
          </p:txBody>
        </p:sp>
        <p:sp>
          <p:nvSpPr>
            <p:cNvPr id="55" name="文本框 54">
              <a:extLst>
                <a:ext uri="{FF2B5EF4-FFF2-40B4-BE49-F238E27FC236}">
                  <a16:creationId xmlns:a16="http://schemas.microsoft.com/office/drawing/2014/main" id="{972F64E8-9EAC-362E-D090-A06BC3E72A68}"/>
                </a:ext>
              </a:extLst>
            </p:cNvPr>
            <p:cNvSpPr txBox="1"/>
            <p:nvPr/>
          </p:nvSpPr>
          <p:spPr>
            <a:xfrm>
              <a:off x="9308505" y="3576945"/>
              <a:ext cx="1909497" cy="738664"/>
            </a:xfrm>
            <a:prstGeom prst="rect">
              <a:avLst/>
            </a:prstGeom>
            <a:noFill/>
          </p:spPr>
          <p:txBody>
            <a:bodyPr wrap="none" rtlCol="0">
              <a:spAutoFit/>
            </a:bodyPr>
            <a:lstStyle/>
            <a:p>
              <a:pPr marL="285750" indent="-285750">
                <a:buClr>
                  <a:srgbClr val="C00000"/>
                </a:buClr>
                <a:buFont typeface="Arial" panose="020B0604020202020204" pitchFamily="34" charset="0"/>
                <a:buChar char="•"/>
              </a:pPr>
              <a:r>
                <a:rPr lang="zh-CN" altLang="en-US" sz="1400"/>
                <a:t>实时性不足</a:t>
              </a:r>
              <a:endParaRPr lang="en-US" altLang="zh-CN" sz="1400"/>
            </a:p>
            <a:p>
              <a:pPr marL="285750" indent="-285750">
                <a:buClr>
                  <a:srgbClr val="C00000"/>
                </a:buClr>
                <a:buFont typeface="Arial" panose="020B0604020202020204" pitchFamily="34" charset="0"/>
                <a:buChar char="•"/>
              </a:pPr>
              <a:r>
                <a:rPr lang="zh-CN" altLang="en-US" sz="1400"/>
                <a:t>在线预测有限</a:t>
              </a:r>
              <a:endParaRPr lang="en-US" altLang="zh-CN" sz="1400"/>
            </a:p>
            <a:p>
              <a:pPr marL="285750" indent="-285750">
                <a:buClr>
                  <a:srgbClr val="C00000"/>
                </a:buClr>
                <a:buFont typeface="Arial" panose="020B0604020202020204" pitchFamily="34" charset="0"/>
                <a:buChar char="•"/>
              </a:pPr>
              <a:r>
                <a:rPr lang="zh-CN" altLang="en-US" sz="1400"/>
                <a:t>工程应用能力受限</a:t>
              </a:r>
            </a:p>
          </p:txBody>
        </p:sp>
      </p:grpSp>
      <p:grpSp>
        <p:nvGrpSpPr>
          <p:cNvPr id="69" name="组合 68">
            <a:extLst>
              <a:ext uri="{FF2B5EF4-FFF2-40B4-BE49-F238E27FC236}">
                <a16:creationId xmlns:a16="http://schemas.microsoft.com/office/drawing/2014/main" id="{FFF0B636-78E8-5203-25A6-A14B5574DACC}"/>
              </a:ext>
            </a:extLst>
          </p:cNvPr>
          <p:cNvGrpSpPr/>
          <p:nvPr/>
        </p:nvGrpSpPr>
        <p:grpSpPr>
          <a:xfrm>
            <a:off x="8334049" y="1096597"/>
            <a:ext cx="3576373" cy="1927597"/>
            <a:chOff x="8095767" y="1397876"/>
            <a:chExt cx="3576373" cy="1927597"/>
          </a:xfrm>
        </p:grpSpPr>
        <p:pic>
          <p:nvPicPr>
            <p:cNvPr id="30" name="图形 29" descr="V 形箭头 纯色填充">
              <a:extLst>
                <a:ext uri="{FF2B5EF4-FFF2-40B4-BE49-F238E27FC236}">
                  <a16:creationId xmlns:a16="http://schemas.microsoft.com/office/drawing/2014/main" id="{11917923-309B-4525-8B5A-BD575363CA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66089" y="2522921"/>
              <a:ext cx="392169" cy="392166"/>
            </a:xfrm>
            <a:prstGeom prst="rect">
              <a:avLst/>
            </a:prstGeom>
          </p:spPr>
        </p:pic>
        <p:grpSp>
          <p:nvGrpSpPr>
            <p:cNvPr id="58" name="组合 57">
              <a:extLst>
                <a:ext uri="{FF2B5EF4-FFF2-40B4-BE49-F238E27FC236}">
                  <a16:creationId xmlns:a16="http://schemas.microsoft.com/office/drawing/2014/main" id="{E924A14B-35FB-3950-5DAB-12FFB5671C01}"/>
                </a:ext>
              </a:extLst>
            </p:cNvPr>
            <p:cNvGrpSpPr/>
            <p:nvPr/>
          </p:nvGrpSpPr>
          <p:grpSpPr>
            <a:xfrm>
              <a:off x="8111007" y="1397876"/>
              <a:ext cx="3561133" cy="1927597"/>
              <a:chOff x="457200" y="1626063"/>
              <a:chExt cx="3561133" cy="1927597"/>
            </a:xfrm>
          </p:grpSpPr>
          <p:sp>
            <p:nvSpPr>
              <p:cNvPr id="65" name="矩形 64">
                <a:extLst>
                  <a:ext uri="{FF2B5EF4-FFF2-40B4-BE49-F238E27FC236}">
                    <a16:creationId xmlns:a16="http://schemas.microsoft.com/office/drawing/2014/main" id="{3655CBD7-2853-2912-A44D-9840665FE406}"/>
                  </a:ext>
                </a:extLst>
              </p:cNvPr>
              <p:cNvSpPr/>
              <p:nvPr/>
            </p:nvSpPr>
            <p:spPr>
              <a:xfrm>
                <a:off x="457200" y="1758648"/>
                <a:ext cx="3561133" cy="1795012"/>
              </a:xfrm>
              <a:prstGeom prst="rect">
                <a:avLst/>
              </a:prstGeom>
              <a:solidFill>
                <a:schemeClr val="bg1"/>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梯形 65">
                <a:extLst>
                  <a:ext uri="{FF2B5EF4-FFF2-40B4-BE49-F238E27FC236}">
                    <a16:creationId xmlns:a16="http://schemas.microsoft.com/office/drawing/2014/main" id="{43AAADF7-1C37-2E49-D7B2-1B494B389E04}"/>
                  </a:ext>
                </a:extLst>
              </p:cNvPr>
              <p:cNvSpPr/>
              <p:nvPr/>
            </p:nvSpPr>
            <p:spPr>
              <a:xfrm>
                <a:off x="1049214" y="1626063"/>
                <a:ext cx="2430780" cy="304801"/>
              </a:xfrm>
              <a:prstGeom prst="trapezoid">
                <a:avLst>
                  <a:gd name="adj" fmla="val 6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a:solidFill>
                      <a:schemeClr val="bg1"/>
                    </a:solidFill>
                  </a:rPr>
                  <a:t>双模型集成</a:t>
                </a:r>
              </a:p>
            </p:txBody>
          </p:sp>
        </p:grpSp>
        <p:sp>
          <p:nvSpPr>
            <p:cNvPr id="59" name="文本框 58">
              <a:extLst>
                <a:ext uri="{FF2B5EF4-FFF2-40B4-BE49-F238E27FC236}">
                  <a16:creationId xmlns:a16="http://schemas.microsoft.com/office/drawing/2014/main" id="{F9848205-5FEA-49BD-AA7C-E1E94522C767}"/>
                </a:ext>
              </a:extLst>
            </p:cNvPr>
            <p:cNvSpPr txBox="1"/>
            <p:nvPr/>
          </p:nvSpPr>
          <p:spPr>
            <a:xfrm>
              <a:off x="8103387" y="1693312"/>
              <a:ext cx="3561133" cy="95410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400" b="1">
                  <a:solidFill>
                    <a:srgbClr val="2F5597"/>
                  </a:solidFill>
                </a:rPr>
                <a:t>专利</a:t>
              </a:r>
              <a:r>
                <a:rPr lang="en-US" altLang="zh-CN" sz="1400" b="1" baseline="30000">
                  <a:solidFill>
                    <a:srgbClr val="2F5597"/>
                  </a:solidFill>
                </a:rPr>
                <a:t>[29]</a:t>
              </a:r>
              <a:r>
                <a:rPr lang="en-US" altLang="zh-CN" sz="1400" b="1">
                  <a:solidFill>
                    <a:srgbClr val="2F5597"/>
                  </a:solidFill>
                </a:rPr>
                <a:t>:</a:t>
              </a:r>
            </a:p>
            <a:p>
              <a:pPr algn="ctr"/>
              <a:r>
                <a:rPr lang="zh-CN" altLang="en-US" sz="1400"/>
                <a:t>面向氢内燃机燃烧及爆震过程的仿真模型构建方法以信号能量比方法实现爆震时刻的精准识别</a:t>
              </a:r>
            </a:p>
          </p:txBody>
        </p:sp>
        <p:sp>
          <p:nvSpPr>
            <p:cNvPr id="60" name="文本框 59">
              <a:extLst>
                <a:ext uri="{FF2B5EF4-FFF2-40B4-BE49-F238E27FC236}">
                  <a16:creationId xmlns:a16="http://schemas.microsoft.com/office/drawing/2014/main" id="{90BBB122-6C25-E629-F897-63D5E250D1DB}"/>
                </a:ext>
              </a:extLst>
            </p:cNvPr>
            <p:cNvSpPr txBox="1"/>
            <p:nvPr/>
          </p:nvSpPr>
          <p:spPr>
            <a:xfrm>
              <a:off x="8095767" y="2541166"/>
              <a:ext cx="3479013" cy="738664"/>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400" b="1">
                  <a:solidFill>
                    <a:srgbClr val="2F5597"/>
                  </a:solidFill>
                </a:rPr>
                <a:t>Rrustemi</a:t>
              </a:r>
              <a:r>
                <a:rPr lang="zh-CN" altLang="en-US" sz="1400" b="1">
                  <a:solidFill>
                    <a:srgbClr val="2F5597"/>
                  </a:solidFill>
                </a:rPr>
                <a:t>等</a:t>
              </a:r>
              <a:r>
                <a:rPr lang="en-US" altLang="zh-CN" sz="1400" b="1" baseline="30000">
                  <a:solidFill>
                    <a:srgbClr val="2F5597"/>
                  </a:solidFill>
                </a:rPr>
                <a:t>[27]</a:t>
              </a:r>
              <a:r>
                <a:rPr lang="en-US" altLang="zh-CN" sz="1400" b="1">
                  <a:solidFill>
                    <a:srgbClr val="2F5597"/>
                  </a:solidFill>
                </a:rPr>
                <a:t>:</a:t>
              </a:r>
            </a:p>
            <a:p>
              <a:pPr algn="ctr"/>
              <a:r>
                <a:rPr lang="zh-CN" altLang="en-US" sz="1400"/>
                <a:t>结合俩区热力学模型与</a:t>
              </a:r>
              <a:r>
                <a:rPr lang="en-US" altLang="zh-CN" sz="1400"/>
                <a:t>livengood-Wu</a:t>
              </a:r>
              <a:r>
                <a:rPr lang="zh-CN" altLang="en-US" sz="1400"/>
                <a:t>爆震积分法对发动机性能进行了系统分析</a:t>
              </a:r>
            </a:p>
          </p:txBody>
        </p:sp>
      </p:grpSp>
      <p:grpSp>
        <p:nvGrpSpPr>
          <p:cNvPr id="71" name="组合 70">
            <a:extLst>
              <a:ext uri="{FF2B5EF4-FFF2-40B4-BE49-F238E27FC236}">
                <a16:creationId xmlns:a16="http://schemas.microsoft.com/office/drawing/2014/main" id="{4CC4E4AA-9485-9F24-E62F-CC2704A90DDE}"/>
              </a:ext>
            </a:extLst>
          </p:cNvPr>
          <p:cNvGrpSpPr/>
          <p:nvPr/>
        </p:nvGrpSpPr>
        <p:grpSpPr>
          <a:xfrm>
            <a:off x="8532115" y="3081475"/>
            <a:ext cx="3180243" cy="307777"/>
            <a:chOff x="9057649" y="6074474"/>
            <a:chExt cx="3180243" cy="307777"/>
          </a:xfrm>
        </p:grpSpPr>
        <p:sp>
          <p:nvSpPr>
            <p:cNvPr id="72" name="文本框 71">
              <a:extLst>
                <a:ext uri="{FF2B5EF4-FFF2-40B4-BE49-F238E27FC236}">
                  <a16:creationId xmlns:a16="http://schemas.microsoft.com/office/drawing/2014/main" id="{65A59537-2516-E8F0-8884-92D04B818DD3}"/>
                </a:ext>
              </a:extLst>
            </p:cNvPr>
            <p:cNvSpPr txBox="1"/>
            <p:nvPr/>
          </p:nvSpPr>
          <p:spPr>
            <a:xfrm>
              <a:off x="9253799" y="6074474"/>
              <a:ext cx="2787943" cy="307777"/>
            </a:xfrm>
            <a:prstGeom prst="rect">
              <a:avLst/>
            </a:prstGeom>
            <a:noFill/>
          </p:spPr>
          <p:txBody>
            <a:bodyPr wrap="none" rtlCol="0">
              <a:spAutoFit/>
            </a:bodyPr>
            <a:lstStyle/>
            <a:p>
              <a:pPr algn="ctr"/>
              <a:r>
                <a:rPr lang="zh-CN" altLang="en-US" sz="1400" b="1">
                  <a:solidFill>
                    <a:srgbClr val="C00000"/>
                  </a:solidFill>
                </a:rPr>
                <a:t>燃烧</a:t>
              </a:r>
              <a:r>
                <a:rPr lang="en-US" altLang="zh-CN" sz="1400" b="1">
                  <a:solidFill>
                    <a:srgbClr val="C00000"/>
                  </a:solidFill>
                </a:rPr>
                <a:t>-</a:t>
              </a:r>
              <a:r>
                <a:rPr lang="zh-CN" altLang="en-US" sz="1400" b="1">
                  <a:solidFill>
                    <a:srgbClr val="C00000"/>
                  </a:solidFill>
                </a:rPr>
                <a:t>爆震一体化建模是现有趋势</a:t>
              </a:r>
            </a:p>
          </p:txBody>
        </p:sp>
        <p:sp>
          <p:nvSpPr>
            <p:cNvPr id="73" name="箭头: V 形 72">
              <a:extLst>
                <a:ext uri="{FF2B5EF4-FFF2-40B4-BE49-F238E27FC236}">
                  <a16:creationId xmlns:a16="http://schemas.microsoft.com/office/drawing/2014/main" id="{E52A87EE-6D8C-D38D-E7BC-74C59A9D18F5}"/>
                </a:ext>
              </a:extLst>
            </p:cNvPr>
            <p:cNvSpPr/>
            <p:nvPr/>
          </p:nvSpPr>
          <p:spPr>
            <a:xfrm>
              <a:off x="9057649" y="6124777"/>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 name="箭头: V 形 73">
              <a:extLst>
                <a:ext uri="{FF2B5EF4-FFF2-40B4-BE49-F238E27FC236}">
                  <a16:creationId xmlns:a16="http://schemas.microsoft.com/office/drawing/2014/main" id="{CEB1D45C-3EC7-0880-70F3-CC5176B58A3A}"/>
                </a:ext>
              </a:extLst>
            </p:cNvPr>
            <p:cNvSpPr/>
            <p:nvPr/>
          </p:nvSpPr>
          <p:spPr>
            <a:xfrm rot="10800000">
              <a:off x="12090324" y="6115243"/>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pic>
        <p:nvPicPr>
          <p:cNvPr id="75" name="图形 74" descr="V 形箭头 纯色填充">
            <a:extLst>
              <a:ext uri="{FF2B5EF4-FFF2-40B4-BE49-F238E27FC236}">
                <a16:creationId xmlns:a16="http://schemas.microsoft.com/office/drawing/2014/main" id="{BD938E85-0007-97C9-832F-E2D53141E7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63737" y="4811878"/>
            <a:ext cx="392169" cy="392166"/>
          </a:xfrm>
          <a:prstGeom prst="rect">
            <a:avLst/>
          </a:prstGeom>
        </p:spPr>
      </p:pic>
    </p:spTree>
    <p:extLst>
      <p:ext uri="{BB962C8B-B14F-4D97-AF65-F5344CB8AC3E}">
        <p14:creationId xmlns:p14="http://schemas.microsoft.com/office/powerpoint/2010/main" val="27132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EFD6E-85CA-557F-E867-1A7A0BEB1E5A}"/>
            </a:ext>
          </a:extLst>
        </p:cNvPr>
        <p:cNvGrpSpPr/>
        <p:nvPr/>
      </p:nvGrpSpPr>
      <p:grpSpPr>
        <a:xfrm>
          <a:off x="0" y="0"/>
          <a:ext cx="0" cy="0"/>
          <a:chOff x="0" y="0"/>
          <a:chExt cx="0" cy="0"/>
        </a:xfrm>
      </p:grpSpPr>
      <p:sp>
        <p:nvSpPr>
          <p:cNvPr id="90" name="矩形 89">
            <a:extLst>
              <a:ext uri="{FF2B5EF4-FFF2-40B4-BE49-F238E27FC236}">
                <a16:creationId xmlns:a16="http://schemas.microsoft.com/office/drawing/2014/main" id="{4F7F16DF-820A-9E5D-4D8A-6893F383B5B4}"/>
              </a:ext>
            </a:extLst>
          </p:cNvPr>
          <p:cNvSpPr/>
          <p:nvPr/>
        </p:nvSpPr>
        <p:spPr>
          <a:xfrm>
            <a:off x="8016625" y="1424418"/>
            <a:ext cx="3208162" cy="2493438"/>
          </a:xfrm>
          <a:prstGeom prst="rect">
            <a:avLst/>
          </a:prstGeom>
          <a:solidFill>
            <a:srgbClr val="FFFFFF"/>
          </a:solidFill>
          <a:ln w="28575">
            <a:no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97B1B948-0991-4503-A59D-98051069B008}"/>
              </a:ext>
            </a:extLst>
          </p:cNvPr>
          <p:cNvSpPr/>
          <p:nvPr/>
        </p:nvSpPr>
        <p:spPr>
          <a:xfrm>
            <a:off x="748222" y="4075094"/>
            <a:ext cx="3208162" cy="2016294"/>
          </a:xfrm>
          <a:prstGeom prst="rect">
            <a:avLst/>
          </a:prstGeom>
          <a:solidFill>
            <a:srgbClr val="FFFFFF"/>
          </a:solidFill>
          <a:ln w="28575">
            <a:no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311ADA61-4266-EC9D-F4A7-490CA101EAD0}"/>
              </a:ext>
            </a:extLst>
          </p:cNvPr>
          <p:cNvSpPr/>
          <p:nvPr/>
        </p:nvSpPr>
        <p:spPr>
          <a:xfrm>
            <a:off x="748222" y="1553482"/>
            <a:ext cx="3208162" cy="2421375"/>
          </a:xfrm>
          <a:prstGeom prst="rect">
            <a:avLst/>
          </a:prstGeom>
          <a:solidFill>
            <a:srgbClr val="FFFFFF"/>
          </a:solidFill>
          <a:ln w="12700">
            <a:no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4301B0EA-F610-B5B1-81AE-6399CD5B8E5C}"/>
              </a:ext>
            </a:extLst>
          </p:cNvPr>
          <p:cNvSpPr>
            <a:spLocks noGrp="1"/>
          </p:cNvSpPr>
          <p:nvPr>
            <p:ph type="title"/>
          </p:nvPr>
        </p:nvSpPr>
        <p:spPr/>
        <p:txBody>
          <a:bodyPr/>
          <a:lstStyle/>
          <a:p>
            <a:r>
              <a:rPr lang="zh-CN" altLang="en-US"/>
              <a:t>第一章</a:t>
            </a:r>
            <a:r>
              <a:rPr lang="en-US" altLang="zh-CN"/>
              <a:t>:</a:t>
            </a:r>
            <a:r>
              <a:rPr lang="zh-CN" altLang="en-US"/>
              <a:t>绪论</a:t>
            </a:r>
            <a:endParaRPr lang="zh-CN" altLang="en-US" dirty="0"/>
          </a:p>
        </p:txBody>
      </p:sp>
      <p:sp>
        <p:nvSpPr>
          <p:cNvPr id="47" name="矩形 46">
            <a:extLst>
              <a:ext uri="{FF2B5EF4-FFF2-40B4-BE49-F238E27FC236}">
                <a16:creationId xmlns:a16="http://schemas.microsoft.com/office/drawing/2014/main" id="{8EECCF83-7D6F-DF77-7198-E21102AE081D}"/>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dirty="0">
                <a:solidFill>
                  <a:srgbClr val="004A98"/>
                </a:solidFill>
                <a:latin typeface="Times New Roman" panose="02020603050405020304" pitchFamily="18" charset="0"/>
                <a:ea typeface="微软雅黑" panose="020B0503020204020204" pitchFamily="34" charset="-122"/>
                <a:cs typeface="+mn-ea"/>
              </a:rPr>
              <a:t>第三</a:t>
            </a:r>
            <a:r>
              <a:rPr lang="zh-CN" altLang="en-US" sz="2400" b="1">
                <a:solidFill>
                  <a:srgbClr val="004A98"/>
                </a:solidFill>
                <a:latin typeface="Times New Roman" panose="02020603050405020304" pitchFamily="18" charset="0"/>
                <a:ea typeface="微软雅黑" panose="020B0503020204020204" pitchFamily="34" charset="-122"/>
                <a:cs typeface="+mn-ea"/>
              </a:rPr>
              <a:t>节：本文主要研究内容与技术路线</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sp>
        <p:nvSpPr>
          <p:cNvPr id="46" name="矩形 45">
            <a:extLst>
              <a:ext uri="{FF2B5EF4-FFF2-40B4-BE49-F238E27FC236}">
                <a16:creationId xmlns:a16="http://schemas.microsoft.com/office/drawing/2014/main" id="{70AE2A80-3138-6403-1403-642C95802ED3}"/>
              </a:ext>
            </a:extLst>
          </p:cNvPr>
          <p:cNvSpPr/>
          <p:nvPr/>
        </p:nvSpPr>
        <p:spPr>
          <a:xfrm>
            <a:off x="214074" y="1741697"/>
            <a:ext cx="339119" cy="2057035"/>
          </a:xfrm>
          <a:prstGeom prst="rect">
            <a:avLst/>
          </a:prstGeom>
          <a:solidFill>
            <a:schemeClr val="accent1">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charset="-122"/>
                <a:ea typeface="微软雅黑" panose="020B0503020204020204" charset="-122"/>
              </a:rPr>
              <a:t>氢内燃机准维模型</a:t>
            </a:r>
          </a:p>
        </p:txBody>
      </p:sp>
      <p:sp>
        <p:nvSpPr>
          <p:cNvPr id="48" name="文本框 47">
            <a:extLst>
              <a:ext uri="{FF2B5EF4-FFF2-40B4-BE49-F238E27FC236}">
                <a16:creationId xmlns:a16="http://schemas.microsoft.com/office/drawing/2014/main" id="{AFD8320B-5D05-7584-7E62-F76F44062C84}"/>
              </a:ext>
            </a:extLst>
          </p:cNvPr>
          <p:cNvSpPr txBox="1"/>
          <p:nvPr/>
        </p:nvSpPr>
        <p:spPr>
          <a:xfrm>
            <a:off x="976234" y="1564652"/>
            <a:ext cx="279513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双区</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准维燃烧模型的</a:t>
            </a:r>
            <a:r>
              <a:rPr lang="zh-CN" altLang="en-US" sz="1600" b="1">
                <a:solidFill>
                  <a:prstClr val="black"/>
                </a:solidFill>
                <a:latin typeface="微软雅黑" panose="020B0503020204020204" pitchFamily="34" charset="-122"/>
                <a:ea typeface="微软雅黑" panose="020B0503020204020204" pitchFamily="34" charset="-122"/>
              </a:rPr>
              <a:t>开发</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9" name="path">
            <a:extLst>
              <a:ext uri="{FF2B5EF4-FFF2-40B4-BE49-F238E27FC236}">
                <a16:creationId xmlns:a16="http://schemas.microsoft.com/office/drawing/2014/main" id="{100D37D8-A7C6-5C6E-7ACE-18722BF133DA}"/>
              </a:ext>
            </a:extLst>
          </p:cNvPr>
          <p:cNvSpPr/>
          <p:nvPr>
            <p:custDataLst>
              <p:tags r:id="rId1"/>
            </p:custDataLst>
          </p:nvPr>
        </p:nvSpPr>
        <p:spPr>
          <a:xfrm>
            <a:off x="879549" y="1676044"/>
            <a:ext cx="96686" cy="106644"/>
          </a:xfrm>
          <a:custGeom>
            <a:avLst/>
            <a:gdLst/>
            <a:ahLst/>
            <a:cxnLst/>
            <a:rect l="0" t="0" r="0" b="0"/>
            <a:pathLst>
              <a:path w="266" h="264">
                <a:moveTo>
                  <a:pt x="0" y="264"/>
                </a:moveTo>
                <a:lnTo>
                  <a:pt x="266" y="264"/>
                </a:lnTo>
                <a:lnTo>
                  <a:pt x="266" y="0"/>
                </a:lnTo>
                <a:lnTo>
                  <a:pt x="0" y="0"/>
                </a:lnTo>
                <a:lnTo>
                  <a:pt x="0" y="264"/>
                </a:lnTo>
                <a:close/>
              </a:path>
            </a:pathLst>
          </a:custGeom>
          <a:solidFill>
            <a:srgbClr val="2F5597"/>
          </a:solidFill>
          <a:ln cap="flat">
            <a:solidFill>
              <a:schemeClr val="accent1">
                <a:lumMod val="60000"/>
                <a:lumOff val="40000"/>
              </a:schemeClr>
            </a:solidFill>
            <a:prstDash val="solid"/>
            <a:miter lim="0"/>
          </a:ln>
        </p:spPr>
        <p:txBody>
          <a:bodyPr rtlCol="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2F5597"/>
              </a:solidFill>
              <a:effectLst/>
              <a:uLnTx/>
              <a:uFillTx/>
              <a:latin typeface="汉仪宋韵朗黑W"/>
              <a:ea typeface="汉仪宋韵朗黑W"/>
              <a:cs typeface="+mn-cs"/>
            </a:endParaRPr>
          </a:p>
        </p:txBody>
      </p:sp>
      <p:pic>
        <p:nvPicPr>
          <p:cNvPr id="50" name="图形 49" descr="V 形箭头 纯色填充">
            <a:extLst>
              <a:ext uri="{FF2B5EF4-FFF2-40B4-BE49-F238E27FC236}">
                <a16:creationId xmlns:a16="http://schemas.microsoft.com/office/drawing/2014/main" id="{1B4B3DF9-5E96-EBA6-AED9-8DC0D8C9BE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004390" y="2628080"/>
            <a:ext cx="277518" cy="277516"/>
          </a:xfrm>
          <a:prstGeom prst="rect">
            <a:avLst/>
          </a:prstGeom>
        </p:spPr>
      </p:pic>
      <p:pic>
        <p:nvPicPr>
          <p:cNvPr id="52" name="图片 51">
            <a:extLst>
              <a:ext uri="{FF2B5EF4-FFF2-40B4-BE49-F238E27FC236}">
                <a16:creationId xmlns:a16="http://schemas.microsoft.com/office/drawing/2014/main" id="{AA25E150-C088-6653-093A-271826F8407F}"/>
              </a:ext>
            </a:extLst>
          </p:cNvPr>
          <p:cNvPicPr>
            <a:picLocks noChangeAspect="1"/>
          </p:cNvPicPr>
          <p:nvPr/>
        </p:nvPicPr>
        <p:blipFill>
          <a:blip r:embed="rId14"/>
          <a:stretch>
            <a:fillRect/>
          </a:stretch>
        </p:blipFill>
        <p:spPr>
          <a:xfrm>
            <a:off x="852880" y="2436275"/>
            <a:ext cx="2998843" cy="1164524"/>
          </a:xfrm>
          <a:prstGeom prst="rect">
            <a:avLst/>
          </a:prstGeom>
        </p:spPr>
      </p:pic>
      <p:sp>
        <p:nvSpPr>
          <p:cNvPr id="53" name="矩形 52">
            <a:extLst>
              <a:ext uri="{FF2B5EF4-FFF2-40B4-BE49-F238E27FC236}">
                <a16:creationId xmlns:a16="http://schemas.microsoft.com/office/drawing/2014/main" id="{2DA77D0A-63F9-6B2D-5E6C-CEED592E018A}"/>
              </a:ext>
            </a:extLst>
          </p:cNvPr>
          <p:cNvSpPr/>
          <p:nvPr>
            <p:custDataLst>
              <p:tags r:id="rId2"/>
            </p:custDataLst>
          </p:nvPr>
        </p:nvSpPr>
        <p:spPr>
          <a:xfrm>
            <a:off x="1191477" y="3563985"/>
            <a:ext cx="2319382" cy="354216"/>
          </a:xfrm>
          <a:prstGeom prst="rect">
            <a:avLst/>
          </a:prstGeom>
        </p:spPr>
        <p:txBody>
          <a:bodyPr wrap="square">
            <a:noAutofit/>
          </a:bodyPr>
          <a:lstStyle/>
          <a:p>
            <a:pPr lvl="0" indent="0" defTabSz="685800" fontAlgn="auto">
              <a:lnSpc>
                <a:spcPct val="150000"/>
              </a:lnSpc>
            </a:pPr>
            <a:r>
              <a:rPr lang="zh-CN" altLang="en-US" sz="1200">
                <a:latin typeface="+mn-ea"/>
                <a:cs typeface="汉仪旗黑-55简" panose="00020600040101010101" charset="-128"/>
                <a:sym typeface="Arial" panose="020B0604020202020204" pitchFamily="34" charset="0"/>
              </a:rPr>
              <a:t>图</a:t>
            </a:r>
            <a:r>
              <a:rPr lang="en-US" altLang="zh-CN" sz="1200">
                <a:latin typeface="+mn-ea"/>
                <a:cs typeface="汉仪旗黑-55简" panose="00020600040101010101" charset="-128"/>
                <a:sym typeface="Arial" panose="020B0604020202020204" pitchFamily="34" charset="0"/>
              </a:rPr>
              <a:t>1-1</a:t>
            </a:r>
            <a:r>
              <a:rPr lang="zh-CN" altLang="en-US" sz="1200">
                <a:latin typeface="+mn-ea"/>
                <a:cs typeface="汉仪旗黑-55简" panose="00020600040101010101" charset="-128"/>
                <a:sym typeface="Arial" panose="020B0604020202020204" pitchFamily="34" charset="0"/>
              </a:rPr>
              <a:t>：</a:t>
            </a:r>
            <a:r>
              <a:rPr lang="zh-CN" altLang="en-US" sz="1200" dirty="0">
                <a:latin typeface="+mn-ea"/>
                <a:cs typeface="汉仪旗黑-55简" panose="00020600040101010101" charset="-128"/>
                <a:sym typeface="Arial" panose="020B0604020202020204" pitchFamily="34" charset="0"/>
              </a:rPr>
              <a:t>复现准维模型原理框架</a:t>
            </a:r>
          </a:p>
        </p:txBody>
      </p:sp>
      <p:sp>
        <p:nvSpPr>
          <p:cNvPr id="54" name="文本框 53">
            <a:extLst>
              <a:ext uri="{FF2B5EF4-FFF2-40B4-BE49-F238E27FC236}">
                <a16:creationId xmlns:a16="http://schemas.microsoft.com/office/drawing/2014/main" id="{9D0E3CC8-C0B4-0B79-C4D7-28DBE7CB5CBB}"/>
              </a:ext>
            </a:extLst>
          </p:cNvPr>
          <p:cNvSpPr txBox="1"/>
          <p:nvPr/>
        </p:nvSpPr>
        <p:spPr>
          <a:xfrm>
            <a:off x="776742" y="1871619"/>
            <a:ext cx="320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a:solidFill>
                  <a:prstClr val="black"/>
                </a:solidFill>
                <a:latin typeface="微软雅黑" panose="020B0503020204020204" pitchFamily="34" charset="-122"/>
                <a:ea typeface="微软雅黑" panose="020B0503020204020204" pitchFamily="34" charset="-122"/>
              </a:rPr>
              <a:t>目标：基于课题组已有模型完成氢内燃机准维燃烧模型的开发</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55" name="组合 54">
            <a:extLst>
              <a:ext uri="{FF2B5EF4-FFF2-40B4-BE49-F238E27FC236}">
                <a16:creationId xmlns:a16="http://schemas.microsoft.com/office/drawing/2014/main" id="{A8165722-4BDB-8862-3785-74D75B3B001F}"/>
              </a:ext>
            </a:extLst>
          </p:cNvPr>
          <p:cNvGrpSpPr/>
          <p:nvPr/>
        </p:nvGrpSpPr>
        <p:grpSpPr>
          <a:xfrm>
            <a:off x="4347846" y="1553482"/>
            <a:ext cx="3684382" cy="2421376"/>
            <a:chOff x="4347846" y="1553482"/>
            <a:chExt cx="3684382" cy="2421376"/>
          </a:xfrm>
        </p:grpSpPr>
        <p:sp>
          <p:nvSpPr>
            <p:cNvPr id="60" name="矩形 59">
              <a:extLst>
                <a:ext uri="{FF2B5EF4-FFF2-40B4-BE49-F238E27FC236}">
                  <a16:creationId xmlns:a16="http://schemas.microsoft.com/office/drawing/2014/main" id="{9CA24939-5890-A7F1-F223-C13D7AA4DC9B}"/>
                </a:ext>
              </a:extLst>
            </p:cNvPr>
            <p:cNvSpPr/>
            <p:nvPr/>
          </p:nvSpPr>
          <p:spPr>
            <a:xfrm>
              <a:off x="4347846" y="1553482"/>
              <a:ext cx="3208162" cy="2421376"/>
            </a:xfrm>
            <a:prstGeom prst="rect">
              <a:avLst/>
            </a:prstGeom>
            <a:solidFill>
              <a:srgbClr val="FFFFFF"/>
            </a:solidFill>
            <a:ln w="12700">
              <a:no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7955E276-217E-A487-E685-A966686E2878}"/>
                </a:ext>
              </a:extLst>
            </p:cNvPr>
            <p:cNvSpPr txBox="1"/>
            <p:nvPr/>
          </p:nvSpPr>
          <p:spPr>
            <a:xfrm>
              <a:off x="6749528" y="2264461"/>
              <a:ext cx="128270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7" name="文本框 56">
              <a:extLst>
                <a:ext uri="{FF2B5EF4-FFF2-40B4-BE49-F238E27FC236}">
                  <a16:creationId xmlns:a16="http://schemas.microsoft.com/office/drawing/2014/main" id="{477A17F1-D31A-2418-32BE-EC2723C20808}"/>
                </a:ext>
              </a:extLst>
            </p:cNvPr>
            <p:cNvSpPr txBox="1"/>
            <p:nvPr/>
          </p:nvSpPr>
          <p:spPr>
            <a:xfrm>
              <a:off x="4575858" y="1564650"/>
              <a:ext cx="211754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消除第三方库的依赖</a:t>
              </a:r>
            </a:p>
          </p:txBody>
        </p:sp>
        <p:sp>
          <p:nvSpPr>
            <p:cNvPr id="58" name="path">
              <a:extLst>
                <a:ext uri="{FF2B5EF4-FFF2-40B4-BE49-F238E27FC236}">
                  <a16:creationId xmlns:a16="http://schemas.microsoft.com/office/drawing/2014/main" id="{EC0BD5D9-2683-33F8-4080-4DAA290E94F0}"/>
                </a:ext>
              </a:extLst>
            </p:cNvPr>
            <p:cNvSpPr/>
            <p:nvPr>
              <p:custDataLst>
                <p:tags r:id="rId10"/>
              </p:custDataLst>
            </p:nvPr>
          </p:nvSpPr>
          <p:spPr>
            <a:xfrm>
              <a:off x="4479173" y="1676043"/>
              <a:ext cx="96686" cy="106644"/>
            </a:xfrm>
            <a:custGeom>
              <a:avLst/>
              <a:gdLst/>
              <a:ahLst/>
              <a:cxnLst/>
              <a:rect l="0" t="0" r="0" b="0"/>
              <a:pathLst>
                <a:path w="266" h="264">
                  <a:moveTo>
                    <a:pt x="0" y="264"/>
                  </a:moveTo>
                  <a:lnTo>
                    <a:pt x="266" y="264"/>
                  </a:lnTo>
                  <a:lnTo>
                    <a:pt x="266" y="0"/>
                  </a:lnTo>
                  <a:lnTo>
                    <a:pt x="0" y="0"/>
                  </a:lnTo>
                  <a:lnTo>
                    <a:pt x="0" y="264"/>
                  </a:lnTo>
                  <a:close/>
                </a:path>
              </a:pathLst>
            </a:custGeom>
            <a:solidFill>
              <a:schemeClr val="accent1">
                <a:lumMod val="60000"/>
                <a:lumOff val="40000"/>
              </a:schemeClr>
            </a:solidFill>
            <a:ln cap="flat">
              <a:solidFill>
                <a:schemeClr val="accent1">
                  <a:lumMod val="60000"/>
                  <a:lumOff val="40000"/>
                </a:schemeClr>
              </a:solidFill>
              <a:prstDash val="solid"/>
              <a:miter lim="0"/>
            </a:ln>
          </p:spPr>
          <p:txBody>
            <a:bodyPr rtlCol="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汉仪宋韵朗黑W"/>
                <a:ea typeface="汉仪宋韵朗黑W"/>
                <a:cs typeface="+mn-cs"/>
              </a:endParaRPr>
            </a:p>
          </p:txBody>
        </p:sp>
        <p:pic>
          <p:nvPicPr>
            <p:cNvPr id="59" name="图形 58" descr="V 形箭头 纯色填充">
              <a:extLst>
                <a:ext uri="{FF2B5EF4-FFF2-40B4-BE49-F238E27FC236}">
                  <a16:creationId xmlns:a16="http://schemas.microsoft.com/office/drawing/2014/main" id="{1E2711EA-149F-921D-D033-08F29CAC8F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7910" y="2628080"/>
              <a:ext cx="277518" cy="277516"/>
            </a:xfrm>
            <a:prstGeom prst="rect">
              <a:avLst/>
            </a:prstGeom>
          </p:spPr>
        </p:pic>
        <p:sp>
          <p:nvSpPr>
            <p:cNvPr id="61" name="文本框 60">
              <a:extLst>
                <a:ext uri="{FF2B5EF4-FFF2-40B4-BE49-F238E27FC236}">
                  <a16:creationId xmlns:a16="http://schemas.microsoft.com/office/drawing/2014/main" id="{EE758B8C-A8E2-4CE5-0CD0-3E6DA2ED236A}"/>
                </a:ext>
              </a:extLst>
            </p:cNvPr>
            <p:cNvSpPr txBox="1"/>
            <p:nvPr/>
          </p:nvSpPr>
          <p:spPr>
            <a:xfrm>
              <a:off x="4393837" y="1882925"/>
              <a:ext cx="307498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dirty="0">
                  <a:solidFill>
                    <a:prstClr val="black"/>
                  </a:solidFill>
                  <a:latin typeface="微软雅黑" panose="020B0503020204020204" pitchFamily="34" charset="-122"/>
                  <a:ea typeface="微软雅黑" panose="020B0503020204020204" pitchFamily="34" charset="-122"/>
                </a:rPr>
                <a:t>目标：解决第三方库依赖的问题</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2" name="文本框 61">
              <a:extLst>
                <a:ext uri="{FF2B5EF4-FFF2-40B4-BE49-F238E27FC236}">
                  <a16:creationId xmlns:a16="http://schemas.microsoft.com/office/drawing/2014/main" id="{4847F77B-B425-AB51-3545-EA358923F811}"/>
                </a:ext>
              </a:extLst>
            </p:cNvPr>
            <p:cNvSpPr txBox="1"/>
            <p:nvPr/>
          </p:nvSpPr>
          <p:spPr>
            <a:xfrm>
              <a:off x="4393836" y="2137884"/>
              <a:ext cx="3219143"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black"/>
                  </a:solidFill>
                  <a:latin typeface="微软雅黑" panose="020B0503020204020204" pitchFamily="34" charset="-122"/>
                  <a:ea typeface="微软雅黑" panose="020B0503020204020204" pitchFamily="34" charset="-122"/>
                </a:rPr>
                <a:t>自主编写热物性参数计算模块与层流火焰速度计算模块，消除对第三方库（</a:t>
              </a:r>
              <a:r>
                <a:rPr lang="en-US" altLang="zh-CN" sz="1400" dirty="0" err="1">
                  <a:solidFill>
                    <a:prstClr val="black"/>
                  </a:solidFill>
                  <a:latin typeface="微软雅黑" panose="020B0503020204020204" pitchFamily="34" charset="-122"/>
                  <a:ea typeface="微软雅黑" panose="020B0503020204020204" pitchFamily="34" charset="-122"/>
                </a:rPr>
                <a:t>cantera</a:t>
              </a:r>
              <a:r>
                <a:rPr lang="zh-CN" altLang="en-US" sz="1400" dirty="0">
                  <a:solidFill>
                    <a:prstClr val="black"/>
                  </a:solidFill>
                  <a:latin typeface="微软雅黑" panose="020B0503020204020204" pitchFamily="34" charset="-122"/>
                  <a:ea typeface="微软雅黑" panose="020B0503020204020204" pitchFamily="34" charset="-122"/>
                </a:rPr>
                <a:t>）的依赖</a:t>
              </a:r>
              <a:endPar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pic>
        <p:nvPicPr>
          <p:cNvPr id="63" name="图形 62" descr="V 形箭头 纯色填充">
            <a:extLst>
              <a:ext uri="{FF2B5EF4-FFF2-40B4-BE49-F238E27FC236}">
                <a16:creationId xmlns:a16="http://schemas.microsoft.com/office/drawing/2014/main" id="{5CDDCDB6-32B3-7079-531C-58D61AF989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5400000">
            <a:off x="9503726" y="3784727"/>
            <a:ext cx="282300" cy="603051"/>
          </a:xfrm>
          <a:prstGeom prst="rect">
            <a:avLst/>
          </a:prstGeom>
        </p:spPr>
      </p:pic>
      <p:grpSp>
        <p:nvGrpSpPr>
          <p:cNvPr id="64" name="组合 63">
            <a:extLst>
              <a:ext uri="{FF2B5EF4-FFF2-40B4-BE49-F238E27FC236}">
                <a16:creationId xmlns:a16="http://schemas.microsoft.com/office/drawing/2014/main" id="{304379E3-8D05-D4F3-7BA5-4DFAA95CEB9F}"/>
              </a:ext>
            </a:extLst>
          </p:cNvPr>
          <p:cNvGrpSpPr/>
          <p:nvPr/>
        </p:nvGrpSpPr>
        <p:grpSpPr>
          <a:xfrm>
            <a:off x="8016625" y="4262135"/>
            <a:ext cx="3208162" cy="1829254"/>
            <a:chOff x="7982318" y="1521897"/>
            <a:chExt cx="3208162" cy="1829254"/>
          </a:xfrm>
        </p:grpSpPr>
        <p:sp>
          <p:nvSpPr>
            <p:cNvPr id="67" name="矩形 66">
              <a:extLst>
                <a:ext uri="{FF2B5EF4-FFF2-40B4-BE49-F238E27FC236}">
                  <a16:creationId xmlns:a16="http://schemas.microsoft.com/office/drawing/2014/main" id="{164E93C1-BD73-AD36-7EEE-47036EB7D6F9}"/>
                </a:ext>
              </a:extLst>
            </p:cNvPr>
            <p:cNvSpPr/>
            <p:nvPr/>
          </p:nvSpPr>
          <p:spPr>
            <a:xfrm>
              <a:off x="7982318" y="1521897"/>
              <a:ext cx="3208162" cy="1829254"/>
            </a:xfrm>
            <a:prstGeom prst="rect">
              <a:avLst/>
            </a:prstGeom>
            <a:solidFill>
              <a:schemeClr val="bg1"/>
            </a:solidFill>
            <a:ln w="28575">
              <a:no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003D1FCA-B352-9554-818E-22557EAC687D}"/>
                </a:ext>
              </a:extLst>
            </p:cNvPr>
            <p:cNvSpPr txBox="1"/>
            <p:nvPr/>
          </p:nvSpPr>
          <p:spPr>
            <a:xfrm>
              <a:off x="8210330" y="1533065"/>
              <a:ext cx="227235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试验标定与验证准确性</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6" name="path">
              <a:extLst>
                <a:ext uri="{FF2B5EF4-FFF2-40B4-BE49-F238E27FC236}">
                  <a16:creationId xmlns:a16="http://schemas.microsoft.com/office/drawing/2014/main" id="{A53536EA-5655-C254-17DB-895BA4A3FE77}"/>
                </a:ext>
              </a:extLst>
            </p:cNvPr>
            <p:cNvSpPr/>
            <p:nvPr>
              <p:custDataLst>
                <p:tags r:id="rId9"/>
              </p:custDataLst>
            </p:nvPr>
          </p:nvSpPr>
          <p:spPr>
            <a:xfrm>
              <a:off x="8113645" y="1644457"/>
              <a:ext cx="96686" cy="106644"/>
            </a:xfrm>
            <a:custGeom>
              <a:avLst/>
              <a:gdLst/>
              <a:ahLst/>
              <a:cxnLst/>
              <a:rect l="0" t="0" r="0" b="0"/>
              <a:pathLst>
                <a:path w="266" h="264">
                  <a:moveTo>
                    <a:pt x="0" y="264"/>
                  </a:moveTo>
                  <a:lnTo>
                    <a:pt x="266" y="264"/>
                  </a:lnTo>
                  <a:lnTo>
                    <a:pt x="266" y="0"/>
                  </a:lnTo>
                  <a:lnTo>
                    <a:pt x="0" y="0"/>
                  </a:lnTo>
                  <a:lnTo>
                    <a:pt x="0" y="264"/>
                  </a:lnTo>
                  <a:close/>
                </a:path>
              </a:pathLst>
            </a:custGeom>
            <a:solidFill>
              <a:schemeClr val="accent1">
                <a:lumMod val="60000"/>
                <a:lumOff val="40000"/>
              </a:schemeClr>
            </a:solidFill>
            <a:ln cap="flat">
              <a:solidFill>
                <a:schemeClr val="accent1">
                  <a:lumMod val="60000"/>
                  <a:lumOff val="40000"/>
                </a:schemeClr>
              </a:solidFill>
              <a:prstDash val="solid"/>
              <a:miter lim="0"/>
            </a:ln>
          </p:spPr>
          <p:txBody>
            <a:bodyPr rtlCol="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汉仪宋韵朗黑W"/>
                <a:ea typeface="汉仪宋韵朗黑W"/>
                <a:cs typeface="+mn-cs"/>
              </a:endParaRPr>
            </a:p>
          </p:txBody>
        </p:sp>
        <p:sp>
          <p:nvSpPr>
            <p:cNvPr id="68" name="文本框 67">
              <a:extLst>
                <a:ext uri="{FF2B5EF4-FFF2-40B4-BE49-F238E27FC236}">
                  <a16:creationId xmlns:a16="http://schemas.microsoft.com/office/drawing/2014/main" id="{0629A1A5-A62F-3E35-2FE5-5FF4F6D2594A}"/>
                </a:ext>
              </a:extLst>
            </p:cNvPr>
            <p:cNvSpPr txBox="1"/>
            <p:nvPr/>
          </p:nvSpPr>
          <p:spPr>
            <a:xfrm>
              <a:off x="8028309" y="1851339"/>
              <a:ext cx="3074981"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a:solidFill>
                    <a:prstClr val="black"/>
                  </a:solidFill>
                  <a:latin typeface="微软雅黑" panose="020B0503020204020204" pitchFamily="34" charset="-122"/>
                  <a:ea typeface="微软雅黑" panose="020B0503020204020204" pitchFamily="34" charset="-122"/>
                </a:rPr>
                <a:t>目标：通过试验真实数据标定模型并分别验证准维燃烧模型与爆震模型准确度</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74" name="文本框 73">
            <a:extLst>
              <a:ext uri="{FF2B5EF4-FFF2-40B4-BE49-F238E27FC236}">
                <a16:creationId xmlns:a16="http://schemas.microsoft.com/office/drawing/2014/main" id="{76D64C28-F956-6255-7D0B-E0D0DEF90318}"/>
              </a:ext>
            </a:extLst>
          </p:cNvPr>
          <p:cNvSpPr txBox="1"/>
          <p:nvPr/>
        </p:nvSpPr>
        <p:spPr>
          <a:xfrm>
            <a:off x="3149904" y="4786072"/>
            <a:ext cx="128270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 name="文本框 74">
            <a:extLst>
              <a:ext uri="{FF2B5EF4-FFF2-40B4-BE49-F238E27FC236}">
                <a16:creationId xmlns:a16="http://schemas.microsoft.com/office/drawing/2014/main" id="{88F96F3C-54E7-A30D-7815-6B2D21FE1C6A}"/>
              </a:ext>
            </a:extLst>
          </p:cNvPr>
          <p:cNvSpPr txBox="1"/>
          <p:nvPr/>
        </p:nvSpPr>
        <p:spPr>
          <a:xfrm>
            <a:off x="976235" y="4086261"/>
            <a:ext cx="17377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调研爆震机理</a:t>
            </a:r>
          </a:p>
        </p:txBody>
      </p:sp>
      <p:sp>
        <p:nvSpPr>
          <p:cNvPr id="76" name="path">
            <a:extLst>
              <a:ext uri="{FF2B5EF4-FFF2-40B4-BE49-F238E27FC236}">
                <a16:creationId xmlns:a16="http://schemas.microsoft.com/office/drawing/2014/main" id="{6180C116-E28D-681F-7E70-D27F1774E815}"/>
              </a:ext>
            </a:extLst>
          </p:cNvPr>
          <p:cNvSpPr/>
          <p:nvPr>
            <p:custDataLst>
              <p:tags r:id="rId3"/>
            </p:custDataLst>
          </p:nvPr>
        </p:nvSpPr>
        <p:spPr>
          <a:xfrm>
            <a:off x="879549" y="4197654"/>
            <a:ext cx="96686" cy="106644"/>
          </a:xfrm>
          <a:custGeom>
            <a:avLst/>
            <a:gdLst/>
            <a:ahLst/>
            <a:cxnLst/>
            <a:rect l="0" t="0" r="0" b="0"/>
            <a:pathLst>
              <a:path w="266" h="264">
                <a:moveTo>
                  <a:pt x="0" y="264"/>
                </a:moveTo>
                <a:lnTo>
                  <a:pt x="266" y="264"/>
                </a:lnTo>
                <a:lnTo>
                  <a:pt x="266" y="0"/>
                </a:lnTo>
                <a:lnTo>
                  <a:pt x="0" y="0"/>
                </a:lnTo>
                <a:lnTo>
                  <a:pt x="0" y="264"/>
                </a:lnTo>
                <a:close/>
              </a:path>
            </a:pathLst>
          </a:custGeom>
          <a:solidFill>
            <a:schemeClr val="accent1">
              <a:lumMod val="60000"/>
              <a:lumOff val="40000"/>
            </a:schemeClr>
          </a:solidFill>
          <a:ln cap="flat">
            <a:solidFill>
              <a:schemeClr val="accent1">
                <a:lumMod val="60000"/>
                <a:lumOff val="40000"/>
              </a:schemeClr>
            </a:solidFill>
            <a:prstDash val="solid"/>
            <a:miter lim="0"/>
          </a:ln>
        </p:spPr>
        <p:txBody>
          <a:bodyPr rtlCol="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汉仪宋韵朗黑W"/>
              <a:ea typeface="汉仪宋韵朗黑W"/>
              <a:cs typeface="+mn-cs"/>
            </a:endParaRPr>
          </a:p>
        </p:txBody>
      </p:sp>
      <p:pic>
        <p:nvPicPr>
          <p:cNvPr id="77" name="图形 76" descr="V 形箭头 纯色填充">
            <a:extLst>
              <a:ext uri="{FF2B5EF4-FFF2-40B4-BE49-F238E27FC236}">
                <a16:creationId xmlns:a16="http://schemas.microsoft.com/office/drawing/2014/main" id="{9205F2F8-FD0A-D192-37E4-E1D3EE0386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013356" y="4879782"/>
            <a:ext cx="277518" cy="277516"/>
          </a:xfrm>
          <a:prstGeom prst="rect">
            <a:avLst/>
          </a:prstGeom>
        </p:spPr>
      </p:pic>
      <p:sp>
        <p:nvSpPr>
          <p:cNvPr id="79" name="文本框 78">
            <a:extLst>
              <a:ext uri="{FF2B5EF4-FFF2-40B4-BE49-F238E27FC236}">
                <a16:creationId xmlns:a16="http://schemas.microsoft.com/office/drawing/2014/main" id="{5DC8EAAD-23E1-2FAE-6EC8-93F86A82F801}"/>
              </a:ext>
            </a:extLst>
          </p:cNvPr>
          <p:cNvSpPr txBox="1"/>
          <p:nvPr/>
        </p:nvSpPr>
        <p:spPr>
          <a:xfrm>
            <a:off x="748223" y="4404534"/>
            <a:ext cx="320816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dirty="0">
                <a:solidFill>
                  <a:prstClr val="black"/>
                </a:solidFill>
                <a:latin typeface="微软雅黑" panose="020B0503020204020204" pitchFamily="34" charset="-122"/>
                <a:ea typeface="微软雅黑" panose="020B0503020204020204" pitchFamily="34" charset="-122"/>
              </a:rPr>
              <a:t>目标：明确氢气在内燃机中的</a:t>
            </a:r>
            <a:r>
              <a:rPr lang="zh-CN" altLang="en-US" sz="1400" b="1">
                <a:solidFill>
                  <a:prstClr val="black"/>
                </a:solidFill>
                <a:latin typeface="微软雅黑" panose="020B0503020204020204" pitchFamily="34" charset="-122"/>
                <a:ea typeface="微软雅黑" panose="020B0503020204020204" pitchFamily="34" charset="-122"/>
              </a:rPr>
              <a:t>爆震机理以及爆震发生准则</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83" name="图形 82" descr="V 形箭头 纯色填充">
            <a:extLst>
              <a:ext uri="{FF2B5EF4-FFF2-40B4-BE49-F238E27FC236}">
                <a16:creationId xmlns:a16="http://schemas.microsoft.com/office/drawing/2014/main" id="{585DC33A-BCF8-3B00-1466-AC0B0DE932D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15043" y="4890940"/>
            <a:ext cx="277518" cy="277516"/>
          </a:xfrm>
          <a:prstGeom prst="rect">
            <a:avLst/>
          </a:prstGeom>
        </p:spPr>
      </p:pic>
      <p:sp>
        <p:nvSpPr>
          <p:cNvPr id="88" name="文本框 87">
            <a:extLst>
              <a:ext uri="{FF2B5EF4-FFF2-40B4-BE49-F238E27FC236}">
                <a16:creationId xmlns:a16="http://schemas.microsoft.com/office/drawing/2014/main" id="{DB218DA5-EB5A-41BB-0675-C959ADA8B729}"/>
              </a:ext>
            </a:extLst>
          </p:cNvPr>
          <p:cNvSpPr txBox="1"/>
          <p:nvPr/>
        </p:nvSpPr>
        <p:spPr>
          <a:xfrm>
            <a:off x="8244637" y="1435587"/>
            <a:ext cx="266720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准维与唯</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象</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模型的</a:t>
            </a:r>
            <a:r>
              <a:rPr lang="zh-CN" altLang="en-US" sz="1600" b="1">
                <a:solidFill>
                  <a:prstClr val="black"/>
                </a:solidFill>
                <a:latin typeface="微软雅黑" panose="020B0503020204020204" pitchFamily="34" charset="-122"/>
                <a:ea typeface="微软雅黑" panose="020B0503020204020204" pitchFamily="34" charset="-122"/>
              </a:rPr>
              <a:t>在线集成</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9" name="path">
            <a:extLst>
              <a:ext uri="{FF2B5EF4-FFF2-40B4-BE49-F238E27FC236}">
                <a16:creationId xmlns:a16="http://schemas.microsoft.com/office/drawing/2014/main" id="{AB34FBD9-D950-27FC-F5B8-1E177D9159C1}"/>
              </a:ext>
            </a:extLst>
          </p:cNvPr>
          <p:cNvSpPr/>
          <p:nvPr>
            <p:custDataLst>
              <p:tags r:id="rId4"/>
            </p:custDataLst>
          </p:nvPr>
        </p:nvSpPr>
        <p:spPr>
          <a:xfrm>
            <a:off x="8147952" y="1546979"/>
            <a:ext cx="96686" cy="106644"/>
          </a:xfrm>
          <a:custGeom>
            <a:avLst/>
            <a:gdLst/>
            <a:ahLst/>
            <a:cxnLst/>
            <a:rect l="0" t="0" r="0" b="0"/>
            <a:pathLst>
              <a:path w="266" h="264">
                <a:moveTo>
                  <a:pt x="0" y="264"/>
                </a:moveTo>
                <a:lnTo>
                  <a:pt x="266" y="264"/>
                </a:lnTo>
                <a:lnTo>
                  <a:pt x="266" y="0"/>
                </a:lnTo>
                <a:lnTo>
                  <a:pt x="0" y="0"/>
                </a:lnTo>
                <a:lnTo>
                  <a:pt x="0" y="264"/>
                </a:lnTo>
                <a:close/>
              </a:path>
            </a:pathLst>
          </a:custGeom>
          <a:solidFill>
            <a:schemeClr val="accent1">
              <a:lumMod val="60000"/>
              <a:lumOff val="40000"/>
            </a:schemeClr>
          </a:solidFill>
          <a:ln cap="flat">
            <a:solidFill>
              <a:schemeClr val="accent1">
                <a:lumMod val="60000"/>
                <a:lumOff val="40000"/>
              </a:schemeClr>
            </a:solidFill>
            <a:prstDash val="solid"/>
            <a:miter lim="0"/>
          </a:ln>
        </p:spPr>
        <p:txBody>
          <a:bodyPr rtlCol="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汉仪宋韵朗黑W"/>
              <a:ea typeface="汉仪宋韵朗黑W"/>
              <a:cs typeface="+mn-cs"/>
            </a:endParaRPr>
          </a:p>
        </p:txBody>
      </p:sp>
      <p:sp>
        <p:nvSpPr>
          <p:cNvPr id="91" name="文本框 90">
            <a:extLst>
              <a:ext uri="{FF2B5EF4-FFF2-40B4-BE49-F238E27FC236}">
                <a16:creationId xmlns:a16="http://schemas.microsoft.com/office/drawing/2014/main" id="{92CCB2C7-F8BB-54E9-1AF1-98E34943DD5E}"/>
              </a:ext>
            </a:extLst>
          </p:cNvPr>
          <p:cNvSpPr txBox="1"/>
          <p:nvPr/>
        </p:nvSpPr>
        <p:spPr>
          <a:xfrm>
            <a:off x="8062616" y="1753861"/>
            <a:ext cx="307498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a:solidFill>
                  <a:prstClr val="black"/>
                </a:solidFill>
                <a:latin typeface="微软雅黑" panose="020B0503020204020204" pitchFamily="34" charset="-122"/>
                <a:ea typeface="微软雅黑" panose="020B0503020204020204" pitchFamily="34" charset="-122"/>
              </a:rPr>
              <a:t>目标：在线步进共同计算双</a:t>
            </a:r>
            <a:r>
              <a:rPr lang="zh-CN" altLang="en-US" sz="1400" b="1" dirty="0">
                <a:solidFill>
                  <a:prstClr val="black"/>
                </a:solidFill>
                <a:latin typeface="微软雅黑" panose="020B0503020204020204" pitchFamily="34" charset="-122"/>
                <a:ea typeface="微软雅黑" panose="020B0503020204020204" pitchFamily="34" charset="-122"/>
              </a:rPr>
              <a:t>区准维模型与爆震唯象模型</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93" name="组合 92">
            <a:extLst>
              <a:ext uri="{FF2B5EF4-FFF2-40B4-BE49-F238E27FC236}">
                <a16:creationId xmlns:a16="http://schemas.microsoft.com/office/drawing/2014/main" id="{231F3FA6-0780-5A0C-339A-DBBA6DDF4AA9}"/>
              </a:ext>
            </a:extLst>
          </p:cNvPr>
          <p:cNvGrpSpPr/>
          <p:nvPr/>
        </p:nvGrpSpPr>
        <p:grpSpPr>
          <a:xfrm>
            <a:off x="4761561" y="2874120"/>
            <a:ext cx="2440039" cy="616796"/>
            <a:chOff x="4377728" y="3042475"/>
            <a:chExt cx="2440039" cy="616796"/>
          </a:xfrm>
        </p:grpSpPr>
        <p:grpSp>
          <p:nvGrpSpPr>
            <p:cNvPr id="94" name="组合 93">
              <a:extLst>
                <a:ext uri="{FF2B5EF4-FFF2-40B4-BE49-F238E27FC236}">
                  <a16:creationId xmlns:a16="http://schemas.microsoft.com/office/drawing/2014/main" id="{8A06B16A-B04E-6C05-7E2E-DD01D97517A9}"/>
                </a:ext>
              </a:extLst>
            </p:cNvPr>
            <p:cNvGrpSpPr/>
            <p:nvPr/>
          </p:nvGrpSpPr>
          <p:grpSpPr>
            <a:xfrm>
              <a:off x="4377728" y="3042475"/>
              <a:ext cx="2440039" cy="266816"/>
              <a:chOff x="4377728" y="3042475"/>
              <a:chExt cx="2440039" cy="266816"/>
            </a:xfrm>
          </p:grpSpPr>
          <p:sp>
            <p:nvSpPr>
              <p:cNvPr id="98" name="矩形: 圆角 97">
                <a:extLst>
                  <a:ext uri="{FF2B5EF4-FFF2-40B4-BE49-F238E27FC236}">
                    <a16:creationId xmlns:a16="http://schemas.microsoft.com/office/drawing/2014/main" id="{D9310D8B-AC69-1BD8-8A32-E67723467B62}"/>
                  </a:ext>
                </a:extLst>
              </p:cNvPr>
              <p:cNvSpPr/>
              <p:nvPr/>
            </p:nvSpPr>
            <p:spPr>
              <a:xfrm>
                <a:off x="4377728" y="3042475"/>
                <a:ext cx="1151086" cy="266816"/>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t>完全燃烧假设</a:t>
                </a:r>
              </a:p>
            </p:txBody>
          </p:sp>
          <p:sp>
            <p:nvSpPr>
              <p:cNvPr id="99" name="箭头: V 形 98">
                <a:extLst>
                  <a:ext uri="{FF2B5EF4-FFF2-40B4-BE49-F238E27FC236}">
                    <a16:creationId xmlns:a16="http://schemas.microsoft.com/office/drawing/2014/main" id="{EA410572-BC21-4F9F-2191-AC453688B567}"/>
                  </a:ext>
                </a:extLst>
              </p:cNvPr>
              <p:cNvSpPr/>
              <p:nvPr/>
            </p:nvSpPr>
            <p:spPr>
              <a:xfrm>
                <a:off x="5574522" y="3110263"/>
                <a:ext cx="145278" cy="131240"/>
              </a:xfrm>
              <a:prstGeom prst="chevron">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0" name="矩形: 圆角 99">
                <a:extLst>
                  <a:ext uri="{FF2B5EF4-FFF2-40B4-BE49-F238E27FC236}">
                    <a16:creationId xmlns:a16="http://schemas.microsoft.com/office/drawing/2014/main" id="{9FA838C3-221E-3378-3371-61DD2DDFAC9A}"/>
                  </a:ext>
                </a:extLst>
              </p:cNvPr>
              <p:cNvSpPr/>
              <p:nvPr/>
            </p:nvSpPr>
            <p:spPr>
              <a:xfrm>
                <a:off x="5752671" y="3042475"/>
                <a:ext cx="1065096" cy="266816"/>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t>热物性参数</a:t>
                </a:r>
              </a:p>
            </p:txBody>
          </p:sp>
        </p:grpSp>
        <p:sp>
          <p:nvSpPr>
            <p:cNvPr id="95" name="矩形: 圆角 94">
              <a:extLst>
                <a:ext uri="{FF2B5EF4-FFF2-40B4-BE49-F238E27FC236}">
                  <a16:creationId xmlns:a16="http://schemas.microsoft.com/office/drawing/2014/main" id="{9C6FF78A-2E3C-B317-B28E-AB590E2FD74B}"/>
                </a:ext>
              </a:extLst>
            </p:cNvPr>
            <p:cNvSpPr/>
            <p:nvPr/>
          </p:nvSpPr>
          <p:spPr>
            <a:xfrm>
              <a:off x="4377728" y="3392455"/>
              <a:ext cx="1065096" cy="266816"/>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t>机器学习</a:t>
              </a:r>
            </a:p>
          </p:txBody>
        </p:sp>
        <p:sp>
          <p:nvSpPr>
            <p:cNvPr id="96" name="箭头: V 形 95">
              <a:extLst>
                <a:ext uri="{FF2B5EF4-FFF2-40B4-BE49-F238E27FC236}">
                  <a16:creationId xmlns:a16="http://schemas.microsoft.com/office/drawing/2014/main" id="{9B55AC5F-D649-2D24-350F-0A7A62501706}"/>
                </a:ext>
              </a:extLst>
            </p:cNvPr>
            <p:cNvSpPr/>
            <p:nvPr/>
          </p:nvSpPr>
          <p:spPr>
            <a:xfrm>
              <a:off x="5493764" y="3460243"/>
              <a:ext cx="145278" cy="131240"/>
            </a:xfrm>
            <a:prstGeom prst="chevron">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7" name="矩形: 圆角 96">
              <a:extLst>
                <a:ext uri="{FF2B5EF4-FFF2-40B4-BE49-F238E27FC236}">
                  <a16:creationId xmlns:a16="http://schemas.microsoft.com/office/drawing/2014/main" id="{EA0EE462-F4D0-4ED4-8FF0-FFDC70CDAD56}"/>
                </a:ext>
              </a:extLst>
            </p:cNvPr>
            <p:cNvSpPr/>
            <p:nvPr/>
          </p:nvSpPr>
          <p:spPr>
            <a:xfrm>
              <a:off x="5689982" y="3392455"/>
              <a:ext cx="1127785" cy="266816"/>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t>层流火焰速度</a:t>
              </a:r>
            </a:p>
          </p:txBody>
        </p:sp>
      </p:grpSp>
      <p:grpSp>
        <p:nvGrpSpPr>
          <p:cNvPr id="101" name="组合 100">
            <a:extLst>
              <a:ext uri="{FF2B5EF4-FFF2-40B4-BE49-F238E27FC236}">
                <a16:creationId xmlns:a16="http://schemas.microsoft.com/office/drawing/2014/main" id="{7FE52CA1-D97E-255E-C930-00CE8475ABA7}"/>
              </a:ext>
            </a:extLst>
          </p:cNvPr>
          <p:cNvGrpSpPr/>
          <p:nvPr/>
        </p:nvGrpSpPr>
        <p:grpSpPr>
          <a:xfrm>
            <a:off x="5510045" y="3525205"/>
            <a:ext cx="896620" cy="398780"/>
            <a:chOff x="10206669" y="3222199"/>
            <a:chExt cx="896620" cy="398780"/>
          </a:xfrm>
        </p:grpSpPr>
        <p:pic>
          <p:nvPicPr>
            <p:cNvPr id="102" name="图片 101" descr="文本&#10;&#10;AI 生成的内容可能不正确。">
              <a:extLst>
                <a:ext uri="{FF2B5EF4-FFF2-40B4-BE49-F238E27FC236}">
                  <a16:creationId xmlns:a16="http://schemas.microsoft.com/office/drawing/2014/main" id="{57BFFD5C-8005-FE3D-7141-E6D7A50C5807}"/>
                </a:ext>
              </a:extLst>
            </p:cNvPr>
            <p:cNvPicPr>
              <a:picLocks/>
            </p:cNvPicPr>
            <p:nvPr/>
          </p:nvPicPr>
          <p:blipFill>
            <a:blip r:embed="rId15"/>
            <a:srcRect t="13149"/>
            <a:stretch>
              <a:fillRect/>
            </a:stretch>
          </p:blipFill>
          <p:spPr>
            <a:xfrm>
              <a:off x="10211841" y="3222199"/>
              <a:ext cx="891448" cy="398780"/>
            </a:xfrm>
            <a:prstGeom prst="rect">
              <a:avLst/>
            </a:prstGeom>
          </p:spPr>
        </p:pic>
        <p:pic>
          <p:nvPicPr>
            <p:cNvPr id="103" name="图形 102" descr="关闭 纯色填充">
              <a:extLst>
                <a:ext uri="{FF2B5EF4-FFF2-40B4-BE49-F238E27FC236}">
                  <a16:creationId xmlns:a16="http://schemas.microsoft.com/office/drawing/2014/main" id="{A12B0347-13DB-9E1B-FDFD-44BC6A5A40B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06669" y="3260979"/>
              <a:ext cx="360000" cy="360000"/>
            </a:xfrm>
            <a:prstGeom prst="rect">
              <a:avLst/>
            </a:prstGeom>
          </p:spPr>
        </p:pic>
      </p:grpSp>
      <p:sp>
        <p:nvSpPr>
          <p:cNvPr id="104" name="矩形 103">
            <a:extLst>
              <a:ext uri="{FF2B5EF4-FFF2-40B4-BE49-F238E27FC236}">
                <a16:creationId xmlns:a16="http://schemas.microsoft.com/office/drawing/2014/main" id="{65835AE8-B33E-4A9E-79DE-EDAE75E0077C}"/>
              </a:ext>
            </a:extLst>
          </p:cNvPr>
          <p:cNvSpPr/>
          <p:nvPr/>
        </p:nvSpPr>
        <p:spPr>
          <a:xfrm>
            <a:off x="210026" y="4275996"/>
            <a:ext cx="339119" cy="1762603"/>
          </a:xfrm>
          <a:prstGeom prst="rect">
            <a:avLst/>
          </a:prstGeom>
          <a:solidFill>
            <a:schemeClr val="accent1">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charset="-122"/>
                <a:ea typeface="微软雅黑" panose="020B0503020204020204" charset="-122"/>
              </a:rPr>
              <a:t>爆震唯象模型</a:t>
            </a:r>
          </a:p>
        </p:txBody>
      </p:sp>
      <p:pic>
        <p:nvPicPr>
          <p:cNvPr id="106" name="图片 105">
            <a:extLst>
              <a:ext uri="{FF2B5EF4-FFF2-40B4-BE49-F238E27FC236}">
                <a16:creationId xmlns:a16="http://schemas.microsoft.com/office/drawing/2014/main" id="{5C12BDEB-D23C-29C7-B9E3-D037DDCCE564}"/>
              </a:ext>
            </a:extLst>
          </p:cNvPr>
          <p:cNvPicPr>
            <a:picLocks noChangeAspect="1"/>
          </p:cNvPicPr>
          <p:nvPr/>
        </p:nvPicPr>
        <p:blipFill>
          <a:blip r:embed="rId17"/>
          <a:stretch>
            <a:fillRect/>
          </a:stretch>
        </p:blipFill>
        <p:spPr>
          <a:xfrm>
            <a:off x="1292274" y="4886516"/>
            <a:ext cx="2000649" cy="989013"/>
          </a:xfrm>
          <a:prstGeom prst="rect">
            <a:avLst/>
          </a:prstGeom>
        </p:spPr>
      </p:pic>
      <p:sp>
        <p:nvSpPr>
          <p:cNvPr id="108" name="矩形 107">
            <a:extLst>
              <a:ext uri="{FF2B5EF4-FFF2-40B4-BE49-F238E27FC236}">
                <a16:creationId xmlns:a16="http://schemas.microsoft.com/office/drawing/2014/main" id="{61B7B14C-F73F-C9CF-30CC-718B80CAF0E1}"/>
              </a:ext>
            </a:extLst>
          </p:cNvPr>
          <p:cNvSpPr/>
          <p:nvPr>
            <p:custDataLst>
              <p:tags r:id="rId5"/>
            </p:custDataLst>
          </p:nvPr>
        </p:nvSpPr>
        <p:spPr>
          <a:xfrm>
            <a:off x="1471872" y="5786301"/>
            <a:ext cx="1678032" cy="354216"/>
          </a:xfrm>
          <a:prstGeom prst="rect">
            <a:avLst/>
          </a:prstGeom>
        </p:spPr>
        <p:txBody>
          <a:bodyPr wrap="square">
            <a:noAutofit/>
          </a:bodyPr>
          <a:lstStyle/>
          <a:p>
            <a:pPr lvl="0" indent="0" defTabSz="685800" fontAlgn="auto">
              <a:lnSpc>
                <a:spcPct val="150000"/>
              </a:lnSpc>
            </a:pPr>
            <a:r>
              <a:rPr lang="zh-CN" altLang="en-US" sz="1200">
                <a:latin typeface="+mn-ea"/>
                <a:cs typeface="汉仪旗黑-55简" panose="00020600040101010101" charset="-128"/>
                <a:sym typeface="Arial" panose="020B0604020202020204" pitchFamily="34" charset="0"/>
              </a:rPr>
              <a:t>图</a:t>
            </a:r>
            <a:r>
              <a:rPr lang="en-US" altLang="zh-CN" sz="1200">
                <a:latin typeface="+mn-ea"/>
                <a:cs typeface="汉仪旗黑-55简" panose="00020600040101010101" charset="-128"/>
                <a:sym typeface="Arial" panose="020B0604020202020204" pitchFamily="34" charset="0"/>
              </a:rPr>
              <a:t>1-2</a:t>
            </a:r>
            <a:r>
              <a:rPr lang="zh-CN" altLang="en-US" sz="1200">
                <a:latin typeface="+mn-ea"/>
                <a:cs typeface="汉仪旗黑-55简" panose="00020600040101010101" charset="-128"/>
                <a:sym typeface="Arial" panose="020B0604020202020204" pitchFamily="34" charset="0"/>
              </a:rPr>
              <a:t>：热边界层假设</a:t>
            </a:r>
            <a:endParaRPr lang="zh-CN" altLang="en-US" sz="1200" dirty="0">
              <a:latin typeface="+mn-ea"/>
              <a:cs typeface="汉仪旗黑-55简" panose="00020600040101010101" charset="-128"/>
              <a:sym typeface="Arial" panose="020B0604020202020204" pitchFamily="34" charset="0"/>
            </a:endParaRPr>
          </a:p>
        </p:txBody>
      </p:sp>
      <p:grpSp>
        <p:nvGrpSpPr>
          <p:cNvPr id="111" name="组合 110">
            <a:extLst>
              <a:ext uri="{FF2B5EF4-FFF2-40B4-BE49-F238E27FC236}">
                <a16:creationId xmlns:a16="http://schemas.microsoft.com/office/drawing/2014/main" id="{3FC7591F-EEDF-5ACA-B257-FB505A8C793B}"/>
              </a:ext>
            </a:extLst>
          </p:cNvPr>
          <p:cNvGrpSpPr/>
          <p:nvPr/>
        </p:nvGrpSpPr>
        <p:grpSpPr>
          <a:xfrm>
            <a:off x="4349909" y="4086252"/>
            <a:ext cx="3208162" cy="2054265"/>
            <a:chOff x="4349909" y="4086252"/>
            <a:chExt cx="3208162" cy="2054265"/>
          </a:xfrm>
        </p:grpSpPr>
        <p:sp>
          <p:nvSpPr>
            <p:cNvPr id="84" name="矩形 83">
              <a:extLst>
                <a:ext uri="{FF2B5EF4-FFF2-40B4-BE49-F238E27FC236}">
                  <a16:creationId xmlns:a16="http://schemas.microsoft.com/office/drawing/2014/main" id="{E33C97F0-658A-0BDA-EA55-C1D2ED1444C9}"/>
                </a:ext>
              </a:extLst>
            </p:cNvPr>
            <p:cNvSpPr/>
            <p:nvPr/>
          </p:nvSpPr>
          <p:spPr>
            <a:xfrm>
              <a:off x="4349909" y="4086252"/>
              <a:ext cx="3208162" cy="2005136"/>
            </a:xfrm>
            <a:prstGeom prst="rect">
              <a:avLst/>
            </a:prstGeom>
            <a:solidFill>
              <a:srgbClr val="FFFFFF"/>
            </a:solidFill>
            <a:ln w="12700">
              <a:no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C66C4EE8-A821-4354-5D93-EBC151A257CA}"/>
                </a:ext>
              </a:extLst>
            </p:cNvPr>
            <p:cNvSpPr txBox="1"/>
            <p:nvPr/>
          </p:nvSpPr>
          <p:spPr>
            <a:xfrm>
              <a:off x="4577922" y="4097419"/>
              <a:ext cx="205463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爆震唯象模型的构建</a:t>
              </a:r>
            </a:p>
          </p:txBody>
        </p:sp>
        <p:sp>
          <p:nvSpPr>
            <p:cNvPr id="82" name="path">
              <a:extLst>
                <a:ext uri="{FF2B5EF4-FFF2-40B4-BE49-F238E27FC236}">
                  <a16:creationId xmlns:a16="http://schemas.microsoft.com/office/drawing/2014/main" id="{DC69EAD6-4E30-68F2-8BF4-0FB384CED782}"/>
                </a:ext>
              </a:extLst>
            </p:cNvPr>
            <p:cNvSpPr/>
            <p:nvPr>
              <p:custDataLst>
                <p:tags r:id="rId7"/>
              </p:custDataLst>
            </p:nvPr>
          </p:nvSpPr>
          <p:spPr>
            <a:xfrm>
              <a:off x="4481236" y="4208812"/>
              <a:ext cx="96686" cy="106644"/>
            </a:xfrm>
            <a:custGeom>
              <a:avLst/>
              <a:gdLst/>
              <a:ahLst/>
              <a:cxnLst/>
              <a:rect l="0" t="0" r="0" b="0"/>
              <a:pathLst>
                <a:path w="266" h="264">
                  <a:moveTo>
                    <a:pt x="0" y="264"/>
                  </a:moveTo>
                  <a:lnTo>
                    <a:pt x="266" y="264"/>
                  </a:lnTo>
                  <a:lnTo>
                    <a:pt x="266" y="0"/>
                  </a:lnTo>
                  <a:lnTo>
                    <a:pt x="0" y="0"/>
                  </a:lnTo>
                  <a:lnTo>
                    <a:pt x="0" y="264"/>
                  </a:lnTo>
                  <a:close/>
                </a:path>
              </a:pathLst>
            </a:custGeom>
            <a:solidFill>
              <a:schemeClr val="accent1">
                <a:lumMod val="60000"/>
                <a:lumOff val="40000"/>
              </a:schemeClr>
            </a:solidFill>
            <a:ln cap="flat">
              <a:solidFill>
                <a:schemeClr val="accent1">
                  <a:lumMod val="60000"/>
                  <a:lumOff val="40000"/>
                </a:schemeClr>
              </a:solidFill>
              <a:prstDash val="solid"/>
              <a:miter lim="0"/>
            </a:ln>
          </p:spPr>
          <p:txBody>
            <a:bodyPr rtlCol="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汉仪宋韵朗黑W"/>
                <a:ea typeface="汉仪宋韵朗黑W"/>
                <a:cs typeface="+mn-cs"/>
              </a:endParaRPr>
            </a:p>
          </p:txBody>
        </p:sp>
        <p:sp>
          <p:nvSpPr>
            <p:cNvPr id="85" name="文本框 84">
              <a:extLst>
                <a:ext uri="{FF2B5EF4-FFF2-40B4-BE49-F238E27FC236}">
                  <a16:creationId xmlns:a16="http://schemas.microsoft.com/office/drawing/2014/main" id="{1349A4B5-3AD8-63CF-11E3-28B476052D4F}"/>
                </a:ext>
              </a:extLst>
            </p:cNvPr>
            <p:cNvSpPr txBox="1"/>
            <p:nvPr/>
          </p:nvSpPr>
          <p:spPr>
            <a:xfrm>
              <a:off x="4349910" y="4415692"/>
              <a:ext cx="320816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1" dirty="0">
                  <a:solidFill>
                    <a:prstClr val="black"/>
                  </a:solidFill>
                  <a:latin typeface="微软雅黑" panose="020B0503020204020204" pitchFamily="34" charset="-122"/>
                  <a:ea typeface="微软雅黑" panose="020B0503020204020204" pitchFamily="34" charset="-122"/>
                </a:rPr>
                <a:t>目标：构建爆震唯象模型</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09" name="Picture 2">
              <a:extLst>
                <a:ext uri="{FF2B5EF4-FFF2-40B4-BE49-F238E27FC236}">
                  <a16:creationId xmlns:a16="http://schemas.microsoft.com/office/drawing/2014/main" id="{F03B87E6-5F45-6455-B317-573A4112377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80034" y="4754246"/>
              <a:ext cx="2341139" cy="112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 name="矩形 109">
              <a:extLst>
                <a:ext uri="{FF2B5EF4-FFF2-40B4-BE49-F238E27FC236}">
                  <a16:creationId xmlns:a16="http://schemas.microsoft.com/office/drawing/2014/main" id="{9D98CD7D-9B86-A4F5-C8EA-48B873D12B9D}"/>
                </a:ext>
              </a:extLst>
            </p:cNvPr>
            <p:cNvSpPr/>
            <p:nvPr>
              <p:custDataLst>
                <p:tags r:id="rId8"/>
              </p:custDataLst>
            </p:nvPr>
          </p:nvSpPr>
          <p:spPr>
            <a:xfrm>
              <a:off x="5002968" y="5786301"/>
              <a:ext cx="2065377" cy="354216"/>
            </a:xfrm>
            <a:prstGeom prst="rect">
              <a:avLst/>
            </a:prstGeom>
          </p:spPr>
          <p:txBody>
            <a:bodyPr wrap="square">
              <a:noAutofit/>
            </a:bodyPr>
            <a:lstStyle/>
            <a:p>
              <a:pPr lvl="0" indent="0" defTabSz="685800" fontAlgn="auto">
                <a:lnSpc>
                  <a:spcPct val="150000"/>
                </a:lnSpc>
              </a:pPr>
              <a:r>
                <a:rPr lang="zh-CN" altLang="en-US" sz="1200">
                  <a:latin typeface="+mn-ea"/>
                  <a:cs typeface="汉仪旗黑-55简" panose="00020600040101010101" charset="-128"/>
                  <a:sym typeface="Arial" panose="020B0604020202020204" pitchFamily="34" charset="0"/>
                </a:rPr>
                <a:t>图</a:t>
              </a:r>
              <a:r>
                <a:rPr lang="en-US" altLang="zh-CN" sz="1200">
                  <a:latin typeface="+mn-ea"/>
                  <a:cs typeface="汉仪旗黑-55简" panose="00020600040101010101" charset="-128"/>
                  <a:sym typeface="Arial" panose="020B0604020202020204" pitchFamily="34" charset="0"/>
                </a:rPr>
                <a:t>1-3</a:t>
              </a:r>
              <a:r>
                <a:rPr lang="zh-CN" altLang="en-US" sz="1200">
                  <a:latin typeface="+mn-ea"/>
                  <a:cs typeface="汉仪旗黑-55简" panose="00020600040101010101" charset="-128"/>
                  <a:sym typeface="Arial" panose="020B0604020202020204" pitchFamily="34" charset="0"/>
                </a:rPr>
                <a:t>：唯象爆震模型架构</a:t>
              </a:r>
              <a:endParaRPr lang="zh-CN" altLang="en-US" sz="1200" dirty="0">
                <a:latin typeface="+mn-ea"/>
                <a:cs typeface="汉仪旗黑-55简" panose="00020600040101010101" charset="-128"/>
                <a:sym typeface="Arial" panose="020B0604020202020204" pitchFamily="34" charset="0"/>
              </a:endParaRPr>
            </a:p>
          </p:txBody>
        </p:sp>
      </p:grpSp>
      <p:pic>
        <p:nvPicPr>
          <p:cNvPr id="113" name="图片 112">
            <a:extLst>
              <a:ext uri="{FF2B5EF4-FFF2-40B4-BE49-F238E27FC236}">
                <a16:creationId xmlns:a16="http://schemas.microsoft.com/office/drawing/2014/main" id="{8ECA0C82-2828-6858-BD12-055DD22EC8AD}"/>
              </a:ext>
            </a:extLst>
          </p:cNvPr>
          <p:cNvPicPr>
            <a:picLocks noChangeAspect="1"/>
          </p:cNvPicPr>
          <p:nvPr/>
        </p:nvPicPr>
        <p:blipFill>
          <a:blip r:embed="rId19"/>
          <a:stretch>
            <a:fillRect/>
          </a:stretch>
        </p:blipFill>
        <p:spPr>
          <a:xfrm>
            <a:off x="8244637" y="2251258"/>
            <a:ext cx="2800480" cy="1400240"/>
          </a:xfrm>
          <a:prstGeom prst="rect">
            <a:avLst/>
          </a:prstGeom>
        </p:spPr>
      </p:pic>
      <p:sp>
        <p:nvSpPr>
          <p:cNvPr id="114" name="矩形 113">
            <a:extLst>
              <a:ext uri="{FF2B5EF4-FFF2-40B4-BE49-F238E27FC236}">
                <a16:creationId xmlns:a16="http://schemas.microsoft.com/office/drawing/2014/main" id="{70F0F57D-EFCF-11AE-4CFE-174DA24B4EF8}"/>
              </a:ext>
            </a:extLst>
          </p:cNvPr>
          <p:cNvSpPr/>
          <p:nvPr>
            <p:custDataLst>
              <p:tags r:id="rId6"/>
            </p:custDataLst>
          </p:nvPr>
        </p:nvSpPr>
        <p:spPr>
          <a:xfrm>
            <a:off x="8737417" y="3598172"/>
            <a:ext cx="1814920" cy="354216"/>
          </a:xfrm>
          <a:prstGeom prst="rect">
            <a:avLst/>
          </a:prstGeom>
        </p:spPr>
        <p:txBody>
          <a:bodyPr wrap="square">
            <a:noAutofit/>
          </a:bodyPr>
          <a:lstStyle/>
          <a:p>
            <a:pPr lvl="0" indent="0" defTabSz="685800" fontAlgn="auto">
              <a:lnSpc>
                <a:spcPct val="150000"/>
              </a:lnSpc>
            </a:pPr>
            <a:r>
              <a:rPr lang="zh-CN" altLang="en-US" sz="1200">
                <a:latin typeface="+mn-ea"/>
                <a:cs typeface="汉仪旗黑-55简" panose="00020600040101010101" charset="-128"/>
                <a:sym typeface="Arial" panose="020B0604020202020204" pitchFamily="34" charset="0"/>
              </a:rPr>
              <a:t>图</a:t>
            </a:r>
            <a:r>
              <a:rPr lang="en-US" altLang="zh-CN" sz="1200">
                <a:latin typeface="+mn-ea"/>
                <a:cs typeface="汉仪旗黑-55简" panose="00020600040101010101" charset="-128"/>
                <a:sym typeface="Arial" panose="020B0604020202020204" pitchFamily="34" charset="0"/>
              </a:rPr>
              <a:t>1-4</a:t>
            </a:r>
            <a:r>
              <a:rPr lang="zh-CN" altLang="en-US" sz="1200">
                <a:latin typeface="+mn-ea"/>
                <a:cs typeface="汉仪旗黑-55简" panose="00020600040101010101" charset="-128"/>
                <a:sym typeface="Arial" panose="020B0604020202020204" pitchFamily="34" charset="0"/>
              </a:rPr>
              <a:t>：双模型集成架构</a:t>
            </a:r>
            <a:endParaRPr lang="zh-CN" altLang="en-US" sz="1200" dirty="0">
              <a:latin typeface="+mn-ea"/>
              <a:cs typeface="汉仪旗黑-55简" panose="00020600040101010101" charset="-128"/>
              <a:sym typeface="Arial" panose="020B0604020202020204" pitchFamily="34" charset="0"/>
            </a:endParaRPr>
          </a:p>
        </p:txBody>
      </p:sp>
      <p:grpSp>
        <p:nvGrpSpPr>
          <p:cNvPr id="115" name="组合 114">
            <a:extLst>
              <a:ext uri="{FF2B5EF4-FFF2-40B4-BE49-F238E27FC236}">
                <a16:creationId xmlns:a16="http://schemas.microsoft.com/office/drawing/2014/main" id="{72460D6A-55ED-E18C-4659-327C66F2F1E5}"/>
              </a:ext>
            </a:extLst>
          </p:cNvPr>
          <p:cNvGrpSpPr/>
          <p:nvPr/>
        </p:nvGrpSpPr>
        <p:grpSpPr>
          <a:xfrm>
            <a:off x="8400686" y="5309994"/>
            <a:ext cx="2440039" cy="616796"/>
            <a:chOff x="4377728" y="3042475"/>
            <a:chExt cx="2440039" cy="616796"/>
          </a:xfrm>
        </p:grpSpPr>
        <p:grpSp>
          <p:nvGrpSpPr>
            <p:cNvPr id="116" name="组合 115">
              <a:extLst>
                <a:ext uri="{FF2B5EF4-FFF2-40B4-BE49-F238E27FC236}">
                  <a16:creationId xmlns:a16="http://schemas.microsoft.com/office/drawing/2014/main" id="{A07A9B24-DAF1-6A9C-31A0-6FFD58EF6676}"/>
                </a:ext>
              </a:extLst>
            </p:cNvPr>
            <p:cNvGrpSpPr/>
            <p:nvPr/>
          </p:nvGrpSpPr>
          <p:grpSpPr>
            <a:xfrm>
              <a:off x="4377728" y="3042475"/>
              <a:ext cx="2440039" cy="266816"/>
              <a:chOff x="4377728" y="3042475"/>
              <a:chExt cx="2440039" cy="266816"/>
            </a:xfrm>
          </p:grpSpPr>
          <p:sp>
            <p:nvSpPr>
              <p:cNvPr id="120" name="矩形: 圆角 119">
                <a:extLst>
                  <a:ext uri="{FF2B5EF4-FFF2-40B4-BE49-F238E27FC236}">
                    <a16:creationId xmlns:a16="http://schemas.microsoft.com/office/drawing/2014/main" id="{179B3A04-A308-7D52-CA6F-002E35080705}"/>
                  </a:ext>
                </a:extLst>
              </p:cNvPr>
              <p:cNvSpPr/>
              <p:nvPr/>
            </p:nvSpPr>
            <p:spPr>
              <a:xfrm>
                <a:off x="4377728" y="3042475"/>
                <a:ext cx="1151086" cy="266816"/>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a:solidFill>
                      <a:srgbClr val="FFFFFF"/>
                    </a:solidFill>
                  </a:rPr>
                  <a:t>遗传算法</a:t>
                </a:r>
                <a:endParaRPr lang="zh-CN" altLang="en-US" sz="1200" b="1" dirty="0">
                  <a:solidFill>
                    <a:srgbClr val="FFFFFF"/>
                  </a:solidFill>
                </a:endParaRPr>
              </a:p>
            </p:txBody>
          </p:sp>
          <p:sp>
            <p:nvSpPr>
              <p:cNvPr id="121" name="箭头: V 形 120">
                <a:extLst>
                  <a:ext uri="{FF2B5EF4-FFF2-40B4-BE49-F238E27FC236}">
                    <a16:creationId xmlns:a16="http://schemas.microsoft.com/office/drawing/2014/main" id="{B9CE3337-4719-4CBA-E1F8-6D6C074C737E}"/>
                  </a:ext>
                </a:extLst>
              </p:cNvPr>
              <p:cNvSpPr/>
              <p:nvPr/>
            </p:nvSpPr>
            <p:spPr>
              <a:xfrm>
                <a:off x="5574522" y="3110263"/>
                <a:ext cx="145278" cy="131240"/>
              </a:xfrm>
              <a:prstGeom prst="chevron">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2" name="矩形: 圆角 121">
                <a:extLst>
                  <a:ext uri="{FF2B5EF4-FFF2-40B4-BE49-F238E27FC236}">
                    <a16:creationId xmlns:a16="http://schemas.microsoft.com/office/drawing/2014/main" id="{E107E575-0FE2-EB6F-E081-EA341A3785C8}"/>
                  </a:ext>
                </a:extLst>
              </p:cNvPr>
              <p:cNvSpPr/>
              <p:nvPr/>
            </p:nvSpPr>
            <p:spPr>
              <a:xfrm>
                <a:off x="5752671" y="3042475"/>
                <a:ext cx="1065096" cy="266816"/>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a:t>准维模型</a:t>
                </a:r>
                <a:endParaRPr lang="zh-CN" altLang="en-US" sz="1200" b="1" dirty="0"/>
              </a:p>
            </p:txBody>
          </p:sp>
        </p:grpSp>
        <p:sp>
          <p:nvSpPr>
            <p:cNvPr id="117" name="矩形: 圆角 116">
              <a:extLst>
                <a:ext uri="{FF2B5EF4-FFF2-40B4-BE49-F238E27FC236}">
                  <a16:creationId xmlns:a16="http://schemas.microsoft.com/office/drawing/2014/main" id="{2852FC35-CA6A-208D-8D86-338CFDD01C3E}"/>
                </a:ext>
              </a:extLst>
            </p:cNvPr>
            <p:cNvSpPr/>
            <p:nvPr/>
          </p:nvSpPr>
          <p:spPr>
            <a:xfrm>
              <a:off x="4377728" y="3392455"/>
              <a:ext cx="1065096" cy="266816"/>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a:t>温度修正</a:t>
              </a:r>
              <a:endParaRPr lang="zh-CN" altLang="en-US" sz="1200" b="1" dirty="0"/>
            </a:p>
          </p:txBody>
        </p:sp>
        <p:sp>
          <p:nvSpPr>
            <p:cNvPr id="118" name="箭头: V 形 117">
              <a:extLst>
                <a:ext uri="{FF2B5EF4-FFF2-40B4-BE49-F238E27FC236}">
                  <a16:creationId xmlns:a16="http://schemas.microsoft.com/office/drawing/2014/main" id="{2993FF89-E4A7-8BB1-6776-1765F91B7F4D}"/>
                </a:ext>
              </a:extLst>
            </p:cNvPr>
            <p:cNvSpPr/>
            <p:nvPr/>
          </p:nvSpPr>
          <p:spPr>
            <a:xfrm>
              <a:off x="5493764" y="3460243"/>
              <a:ext cx="145278" cy="131240"/>
            </a:xfrm>
            <a:prstGeom prst="chevron">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9" name="矩形: 圆角 118">
              <a:extLst>
                <a:ext uri="{FF2B5EF4-FFF2-40B4-BE49-F238E27FC236}">
                  <a16:creationId xmlns:a16="http://schemas.microsoft.com/office/drawing/2014/main" id="{8A69E4E5-D12E-4963-C1CF-EA1311238214}"/>
                </a:ext>
              </a:extLst>
            </p:cNvPr>
            <p:cNvSpPr/>
            <p:nvPr/>
          </p:nvSpPr>
          <p:spPr>
            <a:xfrm>
              <a:off x="5689982" y="3392455"/>
              <a:ext cx="1127785" cy="266816"/>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a:t>唯象模型</a:t>
              </a:r>
              <a:endParaRPr lang="zh-CN" altLang="en-US" sz="1200" b="1" dirty="0"/>
            </a:p>
          </p:txBody>
        </p:sp>
      </p:grpSp>
    </p:spTree>
    <p:extLst>
      <p:ext uri="{BB962C8B-B14F-4D97-AF65-F5344CB8AC3E}">
        <p14:creationId xmlns:p14="http://schemas.microsoft.com/office/powerpoint/2010/main" val="3894715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C9B89-EB1E-C450-49CB-61B2DF32BB2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A7EF021-F38E-5F5F-6043-DFF3FC6024AE}"/>
              </a:ext>
            </a:extLst>
          </p:cNvPr>
          <p:cNvSpPr>
            <a:spLocks noGrp="1"/>
          </p:cNvSpPr>
          <p:nvPr>
            <p:ph type="title"/>
          </p:nvPr>
        </p:nvSpPr>
        <p:spPr/>
        <p:txBody>
          <a:bodyPr/>
          <a:lstStyle/>
          <a:p>
            <a:r>
              <a:rPr lang="zh-CN" altLang="en-US"/>
              <a:t>目录</a:t>
            </a:r>
            <a:endParaRPr lang="zh-CN" altLang="en-US" dirty="0"/>
          </a:p>
        </p:txBody>
      </p:sp>
      <p:grpSp>
        <p:nvGrpSpPr>
          <p:cNvPr id="5" name="组合 4">
            <a:extLst>
              <a:ext uri="{FF2B5EF4-FFF2-40B4-BE49-F238E27FC236}">
                <a16:creationId xmlns:a16="http://schemas.microsoft.com/office/drawing/2014/main" id="{C4258B17-9CDA-DC75-340B-26840742387E}"/>
              </a:ext>
            </a:extLst>
          </p:cNvPr>
          <p:cNvGrpSpPr/>
          <p:nvPr/>
        </p:nvGrpSpPr>
        <p:grpSpPr>
          <a:xfrm>
            <a:off x="2897226" y="2013783"/>
            <a:ext cx="6967210" cy="2830434"/>
            <a:chOff x="2767917" y="1781591"/>
            <a:chExt cx="17305538" cy="2830434"/>
          </a:xfrm>
        </p:grpSpPr>
        <p:sp>
          <p:nvSpPr>
            <p:cNvPr id="6" name="矩形 5">
              <a:extLst>
                <a:ext uri="{FF2B5EF4-FFF2-40B4-BE49-F238E27FC236}">
                  <a16:creationId xmlns:a16="http://schemas.microsoft.com/office/drawing/2014/main" id="{6B4A2F9A-24DE-0D69-E376-78ADB328F116}"/>
                </a:ext>
              </a:extLst>
            </p:cNvPr>
            <p:cNvSpPr/>
            <p:nvPr/>
          </p:nvSpPr>
          <p:spPr>
            <a:xfrm>
              <a:off x="2767920" y="178159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第一章：绪论</a:t>
              </a:r>
              <a:endParaRPr lang="zh-CN" altLang="en-US"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7" name="矩形 6">
              <a:extLst>
                <a:ext uri="{FF2B5EF4-FFF2-40B4-BE49-F238E27FC236}">
                  <a16:creationId xmlns:a16="http://schemas.microsoft.com/office/drawing/2014/main" id="{FBD71010-9A1B-9A6E-4DDE-27EE54234847}"/>
                </a:ext>
              </a:extLst>
            </p:cNvPr>
            <p:cNvSpPr/>
            <p:nvPr/>
          </p:nvSpPr>
          <p:spPr>
            <a:xfrm>
              <a:off x="2767919" y="237087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C00000"/>
                  </a:solidFill>
                  <a:latin typeface="Times New Roman" panose="02020603050405020304" pitchFamily="18" charset="0"/>
                  <a:ea typeface="微软雅黑" panose="020B0503020204020204" pitchFamily="34" charset="-122"/>
                  <a:cs typeface="+mn-ea"/>
                </a:rPr>
                <a:t>第二章：氢内燃机准维燃烧模型的构建</a:t>
              </a:r>
              <a:endParaRPr lang="zh-CN" altLang="zh-CN" sz="2400" b="1" dirty="0">
                <a:solidFill>
                  <a:srgbClr val="C00000"/>
                </a:solidFill>
                <a:latin typeface="Times New Roman" panose="02020603050405020304" pitchFamily="18" charset="0"/>
                <a:ea typeface="微软雅黑" panose="020B0503020204020204" pitchFamily="34" charset="-122"/>
                <a:cs typeface="+mn-ea"/>
              </a:endParaRPr>
            </a:p>
          </p:txBody>
        </p:sp>
        <p:sp>
          <p:nvSpPr>
            <p:cNvPr id="8" name="矩形 7">
              <a:extLst>
                <a:ext uri="{FF2B5EF4-FFF2-40B4-BE49-F238E27FC236}">
                  <a16:creationId xmlns:a16="http://schemas.microsoft.com/office/drawing/2014/main" id="{90B20744-D4CF-0200-7FBB-73D4F794DA11}"/>
                </a:ext>
              </a:extLst>
            </p:cNvPr>
            <p:cNvSpPr/>
            <p:nvPr/>
          </p:nvSpPr>
          <p:spPr>
            <a:xfrm>
              <a:off x="2767919" y="296015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第三章：氢内燃机爆震唯象模型的构建</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sp>
          <p:nvSpPr>
            <p:cNvPr id="10" name="矩形 9">
              <a:extLst>
                <a:ext uri="{FF2B5EF4-FFF2-40B4-BE49-F238E27FC236}">
                  <a16:creationId xmlns:a16="http://schemas.microsoft.com/office/drawing/2014/main" id="{11385ACD-0518-80BF-E807-3E967326BA65}"/>
                </a:ext>
              </a:extLst>
            </p:cNvPr>
            <p:cNvSpPr/>
            <p:nvPr/>
          </p:nvSpPr>
          <p:spPr>
            <a:xfrm>
              <a:off x="2767917" y="3549431"/>
              <a:ext cx="1730553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第四章：氢内燃机燃烧与爆震模型的标定与验证</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sp>
          <p:nvSpPr>
            <p:cNvPr id="11" name="矩形 10">
              <a:extLst>
                <a:ext uri="{FF2B5EF4-FFF2-40B4-BE49-F238E27FC236}">
                  <a16:creationId xmlns:a16="http://schemas.microsoft.com/office/drawing/2014/main" id="{594A6B3F-CE38-8AC3-2FAA-D83720B317E8}"/>
                </a:ext>
              </a:extLst>
            </p:cNvPr>
            <p:cNvSpPr/>
            <p:nvPr/>
          </p:nvSpPr>
          <p:spPr>
            <a:xfrm>
              <a:off x="2767917" y="4150360"/>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第五章：总结与展望</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grpSp>
    </p:spTree>
    <p:extLst>
      <p:ext uri="{BB962C8B-B14F-4D97-AF65-F5344CB8AC3E}">
        <p14:creationId xmlns:p14="http://schemas.microsoft.com/office/powerpoint/2010/main" val="1088328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F09B4-893D-790C-EE89-A869A3205F7D}"/>
            </a:ext>
          </a:extLst>
        </p:cNvPr>
        <p:cNvGrpSpPr/>
        <p:nvPr/>
      </p:nvGrpSpPr>
      <p:grpSpPr>
        <a:xfrm>
          <a:off x="0" y="0"/>
          <a:ext cx="0" cy="0"/>
          <a:chOff x="0" y="0"/>
          <a:chExt cx="0" cy="0"/>
        </a:xfrm>
      </p:grpSpPr>
      <p:grpSp>
        <p:nvGrpSpPr>
          <p:cNvPr id="15" name="组合 14">
            <a:extLst>
              <a:ext uri="{FF2B5EF4-FFF2-40B4-BE49-F238E27FC236}">
                <a16:creationId xmlns:a16="http://schemas.microsoft.com/office/drawing/2014/main" id="{D79CFC7A-8A27-16C4-3495-FE5F1F093E33}"/>
              </a:ext>
            </a:extLst>
          </p:cNvPr>
          <p:cNvGrpSpPr/>
          <p:nvPr/>
        </p:nvGrpSpPr>
        <p:grpSpPr>
          <a:xfrm>
            <a:off x="8730840" y="1759576"/>
            <a:ext cx="2237803" cy="1458132"/>
            <a:chOff x="9006767" y="1766586"/>
            <a:chExt cx="2237803" cy="1458132"/>
          </a:xfrm>
        </p:grpSpPr>
        <p:pic>
          <p:nvPicPr>
            <p:cNvPr id="92" name="图片 91">
              <a:extLst>
                <a:ext uri="{FF2B5EF4-FFF2-40B4-BE49-F238E27FC236}">
                  <a16:creationId xmlns:a16="http://schemas.microsoft.com/office/drawing/2014/main" id="{F4337FB0-9858-5BAC-6705-B77520FDE10E}"/>
                </a:ext>
              </a:extLst>
            </p:cNvPr>
            <p:cNvPicPr>
              <a:picLocks noChangeAspect="1"/>
            </p:cNvPicPr>
            <p:nvPr/>
          </p:nvPicPr>
          <p:blipFill>
            <a:blip r:embed="rId3"/>
            <a:stretch>
              <a:fillRect/>
            </a:stretch>
          </p:blipFill>
          <p:spPr>
            <a:xfrm>
              <a:off x="9006767" y="1776716"/>
              <a:ext cx="2237803" cy="1448002"/>
            </a:xfrm>
            <a:prstGeom prst="rect">
              <a:avLst/>
            </a:prstGeom>
          </p:spPr>
        </p:pic>
        <p:sp>
          <p:nvSpPr>
            <p:cNvPr id="4" name="矩形 3">
              <a:extLst>
                <a:ext uri="{FF2B5EF4-FFF2-40B4-BE49-F238E27FC236}">
                  <a16:creationId xmlns:a16="http://schemas.microsoft.com/office/drawing/2014/main" id="{8042354C-D164-5026-5E18-2F891D2A3F56}"/>
                </a:ext>
              </a:extLst>
            </p:cNvPr>
            <p:cNvSpPr/>
            <p:nvPr/>
          </p:nvSpPr>
          <p:spPr>
            <a:xfrm>
              <a:off x="9135136" y="1766586"/>
              <a:ext cx="2109434" cy="667901"/>
            </a:xfrm>
            <a:prstGeom prst="rect">
              <a:avLst/>
            </a:prstGeom>
            <a:noFill/>
            <a:ln w="12700">
              <a:solidFill>
                <a:schemeClr val="bg2">
                  <a:lumMod val="75000"/>
                </a:schemeClr>
              </a:solid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107EFFB1-A8B1-53F7-1208-7EF3FEB8E33E}"/>
                </a:ext>
              </a:extLst>
            </p:cNvPr>
            <p:cNvSpPr/>
            <p:nvPr/>
          </p:nvSpPr>
          <p:spPr>
            <a:xfrm>
              <a:off x="9135136" y="2519773"/>
              <a:ext cx="2109434" cy="667901"/>
            </a:xfrm>
            <a:prstGeom prst="rect">
              <a:avLst/>
            </a:prstGeom>
            <a:noFill/>
            <a:ln w="12700">
              <a:solidFill>
                <a:schemeClr val="bg2">
                  <a:lumMod val="75000"/>
                </a:schemeClr>
              </a:solid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5" name="图片 84">
            <a:extLst>
              <a:ext uri="{FF2B5EF4-FFF2-40B4-BE49-F238E27FC236}">
                <a16:creationId xmlns:a16="http://schemas.microsoft.com/office/drawing/2014/main" id="{6C414983-AFBC-46EF-5F93-54F6DBD9164A}"/>
              </a:ext>
            </a:extLst>
          </p:cNvPr>
          <p:cNvPicPr>
            <a:picLocks noChangeAspect="1"/>
          </p:cNvPicPr>
          <p:nvPr/>
        </p:nvPicPr>
        <p:blipFill>
          <a:blip r:embed="rId4"/>
          <a:stretch>
            <a:fillRect/>
          </a:stretch>
        </p:blipFill>
        <p:spPr>
          <a:xfrm>
            <a:off x="1322829" y="4097800"/>
            <a:ext cx="4378577" cy="2174359"/>
          </a:xfrm>
          <a:prstGeom prst="rect">
            <a:avLst/>
          </a:prstGeom>
        </p:spPr>
      </p:pic>
      <p:sp>
        <p:nvSpPr>
          <p:cNvPr id="3" name="标题 2">
            <a:extLst>
              <a:ext uri="{FF2B5EF4-FFF2-40B4-BE49-F238E27FC236}">
                <a16:creationId xmlns:a16="http://schemas.microsoft.com/office/drawing/2014/main" id="{EDEE2CC5-2E85-E630-9E3B-453D46A68455}"/>
              </a:ext>
            </a:extLst>
          </p:cNvPr>
          <p:cNvSpPr>
            <a:spLocks noGrp="1"/>
          </p:cNvSpPr>
          <p:nvPr>
            <p:ph type="title"/>
          </p:nvPr>
        </p:nvSpPr>
        <p:spPr/>
        <p:txBody>
          <a:bodyPr/>
          <a:lstStyle/>
          <a:p>
            <a:r>
              <a:rPr lang="zh-CN" altLang="en-US"/>
              <a:t>第二章：氢内燃机准维燃烧模型的构建</a:t>
            </a:r>
            <a:endParaRPr lang="zh-CN" altLang="en-US" dirty="0"/>
          </a:p>
        </p:txBody>
      </p:sp>
      <p:sp>
        <p:nvSpPr>
          <p:cNvPr id="2" name="矩形 1">
            <a:extLst>
              <a:ext uri="{FF2B5EF4-FFF2-40B4-BE49-F238E27FC236}">
                <a16:creationId xmlns:a16="http://schemas.microsoft.com/office/drawing/2014/main" id="{6D8A79B9-1123-0602-5711-1FB3084B6641}"/>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第一节：准维模型的基本假设与控制方程</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cxnSp>
        <p:nvCxnSpPr>
          <p:cNvPr id="57" name="直接连接符 56">
            <a:extLst>
              <a:ext uri="{FF2B5EF4-FFF2-40B4-BE49-F238E27FC236}">
                <a16:creationId xmlns:a16="http://schemas.microsoft.com/office/drawing/2014/main" id="{37429FF6-4580-17A4-2590-D88D80649C97}"/>
              </a:ext>
            </a:extLst>
          </p:cNvPr>
          <p:cNvCxnSpPr>
            <a:cxnSpLocks/>
            <a:stCxn id="2" idx="2"/>
          </p:cNvCxnSpPr>
          <p:nvPr/>
        </p:nvCxnSpPr>
        <p:spPr>
          <a:xfrm flipH="1">
            <a:off x="6236811" y="1521896"/>
            <a:ext cx="1" cy="4829028"/>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直接连接符 61">
            <a:extLst>
              <a:ext uri="{FF2B5EF4-FFF2-40B4-BE49-F238E27FC236}">
                <a16:creationId xmlns:a16="http://schemas.microsoft.com/office/drawing/2014/main" id="{30E22A90-E844-FD0E-74B5-0A3C543F2505}"/>
              </a:ext>
            </a:extLst>
          </p:cNvPr>
          <p:cNvCxnSpPr>
            <a:cxnSpLocks/>
          </p:cNvCxnSpPr>
          <p:nvPr/>
        </p:nvCxnSpPr>
        <p:spPr>
          <a:xfrm>
            <a:off x="6233632" y="3564684"/>
            <a:ext cx="5955189"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6" name="组合 5">
            <a:extLst>
              <a:ext uri="{FF2B5EF4-FFF2-40B4-BE49-F238E27FC236}">
                <a16:creationId xmlns:a16="http://schemas.microsoft.com/office/drawing/2014/main" id="{0CDD229E-3598-FEFA-13F3-213041176F62}"/>
              </a:ext>
            </a:extLst>
          </p:cNvPr>
          <p:cNvGrpSpPr/>
          <p:nvPr/>
        </p:nvGrpSpPr>
        <p:grpSpPr>
          <a:xfrm>
            <a:off x="531167" y="2074275"/>
            <a:ext cx="5173418" cy="2133083"/>
            <a:chOff x="516980" y="1854495"/>
            <a:chExt cx="5173418" cy="2133083"/>
          </a:xfrm>
        </p:grpSpPr>
        <p:grpSp>
          <p:nvGrpSpPr>
            <p:cNvPr id="64" name="组合 63">
              <a:extLst>
                <a:ext uri="{FF2B5EF4-FFF2-40B4-BE49-F238E27FC236}">
                  <a16:creationId xmlns:a16="http://schemas.microsoft.com/office/drawing/2014/main" id="{14EF5490-9005-5396-3119-7B375C3D26AB}"/>
                </a:ext>
              </a:extLst>
            </p:cNvPr>
            <p:cNvGrpSpPr/>
            <p:nvPr/>
          </p:nvGrpSpPr>
          <p:grpSpPr>
            <a:xfrm>
              <a:off x="1214867" y="1855866"/>
              <a:ext cx="4475531" cy="987840"/>
              <a:chOff x="5370035" y="5330749"/>
              <a:chExt cx="4475531" cy="987840"/>
            </a:xfrm>
          </p:grpSpPr>
          <p:grpSp>
            <p:nvGrpSpPr>
              <p:cNvPr id="65" name="组合 64">
                <a:extLst>
                  <a:ext uri="{FF2B5EF4-FFF2-40B4-BE49-F238E27FC236}">
                    <a16:creationId xmlns:a16="http://schemas.microsoft.com/office/drawing/2014/main" id="{3E7A2AF5-C101-2C8E-5872-EC92106D8F4D}"/>
                  </a:ext>
                </a:extLst>
              </p:cNvPr>
              <p:cNvGrpSpPr/>
              <p:nvPr/>
            </p:nvGrpSpPr>
            <p:grpSpPr>
              <a:xfrm>
                <a:off x="5370035" y="5330749"/>
                <a:ext cx="4475531" cy="722632"/>
                <a:chOff x="5370035" y="5330749"/>
                <a:chExt cx="4475531" cy="722632"/>
              </a:xfrm>
            </p:grpSpPr>
            <p:sp>
              <p:nvSpPr>
                <p:cNvPr id="67" name="矩形: 圆角 66">
                  <a:extLst>
                    <a:ext uri="{FF2B5EF4-FFF2-40B4-BE49-F238E27FC236}">
                      <a16:creationId xmlns:a16="http://schemas.microsoft.com/office/drawing/2014/main" id="{33E42FE4-8267-66F4-6962-2C82D85C0952}"/>
                    </a:ext>
                  </a:extLst>
                </p:cNvPr>
                <p:cNvSpPr/>
                <p:nvPr/>
              </p:nvSpPr>
              <p:spPr>
                <a:xfrm>
                  <a:off x="5370035" y="5330749"/>
                  <a:ext cx="4475531" cy="72263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68" name="矩形: 圆角 67">
                  <a:extLst>
                    <a:ext uri="{FF2B5EF4-FFF2-40B4-BE49-F238E27FC236}">
                      <a16:creationId xmlns:a16="http://schemas.microsoft.com/office/drawing/2014/main" id="{E719DDF4-FA52-259F-B28B-299959BC50C8}"/>
                    </a:ext>
                  </a:extLst>
                </p:cNvPr>
                <p:cNvSpPr/>
                <p:nvPr/>
              </p:nvSpPr>
              <p:spPr>
                <a:xfrm>
                  <a:off x="5370035" y="5330749"/>
                  <a:ext cx="862599" cy="722632"/>
                </a:xfrm>
                <a:prstGeom prst="roundRect">
                  <a:avLst/>
                </a:prstGeom>
                <a:solidFill>
                  <a:schemeClr val="accent1">
                    <a:lumMod val="20000"/>
                    <a:lumOff val="80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理想气体假设</a:t>
                  </a:r>
                  <a:endParaRPr lang="zh-CN" altLang="en-US" sz="1400" b="1" dirty="0">
                    <a:solidFill>
                      <a:schemeClr val="tx1"/>
                    </a:solidFill>
                  </a:endParaRPr>
                </a:p>
              </p:txBody>
            </p:sp>
          </p:grpSp>
          <p:sp>
            <p:nvSpPr>
              <p:cNvPr id="66" name="文本框 65">
                <a:extLst>
                  <a:ext uri="{FF2B5EF4-FFF2-40B4-BE49-F238E27FC236}">
                    <a16:creationId xmlns:a16="http://schemas.microsoft.com/office/drawing/2014/main" id="{F6B1F329-6580-FF32-9E87-A1896AFD6264}"/>
                  </a:ext>
                </a:extLst>
              </p:cNvPr>
              <p:cNvSpPr txBox="1"/>
              <p:nvPr/>
            </p:nvSpPr>
            <p:spPr>
              <a:xfrm>
                <a:off x="6232633" y="5395259"/>
                <a:ext cx="3612932" cy="923330"/>
              </a:xfrm>
              <a:prstGeom prst="rect">
                <a:avLst/>
              </a:prstGeom>
              <a:noFill/>
            </p:spPr>
            <p:txBody>
              <a:bodyPr wrap="square" rtlCol="0">
                <a:spAutoFit/>
              </a:bodyPr>
              <a:lstStyle/>
              <a:p>
                <a:pPr algn="ctr"/>
                <a:r>
                  <a:rPr lang="zh-CN" altLang="en-US" sz="1200"/>
                  <a:t>已燃区和未燃区气体均视为理想气体，已燃区气体由反应产物和未反应气体组成，未燃区气体由空气和氢气组成，忽略残余废气。</a:t>
                </a:r>
              </a:p>
              <a:p>
                <a:endParaRPr lang="zh-CN" altLang="en-US" dirty="0"/>
              </a:p>
            </p:txBody>
          </p:sp>
        </p:grpSp>
        <p:grpSp>
          <p:nvGrpSpPr>
            <p:cNvPr id="69" name="组合 68">
              <a:extLst>
                <a:ext uri="{FF2B5EF4-FFF2-40B4-BE49-F238E27FC236}">
                  <a16:creationId xmlns:a16="http://schemas.microsoft.com/office/drawing/2014/main" id="{1AD8529A-EFE8-F6D6-953F-4A6B186609FB}"/>
                </a:ext>
              </a:extLst>
            </p:cNvPr>
            <p:cNvGrpSpPr/>
            <p:nvPr/>
          </p:nvGrpSpPr>
          <p:grpSpPr>
            <a:xfrm>
              <a:off x="1214866" y="2639918"/>
              <a:ext cx="4475531" cy="622251"/>
              <a:chOff x="360000" y="5330749"/>
              <a:chExt cx="4475531" cy="622251"/>
            </a:xfrm>
          </p:grpSpPr>
          <p:grpSp>
            <p:nvGrpSpPr>
              <p:cNvPr id="70" name="组合 69">
                <a:extLst>
                  <a:ext uri="{FF2B5EF4-FFF2-40B4-BE49-F238E27FC236}">
                    <a16:creationId xmlns:a16="http://schemas.microsoft.com/office/drawing/2014/main" id="{74B00B77-122D-0A4A-73EA-C93446DCD587}"/>
                  </a:ext>
                </a:extLst>
              </p:cNvPr>
              <p:cNvGrpSpPr/>
              <p:nvPr/>
            </p:nvGrpSpPr>
            <p:grpSpPr>
              <a:xfrm>
                <a:off x="360000" y="5330749"/>
                <a:ext cx="4475531" cy="622251"/>
                <a:chOff x="5370035" y="5330749"/>
                <a:chExt cx="4475531" cy="622251"/>
              </a:xfrm>
            </p:grpSpPr>
            <p:sp>
              <p:nvSpPr>
                <p:cNvPr id="72" name="矩形: 圆角 71">
                  <a:extLst>
                    <a:ext uri="{FF2B5EF4-FFF2-40B4-BE49-F238E27FC236}">
                      <a16:creationId xmlns:a16="http://schemas.microsoft.com/office/drawing/2014/main" id="{F1BDF017-90E5-5993-31ED-FDF0F87B9FF7}"/>
                    </a:ext>
                  </a:extLst>
                </p:cNvPr>
                <p:cNvSpPr/>
                <p:nvPr/>
              </p:nvSpPr>
              <p:spPr>
                <a:xfrm>
                  <a:off x="5370035" y="5330749"/>
                  <a:ext cx="4475531" cy="622251"/>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73" name="矩形: 圆角 72">
                  <a:extLst>
                    <a:ext uri="{FF2B5EF4-FFF2-40B4-BE49-F238E27FC236}">
                      <a16:creationId xmlns:a16="http://schemas.microsoft.com/office/drawing/2014/main" id="{10F41C97-3CCE-6BA8-075B-148D70AE6AB1}"/>
                    </a:ext>
                  </a:extLst>
                </p:cNvPr>
                <p:cNvSpPr/>
                <p:nvPr/>
              </p:nvSpPr>
              <p:spPr>
                <a:xfrm>
                  <a:off x="5370035" y="5330749"/>
                  <a:ext cx="862599" cy="612410"/>
                </a:xfrm>
                <a:prstGeom prst="roundRect">
                  <a:avLst/>
                </a:prstGeom>
                <a:solidFill>
                  <a:schemeClr val="accent1">
                    <a:lumMod val="20000"/>
                    <a:lumOff val="80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单向传质假设</a:t>
                  </a:r>
                  <a:endParaRPr lang="zh-CN" altLang="en-US" sz="1400" b="1" dirty="0">
                    <a:solidFill>
                      <a:schemeClr val="tx1"/>
                    </a:solidFill>
                  </a:endParaRPr>
                </a:p>
              </p:txBody>
            </p:sp>
          </p:grpSp>
          <p:sp>
            <p:nvSpPr>
              <p:cNvPr id="71" name="文本框 70">
                <a:extLst>
                  <a:ext uri="{FF2B5EF4-FFF2-40B4-BE49-F238E27FC236}">
                    <a16:creationId xmlns:a16="http://schemas.microsoft.com/office/drawing/2014/main" id="{957757CE-5E72-9A23-F1B6-DD55EAFD225F}"/>
                  </a:ext>
                </a:extLst>
              </p:cNvPr>
              <p:cNvSpPr txBox="1"/>
              <p:nvPr/>
            </p:nvSpPr>
            <p:spPr>
              <a:xfrm>
                <a:off x="1222599" y="5460557"/>
                <a:ext cx="3612932" cy="492443"/>
              </a:xfrm>
              <a:prstGeom prst="rect">
                <a:avLst/>
              </a:prstGeom>
              <a:noFill/>
            </p:spPr>
            <p:txBody>
              <a:bodyPr wrap="square" rtlCol="0">
                <a:spAutoFit/>
              </a:bodyPr>
              <a:lstStyle/>
              <a:p>
                <a:pPr algn="ctr"/>
                <a:r>
                  <a:rPr lang="zh-CN" altLang="en-US" sz="1200"/>
                  <a:t>微元质量被火焰前锋卷吸后瞬时燃烧。忽略两区之间的传热及气体泄漏</a:t>
                </a:r>
                <a:r>
                  <a:rPr lang="zh-CN" altLang="en-US" sz="1400"/>
                  <a:t>。</a:t>
                </a:r>
                <a:endParaRPr lang="zh-CN" altLang="en-US" dirty="0"/>
              </a:p>
            </p:txBody>
          </p:sp>
        </p:grpSp>
        <p:grpSp>
          <p:nvGrpSpPr>
            <p:cNvPr id="74" name="组合 73">
              <a:extLst>
                <a:ext uri="{FF2B5EF4-FFF2-40B4-BE49-F238E27FC236}">
                  <a16:creationId xmlns:a16="http://schemas.microsoft.com/office/drawing/2014/main" id="{6FD0BF21-0CA3-6DFB-3F95-35CD30677615}"/>
                </a:ext>
              </a:extLst>
            </p:cNvPr>
            <p:cNvGrpSpPr/>
            <p:nvPr/>
          </p:nvGrpSpPr>
          <p:grpSpPr>
            <a:xfrm>
              <a:off x="1214865" y="3323589"/>
              <a:ext cx="4475531" cy="663989"/>
              <a:chOff x="360000" y="5330749"/>
              <a:chExt cx="4475531" cy="663989"/>
            </a:xfrm>
          </p:grpSpPr>
          <p:grpSp>
            <p:nvGrpSpPr>
              <p:cNvPr id="75" name="组合 74">
                <a:extLst>
                  <a:ext uri="{FF2B5EF4-FFF2-40B4-BE49-F238E27FC236}">
                    <a16:creationId xmlns:a16="http://schemas.microsoft.com/office/drawing/2014/main" id="{EE935B7B-52D4-6560-EAF8-CE614178B14C}"/>
                  </a:ext>
                </a:extLst>
              </p:cNvPr>
              <p:cNvGrpSpPr/>
              <p:nvPr/>
            </p:nvGrpSpPr>
            <p:grpSpPr>
              <a:xfrm>
                <a:off x="360000" y="5330749"/>
                <a:ext cx="4475531" cy="663989"/>
                <a:chOff x="5370035" y="5330749"/>
                <a:chExt cx="4475531" cy="663989"/>
              </a:xfrm>
            </p:grpSpPr>
            <p:sp>
              <p:nvSpPr>
                <p:cNvPr id="77" name="矩形: 圆角 76">
                  <a:extLst>
                    <a:ext uri="{FF2B5EF4-FFF2-40B4-BE49-F238E27FC236}">
                      <a16:creationId xmlns:a16="http://schemas.microsoft.com/office/drawing/2014/main" id="{8E1A44A1-3381-673B-FAA8-8389C2FEC9A4}"/>
                    </a:ext>
                  </a:extLst>
                </p:cNvPr>
                <p:cNvSpPr/>
                <p:nvPr/>
              </p:nvSpPr>
              <p:spPr>
                <a:xfrm>
                  <a:off x="5370035" y="5330749"/>
                  <a:ext cx="4475531" cy="663989"/>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78" name="矩形: 圆角 77">
                  <a:extLst>
                    <a:ext uri="{FF2B5EF4-FFF2-40B4-BE49-F238E27FC236}">
                      <a16:creationId xmlns:a16="http://schemas.microsoft.com/office/drawing/2014/main" id="{95CB6701-3491-6408-48B0-2A6A6843287C}"/>
                    </a:ext>
                  </a:extLst>
                </p:cNvPr>
                <p:cNvSpPr/>
                <p:nvPr/>
              </p:nvSpPr>
              <p:spPr>
                <a:xfrm>
                  <a:off x="5370035" y="5330749"/>
                  <a:ext cx="862599" cy="663989"/>
                </a:xfrm>
                <a:prstGeom prst="roundRect">
                  <a:avLst/>
                </a:prstGeom>
                <a:solidFill>
                  <a:schemeClr val="accent1">
                    <a:lumMod val="20000"/>
                    <a:lumOff val="80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均压均温假设</a:t>
                  </a:r>
                  <a:endParaRPr lang="zh-CN" altLang="en-US" sz="1400" b="1" dirty="0">
                    <a:solidFill>
                      <a:schemeClr val="tx1"/>
                    </a:solidFill>
                  </a:endParaRPr>
                </a:p>
              </p:txBody>
            </p:sp>
          </p:grpSp>
          <p:sp>
            <p:nvSpPr>
              <p:cNvPr id="76" name="文本框 75">
                <a:extLst>
                  <a:ext uri="{FF2B5EF4-FFF2-40B4-BE49-F238E27FC236}">
                    <a16:creationId xmlns:a16="http://schemas.microsoft.com/office/drawing/2014/main" id="{C80CC616-7230-9097-641C-0F5F08675BE9}"/>
                  </a:ext>
                </a:extLst>
              </p:cNvPr>
              <p:cNvSpPr txBox="1"/>
              <p:nvPr/>
            </p:nvSpPr>
            <p:spPr>
              <a:xfrm>
                <a:off x="1205823" y="5458700"/>
                <a:ext cx="3612932" cy="461665"/>
              </a:xfrm>
              <a:prstGeom prst="rect">
                <a:avLst/>
              </a:prstGeom>
              <a:noFill/>
            </p:spPr>
            <p:txBody>
              <a:bodyPr wrap="square" rtlCol="0">
                <a:spAutoFit/>
              </a:bodyPr>
              <a:lstStyle/>
              <a:p>
                <a:pPr algn="ctr"/>
                <a:r>
                  <a:rPr lang="zh-CN" altLang="en-US" sz="1200"/>
                  <a:t>任意曲轴转角下，已燃区和未燃区的温度、压力分布均匀，且两区压力相等，仅为曲轴转角的函数。</a:t>
                </a:r>
                <a:endParaRPr lang="zh-CN" altLang="en-US" sz="1200" dirty="0"/>
              </a:p>
            </p:txBody>
          </p:sp>
        </p:grpSp>
        <p:sp>
          <p:nvSpPr>
            <p:cNvPr id="80" name="矩形: 圆角 79">
              <a:extLst>
                <a:ext uri="{FF2B5EF4-FFF2-40B4-BE49-F238E27FC236}">
                  <a16:creationId xmlns:a16="http://schemas.microsoft.com/office/drawing/2014/main" id="{97EA0A95-F736-F717-7570-F2FF903913D0}"/>
                </a:ext>
              </a:extLst>
            </p:cNvPr>
            <p:cNvSpPr/>
            <p:nvPr/>
          </p:nvSpPr>
          <p:spPr>
            <a:xfrm>
              <a:off x="516980" y="1854495"/>
              <a:ext cx="618412" cy="2133083"/>
            </a:xfrm>
            <a:prstGeom prst="roundRect">
              <a:avLst/>
            </a:prstGeom>
            <a:solidFill>
              <a:schemeClr val="accent1">
                <a:lumMod val="20000"/>
                <a:lumOff val="80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rgbClr val="C00000"/>
                  </a:solidFill>
                </a:rPr>
                <a:t>准维模型基本假设</a:t>
              </a:r>
              <a:endParaRPr lang="zh-CN" altLang="en-US" sz="1400" b="1" dirty="0">
                <a:solidFill>
                  <a:srgbClr val="C00000"/>
                </a:solidFill>
              </a:endParaRPr>
            </a:p>
          </p:txBody>
        </p:sp>
      </p:grpSp>
      <p:sp>
        <p:nvSpPr>
          <p:cNvPr id="83" name="文本框 82">
            <a:extLst>
              <a:ext uri="{FF2B5EF4-FFF2-40B4-BE49-F238E27FC236}">
                <a16:creationId xmlns:a16="http://schemas.microsoft.com/office/drawing/2014/main" id="{FBA959A2-53CD-CA38-6642-F8DE994A5550}"/>
              </a:ext>
            </a:extLst>
          </p:cNvPr>
          <p:cNvSpPr txBox="1"/>
          <p:nvPr/>
        </p:nvSpPr>
        <p:spPr>
          <a:xfrm>
            <a:off x="214743" y="6156571"/>
            <a:ext cx="6101542" cy="276999"/>
          </a:xfrm>
          <a:prstGeom prst="rect">
            <a:avLst/>
          </a:prstGeom>
          <a:noFill/>
        </p:spPr>
        <p:txBody>
          <a:bodyPr wrap="square">
            <a:spAutoFit/>
          </a:bodyPr>
          <a:lstStyle/>
          <a:p>
            <a:pPr algn="ctr"/>
            <a:r>
              <a:rPr lang="zh-CN" altLang="en-US" sz="1200"/>
              <a:t>图</a:t>
            </a:r>
            <a:r>
              <a:rPr lang="en-US" altLang="zh-CN" sz="1200"/>
              <a:t>2-1 </a:t>
            </a:r>
            <a:r>
              <a:rPr lang="zh-CN" altLang="en-US" sz="1200"/>
              <a:t>单双区模型气缸空间示意图，图（</a:t>
            </a:r>
            <a:r>
              <a:rPr lang="en-US" altLang="zh-CN" sz="1200"/>
              <a:t>a</a:t>
            </a:r>
            <a:r>
              <a:rPr lang="zh-CN" altLang="en-US" sz="1200"/>
              <a:t>）为单区零维模型，图（</a:t>
            </a:r>
            <a:r>
              <a:rPr lang="en-US" altLang="zh-CN" sz="1200"/>
              <a:t>b</a:t>
            </a:r>
            <a:r>
              <a:rPr lang="zh-CN" altLang="en-US" sz="1200"/>
              <a:t>）为双区准维模型</a:t>
            </a:r>
          </a:p>
        </p:txBody>
      </p:sp>
      <p:sp>
        <p:nvSpPr>
          <p:cNvPr id="88" name="文本框 87">
            <a:extLst>
              <a:ext uri="{FF2B5EF4-FFF2-40B4-BE49-F238E27FC236}">
                <a16:creationId xmlns:a16="http://schemas.microsoft.com/office/drawing/2014/main" id="{6F7B90AC-9A9D-9316-ABD4-20BAAE04841B}"/>
              </a:ext>
            </a:extLst>
          </p:cNvPr>
          <p:cNvSpPr txBox="1"/>
          <p:nvPr/>
        </p:nvSpPr>
        <p:spPr>
          <a:xfrm>
            <a:off x="6273438" y="1490929"/>
            <a:ext cx="415635" cy="2062103"/>
          </a:xfrm>
          <a:prstGeom prst="rect">
            <a:avLst/>
          </a:prstGeom>
          <a:noFill/>
        </p:spPr>
        <p:txBody>
          <a:bodyPr wrap="square" rtlCol="0">
            <a:spAutoFit/>
          </a:bodyPr>
          <a:lstStyle/>
          <a:p>
            <a:pPr algn="ctr"/>
            <a:r>
              <a:rPr lang="zh-CN" altLang="zh-CN" sz="1600" b="1">
                <a:solidFill>
                  <a:srgbClr val="004A98"/>
                </a:solidFill>
              </a:rPr>
              <a:t>单区模型控制方程</a:t>
            </a:r>
            <a:endParaRPr lang="zh-CN" altLang="en-US" sz="1600" b="1">
              <a:solidFill>
                <a:srgbClr val="004A98"/>
              </a:solidFill>
            </a:endParaRPr>
          </a:p>
        </p:txBody>
      </p:sp>
      <p:sp>
        <p:nvSpPr>
          <p:cNvPr id="90" name="文本框 89">
            <a:extLst>
              <a:ext uri="{FF2B5EF4-FFF2-40B4-BE49-F238E27FC236}">
                <a16:creationId xmlns:a16="http://schemas.microsoft.com/office/drawing/2014/main" id="{A0CB9C8A-0E60-3A4F-EB2E-100A508E4C44}"/>
              </a:ext>
            </a:extLst>
          </p:cNvPr>
          <p:cNvSpPr txBox="1"/>
          <p:nvPr/>
        </p:nvSpPr>
        <p:spPr>
          <a:xfrm>
            <a:off x="6277816" y="3980584"/>
            <a:ext cx="415635" cy="2062103"/>
          </a:xfrm>
          <a:prstGeom prst="rect">
            <a:avLst/>
          </a:prstGeom>
          <a:noFill/>
        </p:spPr>
        <p:txBody>
          <a:bodyPr wrap="square" rtlCol="0">
            <a:spAutoFit/>
          </a:bodyPr>
          <a:lstStyle/>
          <a:p>
            <a:pPr algn="ctr"/>
            <a:r>
              <a:rPr lang="zh-CN" altLang="en-US" sz="1600" b="1">
                <a:solidFill>
                  <a:srgbClr val="004A98"/>
                </a:solidFill>
              </a:rPr>
              <a:t>双</a:t>
            </a:r>
            <a:r>
              <a:rPr lang="zh-CN" altLang="zh-CN" sz="1600" b="1">
                <a:solidFill>
                  <a:srgbClr val="004A98"/>
                </a:solidFill>
              </a:rPr>
              <a:t>区模型控制方程</a:t>
            </a:r>
            <a:endParaRPr lang="zh-CN" altLang="en-US" sz="1600" b="1">
              <a:solidFill>
                <a:srgbClr val="004A98"/>
              </a:solidFill>
            </a:endParaRPr>
          </a:p>
        </p:txBody>
      </p:sp>
      <p:pic>
        <p:nvPicPr>
          <p:cNvPr id="94" name="图片 93">
            <a:extLst>
              <a:ext uri="{FF2B5EF4-FFF2-40B4-BE49-F238E27FC236}">
                <a16:creationId xmlns:a16="http://schemas.microsoft.com/office/drawing/2014/main" id="{E1E3ABB2-C126-461C-98C9-981C08F049C0}"/>
              </a:ext>
            </a:extLst>
          </p:cNvPr>
          <p:cNvPicPr>
            <a:picLocks noChangeAspect="1"/>
          </p:cNvPicPr>
          <p:nvPr/>
        </p:nvPicPr>
        <p:blipFill>
          <a:blip r:embed="rId5"/>
          <a:stretch>
            <a:fillRect/>
          </a:stretch>
        </p:blipFill>
        <p:spPr>
          <a:xfrm>
            <a:off x="6844829" y="5010114"/>
            <a:ext cx="4118118" cy="639709"/>
          </a:xfrm>
          <a:prstGeom prst="rect">
            <a:avLst/>
          </a:prstGeom>
        </p:spPr>
      </p:pic>
      <p:pic>
        <p:nvPicPr>
          <p:cNvPr id="100" name="图片 99">
            <a:extLst>
              <a:ext uri="{FF2B5EF4-FFF2-40B4-BE49-F238E27FC236}">
                <a16:creationId xmlns:a16="http://schemas.microsoft.com/office/drawing/2014/main" id="{A0395D02-36C1-E149-7E76-85A65011A501}"/>
              </a:ext>
            </a:extLst>
          </p:cNvPr>
          <p:cNvPicPr>
            <a:picLocks noChangeAspect="1"/>
          </p:cNvPicPr>
          <p:nvPr/>
        </p:nvPicPr>
        <p:blipFill>
          <a:blip r:embed="rId6"/>
          <a:stretch>
            <a:fillRect/>
          </a:stretch>
        </p:blipFill>
        <p:spPr>
          <a:xfrm>
            <a:off x="6997207" y="2741871"/>
            <a:ext cx="1171739" cy="419158"/>
          </a:xfrm>
          <a:prstGeom prst="rect">
            <a:avLst/>
          </a:prstGeom>
        </p:spPr>
      </p:pic>
      <p:pic>
        <p:nvPicPr>
          <p:cNvPr id="102" name="图片 101">
            <a:extLst>
              <a:ext uri="{FF2B5EF4-FFF2-40B4-BE49-F238E27FC236}">
                <a16:creationId xmlns:a16="http://schemas.microsoft.com/office/drawing/2014/main" id="{02137879-FF95-76DE-8159-DF74464A6C1D}"/>
              </a:ext>
            </a:extLst>
          </p:cNvPr>
          <p:cNvPicPr>
            <a:picLocks noChangeAspect="1"/>
          </p:cNvPicPr>
          <p:nvPr/>
        </p:nvPicPr>
        <p:blipFill>
          <a:blip r:embed="rId7"/>
          <a:stretch>
            <a:fillRect/>
          </a:stretch>
        </p:blipFill>
        <p:spPr>
          <a:xfrm>
            <a:off x="6638306" y="1711501"/>
            <a:ext cx="1901184" cy="910075"/>
          </a:xfrm>
          <a:prstGeom prst="rect">
            <a:avLst/>
          </a:prstGeom>
        </p:spPr>
      </p:pic>
      <p:pic>
        <p:nvPicPr>
          <p:cNvPr id="103" name="图形 102" descr="V 形箭头 纯色填充">
            <a:extLst>
              <a:ext uri="{FF2B5EF4-FFF2-40B4-BE49-F238E27FC236}">
                <a16:creationId xmlns:a16="http://schemas.microsoft.com/office/drawing/2014/main" id="{C28053BF-0AB5-2FC3-8E2B-1D72AD05A8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26306" y="2357627"/>
            <a:ext cx="277518" cy="277516"/>
          </a:xfrm>
          <a:prstGeom prst="rect">
            <a:avLst/>
          </a:prstGeom>
        </p:spPr>
      </p:pic>
      <p:grpSp>
        <p:nvGrpSpPr>
          <p:cNvPr id="10" name="组合 9">
            <a:extLst>
              <a:ext uri="{FF2B5EF4-FFF2-40B4-BE49-F238E27FC236}">
                <a16:creationId xmlns:a16="http://schemas.microsoft.com/office/drawing/2014/main" id="{F3E24A35-0367-5ABF-50B8-9F58691FCD0D}"/>
              </a:ext>
            </a:extLst>
          </p:cNvPr>
          <p:cNvGrpSpPr/>
          <p:nvPr/>
        </p:nvGrpSpPr>
        <p:grpSpPr>
          <a:xfrm>
            <a:off x="7971174" y="5701009"/>
            <a:ext cx="2483284" cy="754534"/>
            <a:chOff x="7699790" y="5633298"/>
            <a:chExt cx="2483284" cy="754534"/>
          </a:xfrm>
        </p:grpSpPr>
        <p:pic>
          <p:nvPicPr>
            <p:cNvPr id="96" name="图片 95">
              <a:extLst>
                <a:ext uri="{FF2B5EF4-FFF2-40B4-BE49-F238E27FC236}">
                  <a16:creationId xmlns:a16="http://schemas.microsoft.com/office/drawing/2014/main" id="{8CF942F4-E067-5D42-2A07-9B9E5369AE7C}"/>
                </a:ext>
              </a:extLst>
            </p:cNvPr>
            <p:cNvPicPr>
              <a:picLocks noChangeAspect="1"/>
            </p:cNvPicPr>
            <p:nvPr/>
          </p:nvPicPr>
          <p:blipFill>
            <a:blip r:embed="rId9"/>
            <a:stretch>
              <a:fillRect/>
            </a:stretch>
          </p:blipFill>
          <p:spPr>
            <a:xfrm>
              <a:off x="7757206" y="5633298"/>
              <a:ext cx="2425868" cy="754534"/>
            </a:xfrm>
            <a:prstGeom prst="rect">
              <a:avLst/>
            </a:prstGeom>
          </p:spPr>
        </p:pic>
        <p:sp>
          <p:nvSpPr>
            <p:cNvPr id="9" name="矩形 8">
              <a:extLst>
                <a:ext uri="{FF2B5EF4-FFF2-40B4-BE49-F238E27FC236}">
                  <a16:creationId xmlns:a16="http://schemas.microsoft.com/office/drawing/2014/main" id="{68AE0F80-DCA7-E256-741A-452E109CDA5E}"/>
                </a:ext>
              </a:extLst>
            </p:cNvPr>
            <p:cNvSpPr/>
            <p:nvPr/>
          </p:nvSpPr>
          <p:spPr>
            <a:xfrm>
              <a:off x="7699790" y="5683023"/>
              <a:ext cx="2483284" cy="667901"/>
            </a:xfrm>
            <a:prstGeom prst="rect">
              <a:avLst/>
            </a:prstGeom>
            <a:noFill/>
            <a:ln w="12700">
              <a:solidFill>
                <a:schemeClr val="bg2">
                  <a:lumMod val="75000"/>
                </a:schemeClr>
              </a:solid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a:extLst>
              <a:ext uri="{FF2B5EF4-FFF2-40B4-BE49-F238E27FC236}">
                <a16:creationId xmlns:a16="http://schemas.microsoft.com/office/drawing/2014/main" id="{660525A8-CDDE-7555-DB4C-CDDDFCAAF445}"/>
              </a:ext>
            </a:extLst>
          </p:cNvPr>
          <p:cNvSpPr/>
          <p:nvPr/>
        </p:nvSpPr>
        <p:spPr>
          <a:xfrm>
            <a:off x="6786947" y="5059839"/>
            <a:ext cx="4264507" cy="547632"/>
          </a:xfrm>
          <a:prstGeom prst="rect">
            <a:avLst/>
          </a:prstGeom>
          <a:noFill/>
          <a:ln w="12700">
            <a:solidFill>
              <a:schemeClr val="bg2">
                <a:lumMod val="75000"/>
              </a:schemeClr>
            </a:solid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AEDFE001-9555-AD4F-B3F5-847A76AF0A68}"/>
              </a:ext>
            </a:extLst>
          </p:cNvPr>
          <p:cNvGrpSpPr/>
          <p:nvPr/>
        </p:nvGrpSpPr>
        <p:grpSpPr>
          <a:xfrm>
            <a:off x="6713559" y="3638318"/>
            <a:ext cx="4610483" cy="1287873"/>
            <a:chOff x="6916503" y="3722241"/>
            <a:chExt cx="4180528" cy="1287873"/>
          </a:xfrm>
        </p:grpSpPr>
        <p:pic>
          <p:nvPicPr>
            <p:cNvPr id="98" name="图片 97">
              <a:extLst>
                <a:ext uri="{FF2B5EF4-FFF2-40B4-BE49-F238E27FC236}">
                  <a16:creationId xmlns:a16="http://schemas.microsoft.com/office/drawing/2014/main" id="{9F31F143-8057-AAB2-EDBC-A057923DB124}"/>
                </a:ext>
              </a:extLst>
            </p:cNvPr>
            <p:cNvPicPr>
              <a:picLocks noChangeAspect="1"/>
            </p:cNvPicPr>
            <p:nvPr/>
          </p:nvPicPr>
          <p:blipFill>
            <a:blip r:embed="rId10"/>
            <a:stretch>
              <a:fillRect/>
            </a:stretch>
          </p:blipFill>
          <p:spPr>
            <a:xfrm>
              <a:off x="6916503" y="3722241"/>
              <a:ext cx="4180528" cy="1287873"/>
            </a:xfrm>
            <a:prstGeom prst="rect">
              <a:avLst/>
            </a:prstGeom>
          </p:spPr>
        </p:pic>
        <p:sp>
          <p:nvSpPr>
            <p:cNvPr id="12" name="矩形 11">
              <a:extLst>
                <a:ext uri="{FF2B5EF4-FFF2-40B4-BE49-F238E27FC236}">
                  <a16:creationId xmlns:a16="http://schemas.microsoft.com/office/drawing/2014/main" id="{D6454FF7-4E15-AD83-3141-9EA63A5E5694}"/>
                </a:ext>
              </a:extLst>
            </p:cNvPr>
            <p:cNvSpPr/>
            <p:nvPr/>
          </p:nvSpPr>
          <p:spPr>
            <a:xfrm>
              <a:off x="6997206" y="3739669"/>
              <a:ext cx="3855945" cy="1270445"/>
            </a:xfrm>
            <a:prstGeom prst="rect">
              <a:avLst/>
            </a:prstGeom>
            <a:noFill/>
            <a:ln w="12700">
              <a:solidFill>
                <a:schemeClr val="bg2">
                  <a:lumMod val="75000"/>
                </a:schemeClr>
              </a:solid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A70D06C8-40F2-B17A-09E6-32261F85FF1D}"/>
              </a:ext>
            </a:extLst>
          </p:cNvPr>
          <p:cNvSpPr txBox="1"/>
          <p:nvPr/>
        </p:nvSpPr>
        <p:spPr>
          <a:xfrm>
            <a:off x="252881" y="1675933"/>
            <a:ext cx="6038833" cy="307777"/>
          </a:xfrm>
          <a:prstGeom prst="rect">
            <a:avLst/>
          </a:prstGeom>
          <a:noFill/>
        </p:spPr>
        <p:txBody>
          <a:bodyPr wrap="none" rtlCol="0">
            <a:spAutoFit/>
          </a:bodyPr>
          <a:lstStyle/>
          <a:p>
            <a:pPr marL="285750" indent="-285750">
              <a:buFont typeface="Wingdings" panose="05000000000000000000" pitchFamily="2" charset="2"/>
              <a:buChar char="u"/>
            </a:pPr>
            <a:r>
              <a:rPr lang="zh-CN" altLang="en-US" sz="1400" b="1">
                <a:solidFill>
                  <a:srgbClr val="C00000"/>
                </a:solidFill>
              </a:rPr>
              <a:t>准维模型</a:t>
            </a:r>
            <a:r>
              <a:rPr lang="zh-CN" altLang="en-US" sz="1400"/>
              <a:t>即采用简化几何假设将气缸分为多区，进而求解其热力学状态</a:t>
            </a:r>
          </a:p>
        </p:txBody>
      </p:sp>
      <p:sp>
        <p:nvSpPr>
          <p:cNvPr id="8" name="矩形: 圆角 7">
            <a:extLst>
              <a:ext uri="{FF2B5EF4-FFF2-40B4-BE49-F238E27FC236}">
                <a16:creationId xmlns:a16="http://schemas.microsoft.com/office/drawing/2014/main" id="{040C9180-74CC-A3F2-4AB3-D7AA434FDB52}"/>
              </a:ext>
            </a:extLst>
          </p:cNvPr>
          <p:cNvSpPr/>
          <p:nvPr/>
        </p:nvSpPr>
        <p:spPr>
          <a:xfrm>
            <a:off x="252881" y="1635779"/>
            <a:ext cx="5904457" cy="370363"/>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0505D8A-2CE8-E2C8-5C66-E7594062BD39}"/>
              </a:ext>
            </a:extLst>
          </p:cNvPr>
          <p:cNvSpPr txBox="1"/>
          <p:nvPr/>
        </p:nvSpPr>
        <p:spPr>
          <a:xfrm>
            <a:off x="10962946" y="2026235"/>
            <a:ext cx="936475"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solidFill>
                  <a:srgbClr val="C00000"/>
                </a:solidFill>
              </a:rPr>
              <a:t>缸压</a:t>
            </a:r>
            <a:r>
              <a:rPr lang="en-US" altLang="zh-CN" sz="1400" b="1">
                <a:solidFill>
                  <a:srgbClr val="C00000"/>
                </a:solidFill>
              </a:rPr>
              <a:t>P</a:t>
            </a:r>
            <a:endParaRPr lang="zh-CN" altLang="en-US" sz="1400" b="1">
              <a:solidFill>
                <a:srgbClr val="C00000"/>
              </a:solidFill>
            </a:endParaRPr>
          </a:p>
        </p:txBody>
      </p:sp>
      <p:sp>
        <p:nvSpPr>
          <p:cNvPr id="16" name="文本框 15">
            <a:extLst>
              <a:ext uri="{FF2B5EF4-FFF2-40B4-BE49-F238E27FC236}">
                <a16:creationId xmlns:a16="http://schemas.microsoft.com/office/drawing/2014/main" id="{4EDDF70E-3468-815A-FA6D-1D25FA00D1B8}"/>
              </a:ext>
            </a:extLst>
          </p:cNvPr>
          <p:cNvSpPr txBox="1"/>
          <p:nvPr/>
        </p:nvSpPr>
        <p:spPr>
          <a:xfrm>
            <a:off x="10962946" y="2723677"/>
            <a:ext cx="1290738"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solidFill>
                  <a:srgbClr val="C00000"/>
                </a:solidFill>
              </a:rPr>
              <a:t>缸内温度</a:t>
            </a:r>
            <a:r>
              <a:rPr lang="en-US" altLang="zh-CN" sz="1400" b="1">
                <a:solidFill>
                  <a:srgbClr val="C00000"/>
                </a:solidFill>
              </a:rPr>
              <a:t>T</a:t>
            </a:r>
            <a:endParaRPr lang="zh-CN" altLang="en-US" sz="1400" b="1">
              <a:solidFill>
                <a:srgbClr val="C00000"/>
              </a:solidFill>
            </a:endParaRPr>
          </a:p>
        </p:txBody>
      </p:sp>
      <p:sp>
        <p:nvSpPr>
          <p:cNvPr id="17" name="文本框 16">
            <a:extLst>
              <a:ext uri="{FF2B5EF4-FFF2-40B4-BE49-F238E27FC236}">
                <a16:creationId xmlns:a16="http://schemas.microsoft.com/office/drawing/2014/main" id="{4EB5F9DA-1C3B-2A75-7E98-E70FDD2658DC}"/>
              </a:ext>
            </a:extLst>
          </p:cNvPr>
          <p:cNvSpPr txBox="1"/>
          <p:nvPr/>
        </p:nvSpPr>
        <p:spPr>
          <a:xfrm>
            <a:off x="11051454" y="4201283"/>
            <a:ext cx="936475"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solidFill>
                  <a:srgbClr val="C00000"/>
                </a:solidFill>
              </a:rPr>
              <a:t>缸压</a:t>
            </a:r>
            <a:r>
              <a:rPr lang="en-US" altLang="zh-CN" sz="1400" b="1">
                <a:solidFill>
                  <a:srgbClr val="C00000"/>
                </a:solidFill>
              </a:rPr>
              <a:t>P</a:t>
            </a:r>
            <a:endParaRPr lang="zh-CN" altLang="en-US" sz="1400" b="1">
              <a:solidFill>
                <a:srgbClr val="C00000"/>
              </a:solidFill>
            </a:endParaRPr>
          </a:p>
        </p:txBody>
      </p:sp>
      <p:sp>
        <p:nvSpPr>
          <p:cNvPr id="18" name="文本框 17">
            <a:extLst>
              <a:ext uri="{FF2B5EF4-FFF2-40B4-BE49-F238E27FC236}">
                <a16:creationId xmlns:a16="http://schemas.microsoft.com/office/drawing/2014/main" id="{A00992B6-4F8D-DE82-4EB7-CE669195CDFE}"/>
              </a:ext>
            </a:extLst>
          </p:cNvPr>
          <p:cNvSpPr txBox="1"/>
          <p:nvPr/>
        </p:nvSpPr>
        <p:spPr>
          <a:xfrm>
            <a:off x="11051454" y="5145659"/>
            <a:ext cx="1122423" cy="523220"/>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solidFill>
                  <a:srgbClr val="C00000"/>
                </a:solidFill>
              </a:rPr>
              <a:t>已燃区</a:t>
            </a:r>
            <a:endParaRPr lang="en-US" altLang="zh-CN" sz="1400" b="1">
              <a:solidFill>
                <a:srgbClr val="C00000"/>
              </a:solidFill>
            </a:endParaRPr>
          </a:p>
          <a:p>
            <a:pPr>
              <a:buClr>
                <a:srgbClr val="C00000"/>
              </a:buClr>
            </a:pPr>
            <a:r>
              <a:rPr lang="en-US" altLang="zh-CN" sz="1400" b="1">
                <a:solidFill>
                  <a:srgbClr val="C00000"/>
                </a:solidFill>
              </a:rPr>
              <a:t>      </a:t>
            </a:r>
            <a:r>
              <a:rPr lang="zh-CN" altLang="en-US" sz="1400" b="1">
                <a:solidFill>
                  <a:srgbClr val="C00000"/>
                </a:solidFill>
              </a:rPr>
              <a:t>温度</a:t>
            </a:r>
            <a:r>
              <a:rPr lang="en-US" altLang="zh-CN" sz="1400" b="1">
                <a:solidFill>
                  <a:srgbClr val="C00000"/>
                </a:solidFill>
              </a:rPr>
              <a:t>T_b</a:t>
            </a:r>
            <a:endParaRPr lang="zh-CN" altLang="en-US" sz="1400" b="1">
              <a:solidFill>
                <a:srgbClr val="C00000"/>
              </a:solidFill>
            </a:endParaRPr>
          </a:p>
        </p:txBody>
      </p:sp>
      <p:sp>
        <p:nvSpPr>
          <p:cNvPr id="19" name="文本框 18">
            <a:extLst>
              <a:ext uri="{FF2B5EF4-FFF2-40B4-BE49-F238E27FC236}">
                <a16:creationId xmlns:a16="http://schemas.microsoft.com/office/drawing/2014/main" id="{B482B389-F0FC-EFEF-E98D-27EC2C9FFF3D}"/>
              </a:ext>
            </a:extLst>
          </p:cNvPr>
          <p:cNvSpPr txBox="1"/>
          <p:nvPr/>
        </p:nvSpPr>
        <p:spPr>
          <a:xfrm>
            <a:off x="10612964" y="5869291"/>
            <a:ext cx="1119217" cy="523220"/>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solidFill>
                  <a:srgbClr val="C00000"/>
                </a:solidFill>
              </a:rPr>
              <a:t>未燃区</a:t>
            </a:r>
            <a:endParaRPr lang="en-US" altLang="zh-CN" sz="1400" b="1">
              <a:solidFill>
                <a:srgbClr val="C00000"/>
              </a:solidFill>
            </a:endParaRPr>
          </a:p>
          <a:p>
            <a:pPr>
              <a:buClr>
                <a:srgbClr val="C00000"/>
              </a:buClr>
            </a:pPr>
            <a:r>
              <a:rPr lang="en-US" altLang="zh-CN" sz="1400" b="1">
                <a:solidFill>
                  <a:srgbClr val="C00000"/>
                </a:solidFill>
              </a:rPr>
              <a:t>      </a:t>
            </a:r>
            <a:r>
              <a:rPr lang="zh-CN" altLang="en-US" sz="1400" b="1">
                <a:solidFill>
                  <a:srgbClr val="C00000"/>
                </a:solidFill>
              </a:rPr>
              <a:t>温度</a:t>
            </a:r>
            <a:r>
              <a:rPr lang="en-US" altLang="zh-CN" sz="1400" b="1">
                <a:solidFill>
                  <a:srgbClr val="C00000"/>
                </a:solidFill>
              </a:rPr>
              <a:t>T_u</a:t>
            </a:r>
            <a:endParaRPr lang="zh-CN" altLang="en-US" sz="1400" b="1">
              <a:solidFill>
                <a:srgbClr val="C00000"/>
              </a:solidFill>
            </a:endParaRPr>
          </a:p>
        </p:txBody>
      </p:sp>
    </p:spTree>
    <p:extLst>
      <p:ext uri="{BB962C8B-B14F-4D97-AF65-F5344CB8AC3E}">
        <p14:creationId xmlns:p14="http://schemas.microsoft.com/office/powerpoint/2010/main" val="1028795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A48AA-9657-7683-0218-0127C418DDBE}"/>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2D1D0DBD-E668-AED8-DFE6-D229BF5DC57F}"/>
              </a:ext>
            </a:extLst>
          </p:cNvPr>
          <p:cNvSpPr/>
          <p:nvPr/>
        </p:nvSpPr>
        <p:spPr>
          <a:xfrm>
            <a:off x="337673" y="3379882"/>
            <a:ext cx="5606322" cy="2469450"/>
          </a:xfrm>
          <a:prstGeom prst="rect">
            <a:avLst/>
          </a:prstGeom>
          <a:solidFill>
            <a:srgbClr val="FFFFFF"/>
          </a:solidFill>
          <a:ln w="12700">
            <a:no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22D0486D-5328-9952-747F-B4B91B3B81CB}"/>
              </a:ext>
            </a:extLst>
          </p:cNvPr>
          <p:cNvSpPr>
            <a:spLocks noGrp="1"/>
          </p:cNvSpPr>
          <p:nvPr>
            <p:ph type="title"/>
          </p:nvPr>
        </p:nvSpPr>
        <p:spPr/>
        <p:txBody>
          <a:bodyPr/>
          <a:lstStyle/>
          <a:p>
            <a:r>
              <a:rPr lang="zh-CN" altLang="en-US"/>
              <a:t>第二章：氢内燃机准维燃烧模型的构建</a:t>
            </a:r>
            <a:endParaRPr lang="zh-CN" altLang="en-US" dirty="0"/>
          </a:p>
        </p:txBody>
      </p:sp>
      <p:sp>
        <p:nvSpPr>
          <p:cNvPr id="2" name="矩形 1">
            <a:extLst>
              <a:ext uri="{FF2B5EF4-FFF2-40B4-BE49-F238E27FC236}">
                <a16:creationId xmlns:a16="http://schemas.microsoft.com/office/drawing/2014/main" id="{C0C52F1A-DEC6-8DE0-4A98-44A3E6EE19A3}"/>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第二节：气缸工作介质热力学物性参数的自主计算</a:t>
            </a:r>
          </a:p>
        </p:txBody>
      </p:sp>
      <p:pic>
        <p:nvPicPr>
          <p:cNvPr id="52" name="图片 51">
            <a:extLst>
              <a:ext uri="{FF2B5EF4-FFF2-40B4-BE49-F238E27FC236}">
                <a16:creationId xmlns:a16="http://schemas.microsoft.com/office/drawing/2014/main" id="{6285D8B1-957A-EE8D-F5EF-AB671954793C}"/>
              </a:ext>
            </a:extLst>
          </p:cNvPr>
          <p:cNvPicPr>
            <a:picLocks noChangeAspect="1"/>
          </p:cNvPicPr>
          <p:nvPr/>
        </p:nvPicPr>
        <p:blipFill>
          <a:blip r:embed="rId3"/>
          <a:stretch>
            <a:fillRect/>
          </a:stretch>
        </p:blipFill>
        <p:spPr>
          <a:xfrm>
            <a:off x="6201422" y="3473199"/>
            <a:ext cx="5045688" cy="3178926"/>
          </a:xfrm>
          <a:prstGeom prst="rect">
            <a:avLst/>
          </a:prstGeom>
        </p:spPr>
      </p:pic>
      <p:grpSp>
        <p:nvGrpSpPr>
          <p:cNvPr id="56" name="组合 55">
            <a:extLst>
              <a:ext uri="{FF2B5EF4-FFF2-40B4-BE49-F238E27FC236}">
                <a16:creationId xmlns:a16="http://schemas.microsoft.com/office/drawing/2014/main" id="{E815044A-389D-139F-CCC5-7E079FE00860}"/>
              </a:ext>
            </a:extLst>
          </p:cNvPr>
          <p:cNvGrpSpPr/>
          <p:nvPr/>
        </p:nvGrpSpPr>
        <p:grpSpPr>
          <a:xfrm>
            <a:off x="493218" y="1592753"/>
            <a:ext cx="4475531" cy="722632"/>
            <a:chOff x="5370035" y="5330749"/>
            <a:chExt cx="4475531" cy="722632"/>
          </a:xfrm>
        </p:grpSpPr>
        <p:grpSp>
          <p:nvGrpSpPr>
            <p:cNvPr id="91" name="组合 90">
              <a:extLst>
                <a:ext uri="{FF2B5EF4-FFF2-40B4-BE49-F238E27FC236}">
                  <a16:creationId xmlns:a16="http://schemas.microsoft.com/office/drawing/2014/main" id="{CF53994B-F620-32AA-6C18-55379DB173D4}"/>
                </a:ext>
              </a:extLst>
            </p:cNvPr>
            <p:cNvGrpSpPr/>
            <p:nvPr/>
          </p:nvGrpSpPr>
          <p:grpSpPr>
            <a:xfrm>
              <a:off x="5370035" y="5330749"/>
              <a:ext cx="4475531" cy="722632"/>
              <a:chOff x="5370035" y="5330749"/>
              <a:chExt cx="4475531" cy="722632"/>
            </a:xfrm>
          </p:grpSpPr>
          <p:sp>
            <p:nvSpPr>
              <p:cNvPr id="95" name="矩形: 圆角 94">
                <a:extLst>
                  <a:ext uri="{FF2B5EF4-FFF2-40B4-BE49-F238E27FC236}">
                    <a16:creationId xmlns:a16="http://schemas.microsoft.com/office/drawing/2014/main" id="{3AF0F30F-E57C-AFEC-CC34-BD0F7E1751DD}"/>
                  </a:ext>
                </a:extLst>
              </p:cNvPr>
              <p:cNvSpPr/>
              <p:nvPr/>
            </p:nvSpPr>
            <p:spPr>
              <a:xfrm>
                <a:off x="5370035" y="5330749"/>
                <a:ext cx="4475531" cy="72263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97" name="矩形: 圆角 96">
                <a:extLst>
                  <a:ext uri="{FF2B5EF4-FFF2-40B4-BE49-F238E27FC236}">
                    <a16:creationId xmlns:a16="http://schemas.microsoft.com/office/drawing/2014/main" id="{992D0A43-6534-9F02-702D-5D62949E0D34}"/>
                  </a:ext>
                </a:extLst>
              </p:cNvPr>
              <p:cNvSpPr/>
              <p:nvPr/>
            </p:nvSpPr>
            <p:spPr>
              <a:xfrm>
                <a:off x="5370035" y="5330749"/>
                <a:ext cx="862599" cy="722632"/>
              </a:xfrm>
              <a:prstGeom prst="roundRect">
                <a:avLst/>
              </a:prstGeom>
              <a:solidFill>
                <a:schemeClr val="accent1">
                  <a:lumMod val="20000"/>
                  <a:lumOff val="80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第三方库接口弃用</a:t>
                </a:r>
                <a:endParaRPr lang="zh-CN" altLang="en-US" sz="1400" b="1" dirty="0">
                  <a:solidFill>
                    <a:schemeClr val="tx1"/>
                  </a:solidFill>
                </a:endParaRPr>
              </a:p>
            </p:txBody>
          </p:sp>
        </p:grpSp>
        <p:sp>
          <p:nvSpPr>
            <p:cNvPr id="93" name="文本框 92">
              <a:extLst>
                <a:ext uri="{FF2B5EF4-FFF2-40B4-BE49-F238E27FC236}">
                  <a16:creationId xmlns:a16="http://schemas.microsoft.com/office/drawing/2014/main" id="{BE675ECE-80BD-0E12-3434-C09FD1672CE4}"/>
                </a:ext>
              </a:extLst>
            </p:cNvPr>
            <p:cNvSpPr txBox="1"/>
            <p:nvPr/>
          </p:nvSpPr>
          <p:spPr>
            <a:xfrm>
              <a:off x="6232634" y="5330749"/>
              <a:ext cx="3612932" cy="369332"/>
            </a:xfrm>
            <a:prstGeom prst="rect">
              <a:avLst/>
            </a:prstGeom>
            <a:noFill/>
          </p:spPr>
          <p:txBody>
            <a:bodyPr wrap="square" rtlCol="0">
              <a:spAutoFit/>
            </a:bodyPr>
            <a:lstStyle/>
            <a:p>
              <a:endParaRPr lang="zh-CN" altLang="en-US" dirty="0"/>
            </a:p>
          </p:txBody>
        </p:sp>
      </p:grpSp>
      <p:grpSp>
        <p:nvGrpSpPr>
          <p:cNvPr id="58" name="组合 57">
            <a:extLst>
              <a:ext uri="{FF2B5EF4-FFF2-40B4-BE49-F238E27FC236}">
                <a16:creationId xmlns:a16="http://schemas.microsoft.com/office/drawing/2014/main" id="{6BEF6100-1596-D704-8879-12C2CB86EC14}"/>
              </a:ext>
            </a:extLst>
          </p:cNvPr>
          <p:cNvGrpSpPr/>
          <p:nvPr/>
        </p:nvGrpSpPr>
        <p:grpSpPr>
          <a:xfrm>
            <a:off x="493217" y="2389634"/>
            <a:ext cx="4475531" cy="722632"/>
            <a:chOff x="360000" y="5330749"/>
            <a:chExt cx="4475531" cy="722632"/>
          </a:xfrm>
        </p:grpSpPr>
        <p:grpSp>
          <p:nvGrpSpPr>
            <p:cNvPr id="84" name="组合 83">
              <a:extLst>
                <a:ext uri="{FF2B5EF4-FFF2-40B4-BE49-F238E27FC236}">
                  <a16:creationId xmlns:a16="http://schemas.microsoft.com/office/drawing/2014/main" id="{2BD57906-4586-FF0F-F14A-EC71C2A22B1D}"/>
                </a:ext>
              </a:extLst>
            </p:cNvPr>
            <p:cNvGrpSpPr/>
            <p:nvPr/>
          </p:nvGrpSpPr>
          <p:grpSpPr>
            <a:xfrm>
              <a:off x="360000" y="5330749"/>
              <a:ext cx="4475531" cy="722632"/>
              <a:chOff x="5370035" y="5330749"/>
              <a:chExt cx="4475531" cy="722632"/>
            </a:xfrm>
          </p:grpSpPr>
          <p:sp>
            <p:nvSpPr>
              <p:cNvPr id="87" name="矩形: 圆角 86">
                <a:extLst>
                  <a:ext uri="{FF2B5EF4-FFF2-40B4-BE49-F238E27FC236}">
                    <a16:creationId xmlns:a16="http://schemas.microsoft.com/office/drawing/2014/main" id="{51AC03FC-43AA-3ECA-EFA4-AED07E39B447}"/>
                  </a:ext>
                </a:extLst>
              </p:cNvPr>
              <p:cNvSpPr/>
              <p:nvPr/>
            </p:nvSpPr>
            <p:spPr>
              <a:xfrm>
                <a:off x="5370035" y="5330749"/>
                <a:ext cx="4475531" cy="72263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89" name="矩形: 圆角 88">
                <a:extLst>
                  <a:ext uri="{FF2B5EF4-FFF2-40B4-BE49-F238E27FC236}">
                    <a16:creationId xmlns:a16="http://schemas.microsoft.com/office/drawing/2014/main" id="{439745D3-2E39-C0CE-431D-A69FC363C9C0}"/>
                  </a:ext>
                </a:extLst>
              </p:cNvPr>
              <p:cNvSpPr/>
              <p:nvPr/>
            </p:nvSpPr>
            <p:spPr>
              <a:xfrm>
                <a:off x="5370035" y="5330749"/>
                <a:ext cx="862599" cy="722632"/>
              </a:xfrm>
              <a:prstGeom prst="roundRect">
                <a:avLst/>
              </a:prstGeom>
              <a:solidFill>
                <a:schemeClr val="accent1">
                  <a:lumMod val="20000"/>
                  <a:lumOff val="80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参数计算需求高</a:t>
                </a:r>
                <a:endParaRPr lang="zh-CN" altLang="en-US" sz="1400" b="1" dirty="0">
                  <a:solidFill>
                    <a:schemeClr val="tx1"/>
                  </a:solidFill>
                </a:endParaRPr>
              </a:p>
            </p:txBody>
          </p:sp>
        </p:grpSp>
        <p:sp>
          <p:nvSpPr>
            <p:cNvPr id="86" name="文本框 85">
              <a:extLst>
                <a:ext uri="{FF2B5EF4-FFF2-40B4-BE49-F238E27FC236}">
                  <a16:creationId xmlns:a16="http://schemas.microsoft.com/office/drawing/2014/main" id="{66FD9192-4C2C-E3DE-29DB-C26BE772EBC6}"/>
                </a:ext>
              </a:extLst>
            </p:cNvPr>
            <p:cNvSpPr txBox="1"/>
            <p:nvPr/>
          </p:nvSpPr>
          <p:spPr>
            <a:xfrm>
              <a:off x="1222599" y="5360883"/>
              <a:ext cx="3612932" cy="369332"/>
            </a:xfrm>
            <a:prstGeom prst="rect">
              <a:avLst/>
            </a:prstGeom>
            <a:noFill/>
          </p:spPr>
          <p:txBody>
            <a:bodyPr wrap="square" rtlCol="0">
              <a:spAutoFit/>
            </a:bodyPr>
            <a:lstStyle/>
            <a:p>
              <a:endParaRPr lang="zh-CN" altLang="en-US" dirty="0"/>
            </a:p>
          </p:txBody>
        </p:sp>
      </p:grpSp>
      <p:pic>
        <p:nvPicPr>
          <p:cNvPr id="101" name="图片 100">
            <a:extLst>
              <a:ext uri="{FF2B5EF4-FFF2-40B4-BE49-F238E27FC236}">
                <a16:creationId xmlns:a16="http://schemas.microsoft.com/office/drawing/2014/main" id="{79CD987A-9698-39D9-F182-32B8B67A3813}"/>
              </a:ext>
            </a:extLst>
          </p:cNvPr>
          <p:cNvPicPr>
            <a:picLocks noChangeAspect="1"/>
          </p:cNvPicPr>
          <p:nvPr/>
        </p:nvPicPr>
        <p:blipFill>
          <a:blip r:embed="rId4"/>
          <a:stretch>
            <a:fillRect/>
          </a:stretch>
        </p:blipFill>
        <p:spPr>
          <a:xfrm>
            <a:off x="337674" y="3281775"/>
            <a:ext cx="5606321" cy="2398048"/>
          </a:xfrm>
          <a:prstGeom prst="rect">
            <a:avLst/>
          </a:prstGeom>
        </p:spPr>
      </p:pic>
      <p:sp>
        <p:nvSpPr>
          <p:cNvPr id="4" name="文本框 3">
            <a:extLst>
              <a:ext uri="{FF2B5EF4-FFF2-40B4-BE49-F238E27FC236}">
                <a16:creationId xmlns:a16="http://schemas.microsoft.com/office/drawing/2014/main" id="{E7FCCD1F-1633-6778-CBB8-D053DDA1E728}"/>
              </a:ext>
            </a:extLst>
          </p:cNvPr>
          <p:cNvSpPr txBox="1"/>
          <p:nvPr/>
        </p:nvSpPr>
        <p:spPr>
          <a:xfrm>
            <a:off x="1821244" y="5947439"/>
            <a:ext cx="2682076" cy="276999"/>
          </a:xfrm>
          <a:prstGeom prst="rect">
            <a:avLst/>
          </a:prstGeom>
          <a:noFill/>
        </p:spPr>
        <p:txBody>
          <a:bodyPr wrap="square">
            <a:spAutoFit/>
          </a:bodyPr>
          <a:lstStyle/>
          <a:p>
            <a:pPr algn="ctr"/>
            <a:r>
              <a:rPr lang="zh-CN" altLang="en-US" sz="1200"/>
              <a:t>图</a:t>
            </a:r>
            <a:r>
              <a:rPr lang="en-US" altLang="zh-CN" sz="1200"/>
              <a:t>2-2 </a:t>
            </a:r>
            <a:r>
              <a:rPr lang="zh-CN" altLang="en-US" sz="1200"/>
              <a:t>气缸工作介质热物性参数计算</a:t>
            </a:r>
          </a:p>
        </p:txBody>
      </p:sp>
      <p:sp>
        <p:nvSpPr>
          <p:cNvPr id="5" name="文本框 4">
            <a:extLst>
              <a:ext uri="{FF2B5EF4-FFF2-40B4-BE49-F238E27FC236}">
                <a16:creationId xmlns:a16="http://schemas.microsoft.com/office/drawing/2014/main" id="{D5B4276E-AA77-9215-1F9F-BE3C39266EAA}"/>
              </a:ext>
            </a:extLst>
          </p:cNvPr>
          <p:cNvSpPr txBox="1"/>
          <p:nvPr/>
        </p:nvSpPr>
        <p:spPr>
          <a:xfrm>
            <a:off x="7383228" y="3218647"/>
            <a:ext cx="2682076" cy="276999"/>
          </a:xfrm>
          <a:prstGeom prst="rect">
            <a:avLst/>
          </a:prstGeom>
          <a:noFill/>
        </p:spPr>
        <p:txBody>
          <a:bodyPr wrap="square">
            <a:spAutoFit/>
          </a:bodyPr>
          <a:lstStyle/>
          <a:p>
            <a:pPr algn="ctr"/>
            <a:r>
              <a:rPr lang="zh-CN" altLang="en-US" sz="1200"/>
              <a:t>表</a:t>
            </a:r>
            <a:r>
              <a:rPr lang="en-US" altLang="zh-CN" sz="1200"/>
              <a:t>2-1 </a:t>
            </a:r>
            <a:r>
              <a:rPr lang="zh-CN" altLang="en-US" sz="1200"/>
              <a:t>需重构的热物性参数</a:t>
            </a:r>
          </a:p>
        </p:txBody>
      </p:sp>
      <p:grpSp>
        <p:nvGrpSpPr>
          <p:cNvPr id="6" name="组合 5">
            <a:extLst>
              <a:ext uri="{FF2B5EF4-FFF2-40B4-BE49-F238E27FC236}">
                <a16:creationId xmlns:a16="http://schemas.microsoft.com/office/drawing/2014/main" id="{B467B363-1EF9-B691-DDD3-4C6B7576811F}"/>
              </a:ext>
            </a:extLst>
          </p:cNvPr>
          <p:cNvGrpSpPr/>
          <p:nvPr/>
        </p:nvGrpSpPr>
        <p:grpSpPr>
          <a:xfrm>
            <a:off x="1472055" y="1762695"/>
            <a:ext cx="896620" cy="398780"/>
            <a:chOff x="10206669" y="3222199"/>
            <a:chExt cx="896620" cy="398780"/>
          </a:xfrm>
        </p:grpSpPr>
        <p:pic>
          <p:nvPicPr>
            <p:cNvPr id="7" name="图片 6" descr="文本&#10;&#10;AI 生成的内容可能不正确。">
              <a:extLst>
                <a:ext uri="{FF2B5EF4-FFF2-40B4-BE49-F238E27FC236}">
                  <a16:creationId xmlns:a16="http://schemas.microsoft.com/office/drawing/2014/main" id="{E3411DE3-614B-967B-23FC-8AB14CCD7207}"/>
                </a:ext>
              </a:extLst>
            </p:cNvPr>
            <p:cNvPicPr>
              <a:picLocks/>
            </p:cNvPicPr>
            <p:nvPr/>
          </p:nvPicPr>
          <p:blipFill>
            <a:blip r:embed="rId5"/>
            <a:srcRect t="13149"/>
            <a:stretch>
              <a:fillRect/>
            </a:stretch>
          </p:blipFill>
          <p:spPr>
            <a:xfrm>
              <a:off x="10211841" y="3222199"/>
              <a:ext cx="891448" cy="398780"/>
            </a:xfrm>
            <a:prstGeom prst="rect">
              <a:avLst/>
            </a:prstGeom>
          </p:spPr>
        </p:pic>
        <p:pic>
          <p:nvPicPr>
            <p:cNvPr id="8" name="图形 7" descr="关闭 纯色填充">
              <a:extLst>
                <a:ext uri="{FF2B5EF4-FFF2-40B4-BE49-F238E27FC236}">
                  <a16:creationId xmlns:a16="http://schemas.microsoft.com/office/drawing/2014/main" id="{BE526C62-01E0-F4AF-9691-C4E1BB332C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06669" y="3260979"/>
              <a:ext cx="360000" cy="360000"/>
            </a:xfrm>
            <a:prstGeom prst="rect">
              <a:avLst/>
            </a:prstGeom>
          </p:spPr>
        </p:pic>
      </p:grpSp>
      <p:pic>
        <p:nvPicPr>
          <p:cNvPr id="10" name="图片 9">
            <a:extLst>
              <a:ext uri="{FF2B5EF4-FFF2-40B4-BE49-F238E27FC236}">
                <a16:creationId xmlns:a16="http://schemas.microsoft.com/office/drawing/2014/main" id="{438FC05B-308A-407C-9B35-5A29FABDC388}"/>
              </a:ext>
            </a:extLst>
          </p:cNvPr>
          <p:cNvPicPr>
            <a:picLocks/>
          </p:cNvPicPr>
          <p:nvPr/>
        </p:nvPicPr>
        <p:blipFill>
          <a:blip r:embed="rId7"/>
          <a:srcRect l="1331" t="1290" r="35187" b="35897"/>
          <a:stretch>
            <a:fillRect/>
          </a:stretch>
        </p:blipFill>
        <p:spPr>
          <a:xfrm>
            <a:off x="2490085" y="1675908"/>
            <a:ext cx="2145210" cy="589848"/>
          </a:xfrm>
          <a:prstGeom prst="rect">
            <a:avLst/>
          </a:prstGeom>
        </p:spPr>
      </p:pic>
      <p:sp>
        <p:nvSpPr>
          <p:cNvPr id="12" name="文本框 11">
            <a:extLst>
              <a:ext uri="{FF2B5EF4-FFF2-40B4-BE49-F238E27FC236}">
                <a16:creationId xmlns:a16="http://schemas.microsoft.com/office/drawing/2014/main" id="{188301F2-2739-3A16-B080-88F9EA030DD0}"/>
              </a:ext>
            </a:extLst>
          </p:cNvPr>
          <p:cNvSpPr txBox="1"/>
          <p:nvPr/>
        </p:nvSpPr>
        <p:spPr>
          <a:xfrm>
            <a:off x="1472055" y="2489019"/>
            <a:ext cx="3337560" cy="523220"/>
          </a:xfrm>
          <a:prstGeom prst="rect">
            <a:avLst/>
          </a:prstGeom>
          <a:noFill/>
        </p:spPr>
        <p:txBody>
          <a:bodyPr wrap="square">
            <a:spAutoFit/>
          </a:bodyPr>
          <a:lstStyle/>
          <a:p>
            <a:r>
              <a:rPr lang="zh-CN" altLang="en-US" sz="1400"/>
              <a:t>迭代机制要求模型在短时间内完成大量的刚性常微分方程求解。</a:t>
            </a:r>
          </a:p>
        </p:txBody>
      </p:sp>
      <p:pic>
        <p:nvPicPr>
          <p:cNvPr id="13" name="图形 12" descr="V 形箭头 纯色填充">
            <a:extLst>
              <a:ext uri="{FF2B5EF4-FFF2-40B4-BE49-F238E27FC236}">
                <a16:creationId xmlns:a16="http://schemas.microsoft.com/office/drawing/2014/main" id="{E20F984C-60AD-F552-4BAF-900217117A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02428" y="2151926"/>
            <a:ext cx="333453" cy="461665"/>
          </a:xfrm>
          <a:prstGeom prst="rect">
            <a:avLst/>
          </a:prstGeom>
        </p:spPr>
      </p:pic>
      <p:sp>
        <p:nvSpPr>
          <p:cNvPr id="18" name="矩形: 圆角 17">
            <a:extLst>
              <a:ext uri="{FF2B5EF4-FFF2-40B4-BE49-F238E27FC236}">
                <a16:creationId xmlns:a16="http://schemas.microsoft.com/office/drawing/2014/main" id="{9D2B7991-FD6A-6AD3-B847-2E524CD167B0}"/>
              </a:ext>
            </a:extLst>
          </p:cNvPr>
          <p:cNvSpPr/>
          <p:nvPr/>
        </p:nvSpPr>
        <p:spPr>
          <a:xfrm>
            <a:off x="5678666" y="1989066"/>
            <a:ext cx="1517621" cy="72263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热物性参数重构</a:t>
            </a:r>
            <a:endParaRPr lang="zh-CN" altLang="en-US" sz="1400" b="1" dirty="0">
              <a:solidFill>
                <a:schemeClr val="tx1"/>
              </a:solidFill>
            </a:endParaRPr>
          </a:p>
        </p:txBody>
      </p:sp>
      <p:pic>
        <p:nvPicPr>
          <p:cNvPr id="19" name="图形 18" descr="V 形箭头 纯色填充">
            <a:extLst>
              <a:ext uri="{FF2B5EF4-FFF2-40B4-BE49-F238E27FC236}">
                <a16:creationId xmlns:a16="http://schemas.microsoft.com/office/drawing/2014/main" id="{FAB333A4-EECF-EA97-7A51-056ACAFC6F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91425" y="2158801"/>
            <a:ext cx="333453" cy="461665"/>
          </a:xfrm>
          <a:prstGeom prst="rect">
            <a:avLst/>
          </a:prstGeom>
        </p:spPr>
      </p:pic>
      <p:grpSp>
        <p:nvGrpSpPr>
          <p:cNvPr id="21" name="组合 20">
            <a:extLst>
              <a:ext uri="{FF2B5EF4-FFF2-40B4-BE49-F238E27FC236}">
                <a16:creationId xmlns:a16="http://schemas.microsoft.com/office/drawing/2014/main" id="{A76A9DC7-83A9-49C9-2470-483875C8E591}"/>
              </a:ext>
            </a:extLst>
          </p:cNvPr>
          <p:cNvGrpSpPr/>
          <p:nvPr/>
        </p:nvGrpSpPr>
        <p:grpSpPr>
          <a:xfrm>
            <a:off x="8058332" y="1486374"/>
            <a:ext cx="2777850" cy="722632"/>
            <a:chOff x="5370035" y="5330749"/>
            <a:chExt cx="2777850" cy="722632"/>
          </a:xfrm>
        </p:grpSpPr>
        <p:sp>
          <p:nvSpPr>
            <p:cNvPr id="23" name="矩形: 圆角 22">
              <a:extLst>
                <a:ext uri="{FF2B5EF4-FFF2-40B4-BE49-F238E27FC236}">
                  <a16:creationId xmlns:a16="http://schemas.microsoft.com/office/drawing/2014/main" id="{EC3FFC72-9C27-92B9-35E5-1FC037959635}"/>
                </a:ext>
              </a:extLst>
            </p:cNvPr>
            <p:cNvSpPr/>
            <p:nvPr/>
          </p:nvSpPr>
          <p:spPr>
            <a:xfrm>
              <a:off x="5370035" y="5330749"/>
              <a:ext cx="2777850" cy="72263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4" name="矩形: 圆角 23">
              <a:extLst>
                <a:ext uri="{FF2B5EF4-FFF2-40B4-BE49-F238E27FC236}">
                  <a16:creationId xmlns:a16="http://schemas.microsoft.com/office/drawing/2014/main" id="{5C415D2C-B86A-99A9-63BB-6CCDD6A5DF0C}"/>
                </a:ext>
              </a:extLst>
            </p:cNvPr>
            <p:cNvSpPr/>
            <p:nvPr/>
          </p:nvSpPr>
          <p:spPr>
            <a:xfrm>
              <a:off x="5370035" y="5330749"/>
              <a:ext cx="862599" cy="722632"/>
            </a:xfrm>
            <a:prstGeom prst="roundRect">
              <a:avLst/>
            </a:prstGeom>
            <a:solidFill>
              <a:schemeClr val="accent1">
                <a:lumMod val="20000"/>
                <a:lumOff val="80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基本热物性参数</a:t>
              </a:r>
              <a:endParaRPr lang="zh-CN" altLang="en-US" sz="1400" b="1" dirty="0">
                <a:solidFill>
                  <a:schemeClr val="tx1"/>
                </a:solidFill>
              </a:endParaRPr>
            </a:p>
          </p:txBody>
        </p:sp>
      </p:grpSp>
      <p:grpSp>
        <p:nvGrpSpPr>
          <p:cNvPr id="26" name="组合 25">
            <a:extLst>
              <a:ext uri="{FF2B5EF4-FFF2-40B4-BE49-F238E27FC236}">
                <a16:creationId xmlns:a16="http://schemas.microsoft.com/office/drawing/2014/main" id="{B5AC8241-30DD-FCE5-A41E-88FFB4FD63AC}"/>
              </a:ext>
            </a:extLst>
          </p:cNvPr>
          <p:cNvGrpSpPr/>
          <p:nvPr/>
        </p:nvGrpSpPr>
        <p:grpSpPr>
          <a:xfrm>
            <a:off x="8071784" y="2374629"/>
            <a:ext cx="2764399" cy="722632"/>
            <a:chOff x="5370035" y="5330749"/>
            <a:chExt cx="2764399" cy="722632"/>
          </a:xfrm>
        </p:grpSpPr>
        <p:sp>
          <p:nvSpPr>
            <p:cNvPr id="28" name="矩形: 圆角 27">
              <a:extLst>
                <a:ext uri="{FF2B5EF4-FFF2-40B4-BE49-F238E27FC236}">
                  <a16:creationId xmlns:a16="http://schemas.microsoft.com/office/drawing/2014/main" id="{0E9BAA50-4D94-7EF9-D708-D8A9A7755156}"/>
                </a:ext>
              </a:extLst>
            </p:cNvPr>
            <p:cNvSpPr/>
            <p:nvPr/>
          </p:nvSpPr>
          <p:spPr>
            <a:xfrm>
              <a:off x="5370036" y="5330749"/>
              <a:ext cx="2764398" cy="722632"/>
            </a:xfrm>
            <a:prstGeom prst="round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9" name="矩形: 圆角 28">
              <a:extLst>
                <a:ext uri="{FF2B5EF4-FFF2-40B4-BE49-F238E27FC236}">
                  <a16:creationId xmlns:a16="http://schemas.microsoft.com/office/drawing/2014/main" id="{32404E65-C2E3-D929-3940-865FF19B8696}"/>
                </a:ext>
              </a:extLst>
            </p:cNvPr>
            <p:cNvSpPr/>
            <p:nvPr/>
          </p:nvSpPr>
          <p:spPr>
            <a:xfrm>
              <a:off x="5370035" y="5330749"/>
              <a:ext cx="862599" cy="722632"/>
            </a:xfrm>
            <a:prstGeom prst="roundRect">
              <a:avLst/>
            </a:prstGeom>
            <a:solidFill>
              <a:schemeClr val="accent1">
                <a:lumMod val="20000"/>
                <a:lumOff val="80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层流火焰速度</a:t>
              </a:r>
              <a:endParaRPr lang="zh-CN" altLang="en-US" sz="1400" b="1" dirty="0">
                <a:solidFill>
                  <a:schemeClr val="tx1"/>
                </a:solidFill>
              </a:endParaRPr>
            </a:p>
          </p:txBody>
        </p:sp>
      </p:grpSp>
      <p:sp>
        <p:nvSpPr>
          <p:cNvPr id="35" name="文本框 34">
            <a:extLst>
              <a:ext uri="{FF2B5EF4-FFF2-40B4-BE49-F238E27FC236}">
                <a16:creationId xmlns:a16="http://schemas.microsoft.com/office/drawing/2014/main" id="{20B9F768-D2C6-FEB3-68F4-F30F66429E24}"/>
              </a:ext>
            </a:extLst>
          </p:cNvPr>
          <p:cNvSpPr txBox="1"/>
          <p:nvPr/>
        </p:nvSpPr>
        <p:spPr>
          <a:xfrm>
            <a:off x="9054149" y="1608210"/>
            <a:ext cx="1550823" cy="523220"/>
          </a:xfrm>
          <a:prstGeom prst="rect">
            <a:avLst/>
          </a:prstGeom>
          <a:noFill/>
        </p:spPr>
        <p:txBody>
          <a:bodyPr wrap="square" rtlCol="0">
            <a:spAutoFit/>
          </a:bodyPr>
          <a:lstStyle/>
          <a:p>
            <a:pPr algn="ctr"/>
            <a:r>
              <a:rPr lang="zh-CN" altLang="en-US" sz="1400"/>
              <a:t>经典的求解方程</a:t>
            </a:r>
            <a:r>
              <a:rPr lang="en-US" altLang="zh-CN" sz="1400"/>
              <a:t>+</a:t>
            </a:r>
            <a:r>
              <a:rPr lang="zh-CN" altLang="en-US" sz="1400"/>
              <a:t>经验公式</a:t>
            </a:r>
          </a:p>
        </p:txBody>
      </p:sp>
      <p:sp>
        <p:nvSpPr>
          <p:cNvPr id="38" name="文本框 37">
            <a:extLst>
              <a:ext uri="{FF2B5EF4-FFF2-40B4-BE49-F238E27FC236}">
                <a16:creationId xmlns:a16="http://schemas.microsoft.com/office/drawing/2014/main" id="{2FF3B631-2538-3C8E-F6D6-7144670307D7}"/>
              </a:ext>
            </a:extLst>
          </p:cNvPr>
          <p:cNvSpPr txBox="1"/>
          <p:nvPr/>
        </p:nvSpPr>
        <p:spPr>
          <a:xfrm>
            <a:off x="9054148" y="2519951"/>
            <a:ext cx="1550823" cy="523220"/>
          </a:xfrm>
          <a:prstGeom prst="rect">
            <a:avLst/>
          </a:prstGeom>
          <a:noFill/>
        </p:spPr>
        <p:txBody>
          <a:bodyPr wrap="square" rtlCol="0">
            <a:spAutoFit/>
          </a:bodyPr>
          <a:lstStyle/>
          <a:p>
            <a:pPr algn="ctr"/>
            <a:r>
              <a:rPr lang="zh-CN" altLang="en-US" sz="1400"/>
              <a:t>随机森林</a:t>
            </a:r>
            <a:r>
              <a:rPr lang="en-US" altLang="zh-CN" sz="1400"/>
              <a:t>RF</a:t>
            </a:r>
            <a:r>
              <a:rPr lang="zh-CN" altLang="en-US" sz="1400"/>
              <a:t>高精度预测</a:t>
            </a:r>
          </a:p>
        </p:txBody>
      </p:sp>
      <p:pic>
        <p:nvPicPr>
          <p:cNvPr id="40" name="图片 39">
            <a:extLst>
              <a:ext uri="{FF2B5EF4-FFF2-40B4-BE49-F238E27FC236}">
                <a16:creationId xmlns:a16="http://schemas.microsoft.com/office/drawing/2014/main" id="{78A6B210-8841-FD84-4BB0-B6B3AE199471}"/>
              </a:ext>
            </a:extLst>
          </p:cNvPr>
          <p:cNvPicPr>
            <a:picLocks noChangeAspect="1"/>
          </p:cNvPicPr>
          <p:nvPr/>
        </p:nvPicPr>
        <p:blipFill>
          <a:blip r:embed="rId9"/>
          <a:stretch>
            <a:fillRect/>
          </a:stretch>
        </p:blipFill>
        <p:spPr>
          <a:xfrm>
            <a:off x="10974782" y="2374629"/>
            <a:ext cx="724001" cy="700185"/>
          </a:xfrm>
          <a:prstGeom prst="rect">
            <a:avLst/>
          </a:prstGeom>
        </p:spPr>
      </p:pic>
    </p:spTree>
    <p:extLst>
      <p:ext uri="{BB962C8B-B14F-4D97-AF65-F5344CB8AC3E}">
        <p14:creationId xmlns:p14="http://schemas.microsoft.com/office/powerpoint/2010/main" val="4188427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49184-295E-3537-05E6-2B5810227D14}"/>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AAF472EC-D1F3-1D39-E599-E6203355F235}"/>
              </a:ext>
            </a:extLst>
          </p:cNvPr>
          <p:cNvSpPr/>
          <p:nvPr/>
        </p:nvSpPr>
        <p:spPr>
          <a:xfrm>
            <a:off x="92615" y="2718395"/>
            <a:ext cx="6313023" cy="3445771"/>
          </a:xfrm>
          <a:prstGeom prst="rect">
            <a:avLst/>
          </a:prstGeom>
          <a:solidFill>
            <a:srgbClr val="FFFFFF"/>
          </a:solidFill>
          <a:ln w="12700">
            <a:no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C5E2E6A7-6983-7C40-9C26-D702F4042BD8}"/>
              </a:ext>
            </a:extLst>
          </p:cNvPr>
          <p:cNvSpPr>
            <a:spLocks noGrp="1"/>
          </p:cNvSpPr>
          <p:nvPr>
            <p:ph type="title"/>
          </p:nvPr>
        </p:nvSpPr>
        <p:spPr/>
        <p:txBody>
          <a:bodyPr/>
          <a:lstStyle/>
          <a:p>
            <a:r>
              <a:rPr lang="zh-CN" altLang="en-US"/>
              <a:t>第二章：氢内燃机准维燃烧模型的构建</a:t>
            </a:r>
            <a:endParaRPr lang="zh-CN" altLang="en-US" dirty="0"/>
          </a:p>
        </p:txBody>
      </p:sp>
      <p:sp>
        <p:nvSpPr>
          <p:cNvPr id="2" name="矩形 1">
            <a:extLst>
              <a:ext uri="{FF2B5EF4-FFF2-40B4-BE49-F238E27FC236}">
                <a16:creationId xmlns:a16="http://schemas.microsoft.com/office/drawing/2014/main" id="{D28164E9-C346-EAD7-5CBB-0C15DBE034E0}"/>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第三节：基于随机森林（</a:t>
            </a:r>
            <a:r>
              <a:rPr lang="en-US" altLang="zh-CN" sz="2400" b="1">
                <a:solidFill>
                  <a:srgbClr val="004A98"/>
                </a:solidFill>
                <a:latin typeface="Times New Roman" panose="02020603050405020304" pitchFamily="18" charset="0"/>
                <a:ea typeface="微软雅黑" panose="020B0503020204020204" pitchFamily="34" charset="-122"/>
                <a:cs typeface="+mn-ea"/>
              </a:rPr>
              <a:t>RF</a:t>
            </a:r>
            <a:r>
              <a:rPr lang="zh-CN" altLang="en-US" sz="2400" b="1">
                <a:solidFill>
                  <a:srgbClr val="004A98"/>
                </a:solidFill>
                <a:latin typeface="Times New Roman" panose="02020603050405020304" pitchFamily="18" charset="0"/>
                <a:ea typeface="微软雅黑" panose="020B0503020204020204" pitchFamily="34" charset="-122"/>
                <a:cs typeface="+mn-ea"/>
              </a:rPr>
              <a:t>）算法的层流火焰速度预测模型构建</a:t>
            </a:r>
          </a:p>
        </p:txBody>
      </p:sp>
      <p:pic>
        <p:nvPicPr>
          <p:cNvPr id="7" name="图片 6">
            <a:extLst>
              <a:ext uri="{FF2B5EF4-FFF2-40B4-BE49-F238E27FC236}">
                <a16:creationId xmlns:a16="http://schemas.microsoft.com/office/drawing/2014/main" id="{4CC333D7-998D-552B-02EA-AA5DCAC56C84}"/>
              </a:ext>
            </a:extLst>
          </p:cNvPr>
          <p:cNvPicPr>
            <a:picLocks noChangeAspect="1"/>
          </p:cNvPicPr>
          <p:nvPr/>
        </p:nvPicPr>
        <p:blipFill>
          <a:blip r:embed="rId3"/>
          <a:stretch>
            <a:fillRect/>
          </a:stretch>
        </p:blipFill>
        <p:spPr>
          <a:xfrm>
            <a:off x="62502" y="2782557"/>
            <a:ext cx="6350058" cy="3317675"/>
          </a:xfrm>
          <a:prstGeom prst="rect">
            <a:avLst/>
          </a:prstGeom>
        </p:spPr>
      </p:pic>
      <p:pic>
        <p:nvPicPr>
          <p:cNvPr id="15" name="图片 14">
            <a:extLst>
              <a:ext uri="{FF2B5EF4-FFF2-40B4-BE49-F238E27FC236}">
                <a16:creationId xmlns:a16="http://schemas.microsoft.com/office/drawing/2014/main" id="{64EBAC7B-A855-C434-29CB-926250729C9A}"/>
              </a:ext>
            </a:extLst>
          </p:cNvPr>
          <p:cNvPicPr>
            <a:picLocks noChangeAspect="1"/>
          </p:cNvPicPr>
          <p:nvPr/>
        </p:nvPicPr>
        <p:blipFill>
          <a:blip r:embed="rId4"/>
          <a:stretch>
            <a:fillRect/>
          </a:stretch>
        </p:blipFill>
        <p:spPr>
          <a:xfrm>
            <a:off x="7051553" y="3948986"/>
            <a:ext cx="2018238" cy="2151246"/>
          </a:xfrm>
          <a:prstGeom prst="rect">
            <a:avLst/>
          </a:prstGeom>
        </p:spPr>
      </p:pic>
      <p:sp>
        <p:nvSpPr>
          <p:cNvPr id="4" name="矩形 3">
            <a:extLst>
              <a:ext uri="{FF2B5EF4-FFF2-40B4-BE49-F238E27FC236}">
                <a16:creationId xmlns:a16="http://schemas.microsoft.com/office/drawing/2014/main" id="{F65D0DAD-F7B6-6070-2B0A-D4B88C63A405}"/>
              </a:ext>
            </a:extLst>
          </p:cNvPr>
          <p:cNvSpPr/>
          <p:nvPr/>
        </p:nvSpPr>
        <p:spPr>
          <a:xfrm>
            <a:off x="273673" y="1709114"/>
            <a:ext cx="950976" cy="822066"/>
          </a:xfrm>
          <a:prstGeom prst="rect">
            <a:avLst/>
          </a:prstGeom>
          <a:solidFill>
            <a:schemeClr val="accent1">
              <a:lumMod val="20000"/>
              <a:lumOff val="80000"/>
            </a:schemeClr>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层流火焰速度</a:t>
            </a:r>
            <a:r>
              <a:rPr lang="en-US" altLang="zh-CN" sz="1400" b="1">
                <a:solidFill>
                  <a:schemeClr val="tx1"/>
                </a:solidFill>
              </a:rPr>
              <a:t>SL</a:t>
            </a:r>
            <a:endParaRPr lang="zh-CN" altLang="en-US" sz="1400" b="1">
              <a:solidFill>
                <a:schemeClr val="tx1"/>
              </a:solidFill>
            </a:endParaRPr>
          </a:p>
        </p:txBody>
      </p:sp>
      <p:sp>
        <p:nvSpPr>
          <p:cNvPr id="5" name="矩形 4">
            <a:extLst>
              <a:ext uri="{FF2B5EF4-FFF2-40B4-BE49-F238E27FC236}">
                <a16:creationId xmlns:a16="http://schemas.microsoft.com/office/drawing/2014/main" id="{B709B910-FE01-4914-2FA4-ED8200DAFFF2}"/>
              </a:ext>
            </a:extLst>
          </p:cNvPr>
          <p:cNvSpPr/>
          <p:nvPr/>
        </p:nvSpPr>
        <p:spPr>
          <a:xfrm>
            <a:off x="1224649" y="1709115"/>
            <a:ext cx="3245440" cy="822066"/>
          </a:xfrm>
          <a:prstGeom prst="rect">
            <a:avLst/>
          </a:prstGeom>
          <a:no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400" kern="100">
                <a:solidFill>
                  <a:schemeClr val="tx1"/>
                </a:solidFill>
                <a:latin typeface="Times New Roman" panose="02020603050405020304" pitchFamily="18" charset="0"/>
                <a:ea typeface="宋体" panose="02010600030101010101" pitchFamily="2" charset="-122"/>
                <a:cs typeface="Times New Roman" panose="02020603050405020304" pitchFamily="18" charset="0"/>
              </a:rPr>
              <a:t>经验拟合得到的半经验关联式在氢气工况下误差偏大，</a:t>
            </a:r>
            <a:r>
              <a:rPr lang="zh-CN" altLang="en-US" sz="1400" kern="100">
                <a:solidFill>
                  <a:schemeClr val="tx1"/>
                </a:solidFill>
                <a:latin typeface="Times New Roman" panose="02020603050405020304" pitchFamily="18" charset="0"/>
                <a:ea typeface="宋体" panose="02010600030101010101" pitchFamily="2" charset="-122"/>
                <a:cs typeface="Times New Roman" panose="02020603050405020304" pitchFamily="18" charset="0"/>
              </a:rPr>
              <a:t>无法</a:t>
            </a:r>
            <a:r>
              <a:rPr lang="zh-CN" altLang="zh-CN" sz="1400" kern="100">
                <a:solidFill>
                  <a:schemeClr val="tx1"/>
                </a:solidFill>
                <a:latin typeface="Times New Roman" panose="02020603050405020304" pitchFamily="18" charset="0"/>
                <a:ea typeface="宋体" panose="02010600030101010101" pitchFamily="2" charset="-122"/>
                <a:cs typeface="Times New Roman" panose="02020603050405020304" pitchFamily="18" charset="0"/>
              </a:rPr>
              <a:t>直接套用</a:t>
            </a:r>
            <a:endParaRPr lang="zh-CN" altLang="en-US" sz="1400">
              <a:solidFill>
                <a:schemeClr val="tx1"/>
              </a:solidFill>
            </a:endParaRPr>
          </a:p>
        </p:txBody>
      </p:sp>
      <p:pic>
        <p:nvPicPr>
          <p:cNvPr id="6" name="图形 5" descr="V 形箭头 纯色填充">
            <a:extLst>
              <a:ext uri="{FF2B5EF4-FFF2-40B4-BE49-F238E27FC236}">
                <a16:creationId xmlns:a16="http://schemas.microsoft.com/office/drawing/2014/main" id="{647A1697-A141-D8B4-CAF4-8DC67B13D0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1986" y="1889313"/>
            <a:ext cx="333453" cy="461665"/>
          </a:xfrm>
          <a:prstGeom prst="rect">
            <a:avLst/>
          </a:prstGeom>
        </p:spPr>
      </p:pic>
      <p:sp>
        <p:nvSpPr>
          <p:cNvPr id="9" name="矩形 8">
            <a:extLst>
              <a:ext uri="{FF2B5EF4-FFF2-40B4-BE49-F238E27FC236}">
                <a16:creationId xmlns:a16="http://schemas.microsoft.com/office/drawing/2014/main" id="{83FC65A3-25DC-E849-A695-FEA6D4AB3528}"/>
              </a:ext>
            </a:extLst>
          </p:cNvPr>
          <p:cNvSpPr/>
          <p:nvPr/>
        </p:nvSpPr>
        <p:spPr>
          <a:xfrm>
            <a:off x="5181217" y="1709113"/>
            <a:ext cx="950976" cy="822066"/>
          </a:xfrm>
          <a:prstGeom prst="rect">
            <a:avLst/>
          </a:prstGeom>
          <a:solidFill>
            <a:schemeClr val="accent1">
              <a:lumMod val="20000"/>
              <a:lumOff val="80000"/>
            </a:schemeClr>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rgbClr val="C00000"/>
                </a:solidFill>
              </a:rPr>
              <a:t>随机森林</a:t>
            </a:r>
            <a:r>
              <a:rPr lang="en-US" altLang="zh-CN" sz="1400">
                <a:solidFill>
                  <a:schemeClr val="tx1"/>
                </a:solidFill>
              </a:rPr>
              <a:t>RF</a:t>
            </a:r>
            <a:r>
              <a:rPr lang="zh-CN" altLang="en-US" sz="1400">
                <a:solidFill>
                  <a:schemeClr val="tx1"/>
                </a:solidFill>
              </a:rPr>
              <a:t>高精度预测</a:t>
            </a:r>
          </a:p>
        </p:txBody>
      </p:sp>
      <p:sp>
        <p:nvSpPr>
          <p:cNvPr id="16" name="文本框 15">
            <a:extLst>
              <a:ext uri="{FF2B5EF4-FFF2-40B4-BE49-F238E27FC236}">
                <a16:creationId xmlns:a16="http://schemas.microsoft.com/office/drawing/2014/main" id="{6D793AC1-39BA-12BD-1EC4-29760EAD6614}"/>
              </a:ext>
            </a:extLst>
          </p:cNvPr>
          <p:cNvSpPr txBox="1"/>
          <p:nvPr/>
        </p:nvSpPr>
        <p:spPr>
          <a:xfrm>
            <a:off x="1896493" y="6202216"/>
            <a:ext cx="2682076" cy="276999"/>
          </a:xfrm>
          <a:prstGeom prst="rect">
            <a:avLst/>
          </a:prstGeom>
          <a:noFill/>
        </p:spPr>
        <p:txBody>
          <a:bodyPr wrap="square">
            <a:spAutoFit/>
          </a:bodyPr>
          <a:lstStyle/>
          <a:p>
            <a:pPr algn="ctr"/>
            <a:r>
              <a:rPr lang="zh-CN" altLang="en-US" sz="1200"/>
              <a:t>图</a:t>
            </a:r>
            <a:r>
              <a:rPr lang="en-US" altLang="zh-CN" sz="1200"/>
              <a:t>2-3 </a:t>
            </a:r>
            <a:r>
              <a:rPr lang="zh-CN" altLang="en-US" sz="1200"/>
              <a:t>随机森林预测层流火焰速度</a:t>
            </a:r>
          </a:p>
        </p:txBody>
      </p:sp>
      <p:sp>
        <p:nvSpPr>
          <p:cNvPr id="18" name="文本框 17">
            <a:extLst>
              <a:ext uri="{FF2B5EF4-FFF2-40B4-BE49-F238E27FC236}">
                <a16:creationId xmlns:a16="http://schemas.microsoft.com/office/drawing/2014/main" id="{758C2DC3-7141-131A-520F-4DAF29A92F81}"/>
              </a:ext>
            </a:extLst>
          </p:cNvPr>
          <p:cNvSpPr txBox="1"/>
          <p:nvPr/>
        </p:nvSpPr>
        <p:spPr>
          <a:xfrm>
            <a:off x="7148756" y="3525332"/>
            <a:ext cx="2682076" cy="276999"/>
          </a:xfrm>
          <a:prstGeom prst="rect">
            <a:avLst/>
          </a:prstGeom>
          <a:noFill/>
        </p:spPr>
        <p:txBody>
          <a:bodyPr wrap="square">
            <a:spAutoFit/>
          </a:bodyPr>
          <a:lstStyle/>
          <a:p>
            <a:pPr algn="ctr"/>
            <a:r>
              <a:rPr lang="zh-CN" altLang="en-US" sz="1200"/>
              <a:t>图</a:t>
            </a:r>
            <a:r>
              <a:rPr lang="en-US" altLang="zh-CN" sz="1200"/>
              <a:t>2-4 </a:t>
            </a:r>
            <a:r>
              <a:rPr lang="zh-CN" altLang="en-US" sz="1200"/>
              <a:t>贝叶斯优化迭代</a:t>
            </a:r>
          </a:p>
        </p:txBody>
      </p:sp>
      <p:pic>
        <p:nvPicPr>
          <p:cNvPr id="26" name="图片 25">
            <a:extLst>
              <a:ext uri="{FF2B5EF4-FFF2-40B4-BE49-F238E27FC236}">
                <a16:creationId xmlns:a16="http://schemas.microsoft.com/office/drawing/2014/main" id="{6B9C1D03-2081-C91A-23E3-D429E3C5CFD7}"/>
              </a:ext>
            </a:extLst>
          </p:cNvPr>
          <p:cNvPicPr>
            <a:picLocks noChangeAspect="1"/>
          </p:cNvPicPr>
          <p:nvPr/>
        </p:nvPicPr>
        <p:blipFill>
          <a:blip r:embed="rId6"/>
          <a:stretch>
            <a:fillRect/>
          </a:stretch>
        </p:blipFill>
        <p:spPr>
          <a:xfrm>
            <a:off x="6901465" y="1535656"/>
            <a:ext cx="3084646" cy="2029012"/>
          </a:xfrm>
          <a:prstGeom prst="rect">
            <a:avLst/>
          </a:prstGeom>
        </p:spPr>
      </p:pic>
      <p:sp>
        <p:nvSpPr>
          <p:cNvPr id="27" name="文本框 26">
            <a:extLst>
              <a:ext uri="{FF2B5EF4-FFF2-40B4-BE49-F238E27FC236}">
                <a16:creationId xmlns:a16="http://schemas.microsoft.com/office/drawing/2014/main" id="{5C635344-B6FE-58BF-464F-282BC1AD291B}"/>
              </a:ext>
            </a:extLst>
          </p:cNvPr>
          <p:cNvSpPr txBox="1"/>
          <p:nvPr/>
        </p:nvSpPr>
        <p:spPr>
          <a:xfrm>
            <a:off x="6812354" y="6167609"/>
            <a:ext cx="2682076" cy="276999"/>
          </a:xfrm>
          <a:prstGeom prst="rect">
            <a:avLst/>
          </a:prstGeom>
          <a:noFill/>
        </p:spPr>
        <p:txBody>
          <a:bodyPr wrap="square">
            <a:spAutoFit/>
          </a:bodyPr>
          <a:lstStyle/>
          <a:p>
            <a:pPr algn="ctr"/>
            <a:r>
              <a:rPr lang="zh-CN" altLang="en-US" sz="1200"/>
              <a:t>图</a:t>
            </a:r>
            <a:r>
              <a:rPr lang="en-US" altLang="zh-CN" sz="1200"/>
              <a:t>2-5 </a:t>
            </a:r>
            <a:r>
              <a:rPr lang="zh-CN" altLang="en-US" sz="1200"/>
              <a:t>随机森林模型预测评估结果</a:t>
            </a:r>
          </a:p>
        </p:txBody>
      </p:sp>
      <p:pic>
        <p:nvPicPr>
          <p:cNvPr id="29" name="图片 28">
            <a:extLst>
              <a:ext uri="{FF2B5EF4-FFF2-40B4-BE49-F238E27FC236}">
                <a16:creationId xmlns:a16="http://schemas.microsoft.com/office/drawing/2014/main" id="{C521A50F-EB71-DFBB-F028-659120BBE516}"/>
              </a:ext>
            </a:extLst>
          </p:cNvPr>
          <p:cNvPicPr>
            <a:picLocks noChangeAspect="1"/>
          </p:cNvPicPr>
          <p:nvPr/>
        </p:nvPicPr>
        <p:blipFill>
          <a:blip r:embed="rId7"/>
          <a:stretch>
            <a:fillRect/>
          </a:stretch>
        </p:blipFill>
        <p:spPr>
          <a:xfrm>
            <a:off x="9831243" y="1010458"/>
            <a:ext cx="2222620" cy="2562975"/>
          </a:xfrm>
          <a:prstGeom prst="rect">
            <a:avLst/>
          </a:prstGeom>
        </p:spPr>
      </p:pic>
      <p:cxnSp>
        <p:nvCxnSpPr>
          <p:cNvPr id="31" name="直接连接符 30">
            <a:extLst>
              <a:ext uri="{FF2B5EF4-FFF2-40B4-BE49-F238E27FC236}">
                <a16:creationId xmlns:a16="http://schemas.microsoft.com/office/drawing/2014/main" id="{745D4EF0-8C1B-6FDE-DB3F-1DD7F3DAB437}"/>
              </a:ext>
            </a:extLst>
          </p:cNvPr>
          <p:cNvCxnSpPr>
            <a:cxnSpLocks/>
          </p:cNvCxnSpPr>
          <p:nvPr/>
        </p:nvCxnSpPr>
        <p:spPr>
          <a:xfrm>
            <a:off x="6513485" y="1521660"/>
            <a:ext cx="0" cy="4922712"/>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3" name="文本框 32">
            <a:extLst>
              <a:ext uri="{FF2B5EF4-FFF2-40B4-BE49-F238E27FC236}">
                <a16:creationId xmlns:a16="http://schemas.microsoft.com/office/drawing/2014/main" id="{03E76567-BB20-0B28-59E9-0FAB916EBDE6}"/>
              </a:ext>
            </a:extLst>
          </p:cNvPr>
          <p:cNvSpPr txBox="1"/>
          <p:nvPr/>
        </p:nvSpPr>
        <p:spPr>
          <a:xfrm>
            <a:off x="9629958" y="3540464"/>
            <a:ext cx="2682076" cy="276999"/>
          </a:xfrm>
          <a:prstGeom prst="rect">
            <a:avLst/>
          </a:prstGeom>
          <a:noFill/>
        </p:spPr>
        <p:txBody>
          <a:bodyPr wrap="square">
            <a:spAutoFit/>
          </a:bodyPr>
          <a:lstStyle/>
          <a:p>
            <a:pPr algn="ctr"/>
            <a:r>
              <a:rPr lang="zh-CN" altLang="en-US" sz="1200"/>
              <a:t>图</a:t>
            </a:r>
            <a:r>
              <a:rPr lang="en-US" altLang="zh-CN" sz="1200"/>
              <a:t>2-5 </a:t>
            </a:r>
            <a:r>
              <a:rPr lang="zh-CN" altLang="en-US" sz="1200"/>
              <a:t>贝叶斯优化简要示意图</a:t>
            </a:r>
          </a:p>
        </p:txBody>
      </p:sp>
      <p:cxnSp>
        <p:nvCxnSpPr>
          <p:cNvPr id="35" name="直接连接符 34">
            <a:extLst>
              <a:ext uri="{FF2B5EF4-FFF2-40B4-BE49-F238E27FC236}">
                <a16:creationId xmlns:a16="http://schemas.microsoft.com/office/drawing/2014/main" id="{7FDADD97-E8A0-2A72-7198-BCC13A2F024E}"/>
              </a:ext>
            </a:extLst>
          </p:cNvPr>
          <p:cNvCxnSpPr>
            <a:cxnSpLocks/>
          </p:cNvCxnSpPr>
          <p:nvPr/>
        </p:nvCxnSpPr>
        <p:spPr>
          <a:xfrm flipV="1">
            <a:off x="6513485" y="3811096"/>
            <a:ext cx="5601006" cy="582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5" name="组合 44">
            <a:extLst>
              <a:ext uri="{FF2B5EF4-FFF2-40B4-BE49-F238E27FC236}">
                <a16:creationId xmlns:a16="http://schemas.microsoft.com/office/drawing/2014/main" id="{16C56BDD-A175-F3F7-D167-2EADD800B9DE}"/>
              </a:ext>
            </a:extLst>
          </p:cNvPr>
          <p:cNvGrpSpPr/>
          <p:nvPr/>
        </p:nvGrpSpPr>
        <p:grpSpPr>
          <a:xfrm>
            <a:off x="9113297" y="4299797"/>
            <a:ext cx="2777850" cy="523220"/>
            <a:chOff x="9276012" y="4424556"/>
            <a:chExt cx="2777850" cy="523220"/>
          </a:xfrm>
        </p:grpSpPr>
        <p:grpSp>
          <p:nvGrpSpPr>
            <p:cNvPr id="37" name="组合 36">
              <a:extLst>
                <a:ext uri="{FF2B5EF4-FFF2-40B4-BE49-F238E27FC236}">
                  <a16:creationId xmlns:a16="http://schemas.microsoft.com/office/drawing/2014/main" id="{CAF705C2-FBA7-3888-A694-09BF47A41144}"/>
                </a:ext>
              </a:extLst>
            </p:cNvPr>
            <p:cNvGrpSpPr/>
            <p:nvPr/>
          </p:nvGrpSpPr>
          <p:grpSpPr>
            <a:xfrm>
              <a:off x="9276012" y="4424556"/>
              <a:ext cx="2777850" cy="523220"/>
              <a:chOff x="5370035" y="5530161"/>
              <a:chExt cx="2777850" cy="523220"/>
            </a:xfrm>
          </p:grpSpPr>
          <p:sp>
            <p:nvSpPr>
              <p:cNvPr id="38" name="矩形: 圆角 37">
                <a:extLst>
                  <a:ext uri="{FF2B5EF4-FFF2-40B4-BE49-F238E27FC236}">
                    <a16:creationId xmlns:a16="http://schemas.microsoft.com/office/drawing/2014/main" id="{68D1BA20-C779-2B0C-B55F-584A2E90B343}"/>
                  </a:ext>
                </a:extLst>
              </p:cNvPr>
              <p:cNvSpPr/>
              <p:nvPr/>
            </p:nvSpPr>
            <p:spPr>
              <a:xfrm>
                <a:off x="5370035" y="5530161"/>
                <a:ext cx="2777850" cy="523220"/>
              </a:xfrm>
              <a:prstGeom prst="roundRect">
                <a:avLst/>
              </a:prstGeom>
              <a:no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39" name="矩形: 圆角 38">
                <a:extLst>
                  <a:ext uri="{FF2B5EF4-FFF2-40B4-BE49-F238E27FC236}">
                    <a16:creationId xmlns:a16="http://schemas.microsoft.com/office/drawing/2014/main" id="{4B0B5E60-6D79-791B-B8DD-A90BB6E7218B}"/>
                  </a:ext>
                </a:extLst>
              </p:cNvPr>
              <p:cNvSpPr/>
              <p:nvPr/>
            </p:nvSpPr>
            <p:spPr>
              <a:xfrm>
                <a:off x="5370035" y="5530161"/>
                <a:ext cx="862599" cy="523220"/>
              </a:xfrm>
              <a:prstGeom prst="roundRect">
                <a:avLst/>
              </a:prstGeom>
              <a:solidFill>
                <a:schemeClr val="accent1">
                  <a:lumMod val="20000"/>
                  <a:lumOff val="80000"/>
                </a:schemeClr>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tx1"/>
                    </a:solidFill>
                  </a:rPr>
                  <a:t>R^2</a:t>
                </a:r>
                <a:endParaRPr lang="zh-CN" altLang="en-US" sz="1400" b="1" dirty="0">
                  <a:solidFill>
                    <a:schemeClr val="tx1"/>
                  </a:solidFill>
                </a:endParaRPr>
              </a:p>
            </p:txBody>
          </p:sp>
        </p:grpSp>
        <p:sp>
          <p:nvSpPr>
            <p:cNvPr id="43" name="文本框 42">
              <a:extLst>
                <a:ext uri="{FF2B5EF4-FFF2-40B4-BE49-F238E27FC236}">
                  <a16:creationId xmlns:a16="http://schemas.microsoft.com/office/drawing/2014/main" id="{435070C8-4543-8A48-3D0D-EB16504EF1C0}"/>
                </a:ext>
              </a:extLst>
            </p:cNvPr>
            <p:cNvSpPr txBox="1"/>
            <p:nvPr/>
          </p:nvSpPr>
          <p:spPr>
            <a:xfrm>
              <a:off x="10288698" y="4455333"/>
              <a:ext cx="1550823" cy="461665"/>
            </a:xfrm>
            <a:prstGeom prst="rect">
              <a:avLst/>
            </a:prstGeom>
            <a:noFill/>
          </p:spPr>
          <p:txBody>
            <a:bodyPr wrap="square" rtlCol="0">
              <a:spAutoFit/>
            </a:bodyPr>
            <a:lstStyle/>
            <a:p>
              <a:pPr algn="ctr"/>
              <a:r>
                <a:rPr lang="zh-CN" altLang="en-US" sz="1200"/>
                <a:t>决定系数：拟合优度，</a:t>
              </a:r>
              <a:r>
                <a:rPr lang="en-US" altLang="zh-CN" sz="1200" b="1">
                  <a:solidFill>
                    <a:schemeClr val="accent2">
                      <a:lumMod val="75000"/>
                    </a:schemeClr>
                  </a:solidFill>
                </a:rPr>
                <a:t>0.9989</a:t>
              </a:r>
              <a:endParaRPr lang="zh-CN" altLang="en-US" sz="1200" b="1">
                <a:solidFill>
                  <a:schemeClr val="accent2">
                    <a:lumMod val="75000"/>
                  </a:schemeClr>
                </a:solidFill>
              </a:endParaRPr>
            </a:p>
          </p:txBody>
        </p:sp>
      </p:grpSp>
      <p:grpSp>
        <p:nvGrpSpPr>
          <p:cNvPr id="46" name="组合 45">
            <a:extLst>
              <a:ext uri="{FF2B5EF4-FFF2-40B4-BE49-F238E27FC236}">
                <a16:creationId xmlns:a16="http://schemas.microsoft.com/office/drawing/2014/main" id="{5D0EA8C5-182F-3698-7F20-5350BA48B31E}"/>
              </a:ext>
            </a:extLst>
          </p:cNvPr>
          <p:cNvGrpSpPr/>
          <p:nvPr/>
        </p:nvGrpSpPr>
        <p:grpSpPr>
          <a:xfrm>
            <a:off x="9109589" y="4918025"/>
            <a:ext cx="2777849" cy="523220"/>
            <a:chOff x="9289464" y="5312811"/>
            <a:chExt cx="2777849" cy="523220"/>
          </a:xfrm>
        </p:grpSpPr>
        <p:grpSp>
          <p:nvGrpSpPr>
            <p:cNvPr id="40" name="组合 39">
              <a:extLst>
                <a:ext uri="{FF2B5EF4-FFF2-40B4-BE49-F238E27FC236}">
                  <a16:creationId xmlns:a16="http://schemas.microsoft.com/office/drawing/2014/main" id="{02FCE7C1-35AE-9754-E56D-72E75405DD15}"/>
                </a:ext>
              </a:extLst>
            </p:cNvPr>
            <p:cNvGrpSpPr/>
            <p:nvPr/>
          </p:nvGrpSpPr>
          <p:grpSpPr>
            <a:xfrm>
              <a:off x="9289464" y="5312811"/>
              <a:ext cx="2777849" cy="523220"/>
              <a:chOff x="5370035" y="5530161"/>
              <a:chExt cx="2777849" cy="523220"/>
            </a:xfrm>
          </p:grpSpPr>
          <p:sp>
            <p:nvSpPr>
              <p:cNvPr id="41" name="矩形: 圆角 40">
                <a:extLst>
                  <a:ext uri="{FF2B5EF4-FFF2-40B4-BE49-F238E27FC236}">
                    <a16:creationId xmlns:a16="http://schemas.microsoft.com/office/drawing/2014/main" id="{5C73ED56-8894-F561-4773-E862F9EE7DF1}"/>
                  </a:ext>
                </a:extLst>
              </p:cNvPr>
              <p:cNvSpPr/>
              <p:nvPr/>
            </p:nvSpPr>
            <p:spPr>
              <a:xfrm>
                <a:off x="5370035" y="5530161"/>
                <a:ext cx="2777849" cy="523220"/>
              </a:xfrm>
              <a:prstGeom prst="roundRect">
                <a:avLst/>
              </a:prstGeom>
              <a:no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42" name="矩形: 圆角 41">
                <a:extLst>
                  <a:ext uri="{FF2B5EF4-FFF2-40B4-BE49-F238E27FC236}">
                    <a16:creationId xmlns:a16="http://schemas.microsoft.com/office/drawing/2014/main" id="{8B1AB8F0-3C87-1FFE-06FC-3AE989721AEE}"/>
                  </a:ext>
                </a:extLst>
              </p:cNvPr>
              <p:cNvSpPr/>
              <p:nvPr/>
            </p:nvSpPr>
            <p:spPr>
              <a:xfrm>
                <a:off x="5370035" y="5530161"/>
                <a:ext cx="862599" cy="523220"/>
              </a:xfrm>
              <a:prstGeom prst="roundRect">
                <a:avLst/>
              </a:prstGeom>
              <a:solidFill>
                <a:schemeClr val="accent1">
                  <a:lumMod val="20000"/>
                  <a:lumOff val="80000"/>
                </a:schemeClr>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tx1"/>
                    </a:solidFill>
                  </a:rPr>
                  <a:t>RMSE</a:t>
                </a:r>
                <a:endParaRPr lang="zh-CN" altLang="en-US" sz="1400" b="1" dirty="0">
                  <a:solidFill>
                    <a:schemeClr val="tx1"/>
                  </a:solidFill>
                </a:endParaRPr>
              </a:p>
            </p:txBody>
          </p:sp>
        </p:grpSp>
        <p:sp>
          <p:nvSpPr>
            <p:cNvPr id="44" name="文本框 43">
              <a:extLst>
                <a:ext uri="{FF2B5EF4-FFF2-40B4-BE49-F238E27FC236}">
                  <a16:creationId xmlns:a16="http://schemas.microsoft.com/office/drawing/2014/main" id="{37613E8D-DF52-0873-3EAC-EB3A181767D4}"/>
                </a:ext>
              </a:extLst>
            </p:cNvPr>
            <p:cNvSpPr txBox="1"/>
            <p:nvPr/>
          </p:nvSpPr>
          <p:spPr>
            <a:xfrm>
              <a:off x="10152063" y="5312811"/>
              <a:ext cx="1837550" cy="461665"/>
            </a:xfrm>
            <a:prstGeom prst="rect">
              <a:avLst/>
            </a:prstGeom>
            <a:noFill/>
          </p:spPr>
          <p:txBody>
            <a:bodyPr wrap="square" rtlCol="0">
              <a:spAutoFit/>
            </a:bodyPr>
            <a:lstStyle/>
            <a:p>
              <a:pPr algn="ctr"/>
              <a:r>
                <a:rPr lang="zh-CN" altLang="en-US" sz="1200"/>
                <a:t>平均预测误差的绝对大小，</a:t>
              </a:r>
              <a:r>
                <a:rPr lang="en-US" altLang="zh-CN" sz="1200" b="1">
                  <a:solidFill>
                    <a:schemeClr val="accent2">
                      <a:lumMod val="75000"/>
                    </a:schemeClr>
                  </a:solidFill>
                </a:rPr>
                <a:t>0.1304m/s</a:t>
              </a:r>
              <a:endParaRPr lang="zh-CN" altLang="en-US" sz="1200" b="1">
                <a:solidFill>
                  <a:schemeClr val="accent2">
                    <a:lumMod val="75000"/>
                  </a:schemeClr>
                </a:solidFill>
              </a:endParaRPr>
            </a:p>
          </p:txBody>
        </p:sp>
      </p:grpSp>
      <p:sp>
        <p:nvSpPr>
          <p:cNvPr id="54" name="箭头: V 形 53">
            <a:extLst>
              <a:ext uri="{FF2B5EF4-FFF2-40B4-BE49-F238E27FC236}">
                <a16:creationId xmlns:a16="http://schemas.microsoft.com/office/drawing/2014/main" id="{4A54866A-AC43-F638-2DD2-9DB022F0FC25}"/>
              </a:ext>
            </a:extLst>
          </p:cNvPr>
          <p:cNvSpPr/>
          <p:nvPr/>
        </p:nvSpPr>
        <p:spPr>
          <a:xfrm rot="5400000">
            <a:off x="10577599" y="5365012"/>
            <a:ext cx="100014" cy="416966"/>
          </a:xfrm>
          <a:prstGeom prst="chevron">
            <a:avLst/>
          </a:prstGeom>
          <a:solidFill>
            <a:schemeClr val="accent1">
              <a:lumMod val="40000"/>
              <a:lumOff val="6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矩形 54">
            <a:extLst>
              <a:ext uri="{FF2B5EF4-FFF2-40B4-BE49-F238E27FC236}">
                <a16:creationId xmlns:a16="http://schemas.microsoft.com/office/drawing/2014/main" id="{84BC8509-4C0C-F211-E3CE-35B23D39D6BB}"/>
              </a:ext>
            </a:extLst>
          </p:cNvPr>
          <p:cNvSpPr/>
          <p:nvPr/>
        </p:nvSpPr>
        <p:spPr>
          <a:xfrm>
            <a:off x="9724571" y="5750631"/>
            <a:ext cx="1806069" cy="238513"/>
          </a:xfrm>
          <a:prstGeom prst="rect">
            <a:avLst/>
          </a:prstGeom>
          <a:solidFill>
            <a:schemeClr val="accent1">
              <a:lumMod val="40000"/>
              <a:lumOff val="6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模型精度足够高</a:t>
            </a:r>
          </a:p>
        </p:txBody>
      </p:sp>
      <p:sp>
        <p:nvSpPr>
          <p:cNvPr id="56" name="文本框 55">
            <a:extLst>
              <a:ext uri="{FF2B5EF4-FFF2-40B4-BE49-F238E27FC236}">
                <a16:creationId xmlns:a16="http://schemas.microsoft.com/office/drawing/2014/main" id="{40CB839C-0FD2-9D62-403D-A09E96E490E6}"/>
              </a:ext>
            </a:extLst>
          </p:cNvPr>
          <p:cNvSpPr txBox="1"/>
          <p:nvPr/>
        </p:nvSpPr>
        <p:spPr>
          <a:xfrm>
            <a:off x="6463884" y="2004776"/>
            <a:ext cx="415635" cy="1323439"/>
          </a:xfrm>
          <a:prstGeom prst="rect">
            <a:avLst/>
          </a:prstGeom>
          <a:noFill/>
        </p:spPr>
        <p:txBody>
          <a:bodyPr wrap="square" rtlCol="0">
            <a:spAutoFit/>
          </a:bodyPr>
          <a:lstStyle/>
          <a:p>
            <a:pPr algn="ctr"/>
            <a:r>
              <a:rPr lang="zh-CN" altLang="en-US" sz="1600" b="1">
                <a:solidFill>
                  <a:srgbClr val="004A98"/>
                </a:solidFill>
              </a:rPr>
              <a:t>贝叶斯优化</a:t>
            </a:r>
          </a:p>
        </p:txBody>
      </p:sp>
      <p:sp>
        <p:nvSpPr>
          <p:cNvPr id="57" name="文本框 56">
            <a:extLst>
              <a:ext uri="{FF2B5EF4-FFF2-40B4-BE49-F238E27FC236}">
                <a16:creationId xmlns:a16="http://schemas.microsoft.com/office/drawing/2014/main" id="{F6E53C0A-49C7-8670-2F16-1C2754A7DB33}"/>
              </a:ext>
            </a:extLst>
          </p:cNvPr>
          <p:cNvSpPr txBox="1"/>
          <p:nvPr/>
        </p:nvSpPr>
        <p:spPr>
          <a:xfrm>
            <a:off x="6475172" y="4444749"/>
            <a:ext cx="415635" cy="1569660"/>
          </a:xfrm>
          <a:prstGeom prst="rect">
            <a:avLst/>
          </a:prstGeom>
          <a:noFill/>
        </p:spPr>
        <p:txBody>
          <a:bodyPr wrap="square" rtlCol="0">
            <a:spAutoFit/>
          </a:bodyPr>
          <a:lstStyle/>
          <a:p>
            <a:pPr algn="ctr"/>
            <a:r>
              <a:rPr lang="zh-CN" altLang="en-US" sz="1600" b="1">
                <a:solidFill>
                  <a:srgbClr val="004A98"/>
                </a:solidFill>
              </a:rPr>
              <a:t>模型性能评估</a:t>
            </a:r>
          </a:p>
        </p:txBody>
      </p:sp>
    </p:spTree>
    <p:extLst>
      <p:ext uri="{BB962C8B-B14F-4D97-AF65-F5344CB8AC3E}">
        <p14:creationId xmlns:p14="http://schemas.microsoft.com/office/powerpoint/2010/main" val="1407182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4999A-5FAE-E0D0-EBCF-404EC2D61C7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7DCA404-AAD2-383B-916F-F7FA8C53C2BD}"/>
              </a:ext>
            </a:extLst>
          </p:cNvPr>
          <p:cNvSpPr>
            <a:spLocks noGrp="1"/>
          </p:cNvSpPr>
          <p:nvPr>
            <p:ph type="title"/>
          </p:nvPr>
        </p:nvSpPr>
        <p:spPr/>
        <p:txBody>
          <a:bodyPr/>
          <a:lstStyle/>
          <a:p>
            <a:r>
              <a:rPr lang="zh-CN" altLang="en-US"/>
              <a:t>第二章：氢内燃机准维燃烧模型的构建</a:t>
            </a:r>
            <a:endParaRPr lang="zh-CN" altLang="en-US" dirty="0"/>
          </a:p>
        </p:txBody>
      </p:sp>
      <p:sp>
        <p:nvSpPr>
          <p:cNvPr id="2" name="矩形 1">
            <a:extLst>
              <a:ext uri="{FF2B5EF4-FFF2-40B4-BE49-F238E27FC236}">
                <a16:creationId xmlns:a16="http://schemas.microsoft.com/office/drawing/2014/main" id="{0A0145C7-BE9B-06F9-BBB9-42E29146E03F}"/>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第四节：模型构建与步进计算设计</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sp>
        <p:nvSpPr>
          <p:cNvPr id="5" name="文本框 4">
            <a:extLst>
              <a:ext uri="{FF2B5EF4-FFF2-40B4-BE49-F238E27FC236}">
                <a16:creationId xmlns:a16="http://schemas.microsoft.com/office/drawing/2014/main" id="{BF698292-5ECA-216A-DB26-47647A5A97A2}"/>
              </a:ext>
            </a:extLst>
          </p:cNvPr>
          <p:cNvSpPr txBox="1"/>
          <p:nvPr/>
        </p:nvSpPr>
        <p:spPr>
          <a:xfrm>
            <a:off x="4441496" y="6190717"/>
            <a:ext cx="3799695" cy="276999"/>
          </a:xfrm>
          <a:prstGeom prst="rect">
            <a:avLst/>
          </a:prstGeom>
          <a:noFill/>
        </p:spPr>
        <p:txBody>
          <a:bodyPr wrap="square">
            <a:spAutoFit/>
          </a:bodyPr>
          <a:lstStyle/>
          <a:p>
            <a:pPr algn="ctr"/>
            <a:r>
              <a:rPr lang="zh-CN" altLang="en-US" sz="1200"/>
              <a:t>图</a:t>
            </a:r>
            <a:r>
              <a:rPr lang="en-US" altLang="zh-CN" sz="1200"/>
              <a:t>2-6 </a:t>
            </a:r>
            <a:r>
              <a:rPr lang="zh-CN" altLang="en-US" sz="1200"/>
              <a:t>氢内燃机工作过程模型构建与步进计算设计</a:t>
            </a:r>
          </a:p>
        </p:txBody>
      </p:sp>
      <p:pic>
        <p:nvPicPr>
          <p:cNvPr id="8" name="图片 7">
            <a:extLst>
              <a:ext uri="{FF2B5EF4-FFF2-40B4-BE49-F238E27FC236}">
                <a16:creationId xmlns:a16="http://schemas.microsoft.com/office/drawing/2014/main" id="{B8BF9280-65DE-BE38-CF5E-7EF978264EA8}"/>
              </a:ext>
            </a:extLst>
          </p:cNvPr>
          <p:cNvPicPr>
            <a:picLocks noChangeAspect="1"/>
          </p:cNvPicPr>
          <p:nvPr/>
        </p:nvPicPr>
        <p:blipFill>
          <a:blip r:embed="rId3"/>
          <a:stretch>
            <a:fillRect/>
          </a:stretch>
        </p:blipFill>
        <p:spPr>
          <a:xfrm>
            <a:off x="1654050" y="2159800"/>
            <a:ext cx="8883899" cy="4030917"/>
          </a:xfrm>
          <a:prstGeom prst="rect">
            <a:avLst/>
          </a:prstGeom>
        </p:spPr>
      </p:pic>
      <p:sp>
        <p:nvSpPr>
          <p:cNvPr id="10" name="矩形 9">
            <a:extLst>
              <a:ext uri="{FF2B5EF4-FFF2-40B4-BE49-F238E27FC236}">
                <a16:creationId xmlns:a16="http://schemas.microsoft.com/office/drawing/2014/main" id="{378968D1-7EBA-9756-0F0C-541DB0662AC5}"/>
              </a:ext>
            </a:extLst>
          </p:cNvPr>
          <p:cNvSpPr/>
          <p:nvPr/>
        </p:nvSpPr>
        <p:spPr>
          <a:xfrm>
            <a:off x="1654049" y="1702697"/>
            <a:ext cx="2581460" cy="360211"/>
          </a:xfrm>
          <a:prstGeom prst="rect">
            <a:avLst/>
          </a:prstGeom>
          <a:solidFill>
            <a:schemeClr val="accent1">
              <a:lumMod val="40000"/>
              <a:lumOff val="6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压缩期</a:t>
            </a:r>
          </a:p>
        </p:txBody>
      </p:sp>
      <p:sp>
        <p:nvSpPr>
          <p:cNvPr id="11" name="矩形 10">
            <a:extLst>
              <a:ext uri="{FF2B5EF4-FFF2-40B4-BE49-F238E27FC236}">
                <a16:creationId xmlns:a16="http://schemas.microsoft.com/office/drawing/2014/main" id="{F7FD3A78-FD4D-E38F-45A7-265D714E0C1B}"/>
              </a:ext>
            </a:extLst>
          </p:cNvPr>
          <p:cNvSpPr/>
          <p:nvPr/>
        </p:nvSpPr>
        <p:spPr>
          <a:xfrm>
            <a:off x="4235510" y="1702697"/>
            <a:ext cx="793055" cy="360211"/>
          </a:xfrm>
          <a:prstGeom prst="rect">
            <a:avLst/>
          </a:prstGeom>
          <a:solidFill>
            <a:schemeClr val="accent1">
              <a:lumMod val="40000"/>
              <a:lumOff val="6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点火延迟</a:t>
            </a:r>
          </a:p>
        </p:txBody>
      </p:sp>
      <p:sp>
        <p:nvSpPr>
          <p:cNvPr id="12" name="矩形 11">
            <a:extLst>
              <a:ext uri="{FF2B5EF4-FFF2-40B4-BE49-F238E27FC236}">
                <a16:creationId xmlns:a16="http://schemas.microsoft.com/office/drawing/2014/main" id="{1E8118D9-7A9F-EC9C-6B75-F7BAFC690145}"/>
              </a:ext>
            </a:extLst>
          </p:cNvPr>
          <p:cNvSpPr/>
          <p:nvPr/>
        </p:nvSpPr>
        <p:spPr>
          <a:xfrm>
            <a:off x="5028565" y="1702696"/>
            <a:ext cx="3239135" cy="360211"/>
          </a:xfrm>
          <a:prstGeom prst="rect">
            <a:avLst/>
          </a:prstGeom>
          <a:solidFill>
            <a:schemeClr val="accent2">
              <a:lumMod val="40000"/>
              <a:lumOff val="6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燃烧期</a:t>
            </a:r>
          </a:p>
        </p:txBody>
      </p:sp>
      <p:sp>
        <p:nvSpPr>
          <p:cNvPr id="13" name="矩形 12">
            <a:extLst>
              <a:ext uri="{FF2B5EF4-FFF2-40B4-BE49-F238E27FC236}">
                <a16:creationId xmlns:a16="http://schemas.microsoft.com/office/drawing/2014/main" id="{53C3220D-60DF-D537-F8CA-EA8664BB6A30}"/>
              </a:ext>
            </a:extLst>
          </p:cNvPr>
          <p:cNvSpPr/>
          <p:nvPr/>
        </p:nvSpPr>
        <p:spPr>
          <a:xfrm>
            <a:off x="8267701" y="1702695"/>
            <a:ext cx="2270248" cy="360211"/>
          </a:xfrm>
          <a:prstGeom prst="rect">
            <a:avLst/>
          </a:prstGeom>
          <a:solidFill>
            <a:schemeClr val="accent1">
              <a:lumMod val="40000"/>
              <a:lumOff val="6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膨胀期（后燃期）</a:t>
            </a:r>
          </a:p>
        </p:txBody>
      </p:sp>
      <p:sp>
        <p:nvSpPr>
          <p:cNvPr id="14" name="文本框 13">
            <a:extLst>
              <a:ext uri="{FF2B5EF4-FFF2-40B4-BE49-F238E27FC236}">
                <a16:creationId xmlns:a16="http://schemas.microsoft.com/office/drawing/2014/main" id="{A6405730-295B-DB01-0993-D1F57B95EFEC}"/>
              </a:ext>
            </a:extLst>
          </p:cNvPr>
          <p:cNvSpPr txBox="1"/>
          <p:nvPr/>
        </p:nvSpPr>
        <p:spPr>
          <a:xfrm>
            <a:off x="1363525" y="1410680"/>
            <a:ext cx="820423" cy="307777"/>
          </a:xfrm>
          <a:prstGeom prst="rect">
            <a:avLst/>
          </a:prstGeom>
          <a:noFill/>
        </p:spPr>
        <p:txBody>
          <a:bodyPr wrap="square">
            <a:spAutoFit/>
          </a:bodyPr>
          <a:lstStyle/>
          <a:p>
            <a:r>
              <a:rPr lang="el-GR" altLang="zh-CN" sz="1400" dirty="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400" dirty="0">
                <a:latin typeface="Times New Roman" panose="02020603050405020304" pitchFamily="18" charset="0"/>
                <a:ea typeface="MS PGothic" panose="020B0600070205080204" pitchFamily="34" charset="-128"/>
                <a:cs typeface="Times New Roman" panose="02020603050405020304" pitchFamily="18" charset="0"/>
              </a:rPr>
              <a:t>_IVC</a:t>
            </a:r>
            <a:endParaRPr lang="zh-CN" altLang="en-US" sz="14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AFF35071-ADD7-5DC3-2933-4420D1E71F52}"/>
              </a:ext>
            </a:extLst>
          </p:cNvPr>
          <p:cNvSpPr txBox="1"/>
          <p:nvPr/>
        </p:nvSpPr>
        <p:spPr>
          <a:xfrm>
            <a:off x="4007010" y="1408179"/>
            <a:ext cx="528037" cy="312778"/>
          </a:xfrm>
          <a:prstGeom prst="rect">
            <a:avLst/>
          </a:prstGeom>
          <a:noFill/>
        </p:spPr>
        <p:txBody>
          <a:bodyPr wrap="square">
            <a:spAutoFit/>
          </a:bodyPr>
          <a:lstStyle/>
          <a:p>
            <a:r>
              <a:rPr lang="el-GR" altLang="zh-CN" sz="1400" dirty="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400" dirty="0">
                <a:latin typeface="Times New Roman" panose="02020603050405020304" pitchFamily="18" charset="0"/>
                <a:ea typeface="MS PGothic" panose="020B0600070205080204" pitchFamily="34" charset="-128"/>
                <a:cs typeface="Times New Roman" panose="02020603050405020304" pitchFamily="18" charset="0"/>
              </a:rPr>
              <a:t>_</a:t>
            </a:r>
            <a:r>
              <a:rPr lang="en-US" altLang="zh-CN" sz="1400" dirty="0" err="1">
                <a:latin typeface="Times New Roman" panose="02020603050405020304" pitchFamily="18" charset="0"/>
                <a:ea typeface="MS PGothic" panose="020B0600070205080204" pitchFamily="34" charset="-128"/>
                <a:cs typeface="Times New Roman" panose="02020603050405020304" pitchFamily="18" charset="0"/>
              </a:rPr>
              <a:t>i</a:t>
            </a:r>
            <a:endParaRPr lang="zh-CN" altLang="en-US" sz="14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22484218-DB12-E8CB-FABA-F6F94CA9ECAA}"/>
              </a:ext>
            </a:extLst>
          </p:cNvPr>
          <p:cNvSpPr txBox="1"/>
          <p:nvPr/>
        </p:nvSpPr>
        <p:spPr>
          <a:xfrm>
            <a:off x="4755738" y="1410680"/>
            <a:ext cx="716890" cy="307777"/>
          </a:xfrm>
          <a:prstGeom prst="rect">
            <a:avLst/>
          </a:prstGeom>
          <a:noFill/>
        </p:spPr>
        <p:txBody>
          <a:bodyPr wrap="square">
            <a:spAutoFit/>
          </a:bodyPr>
          <a:lstStyle/>
          <a:p>
            <a:r>
              <a:rPr lang="el-GR" altLang="zh-CN" sz="1400" dirty="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400" dirty="0">
                <a:latin typeface="Times New Roman" panose="02020603050405020304" pitchFamily="18" charset="0"/>
                <a:ea typeface="MS PGothic" panose="020B0600070205080204" pitchFamily="34" charset="-128"/>
                <a:cs typeface="Times New Roman" panose="02020603050405020304" pitchFamily="18" charset="0"/>
              </a:rPr>
              <a:t>_</a:t>
            </a:r>
            <a:r>
              <a:rPr lang="en-US" altLang="zh-CN" sz="1400" dirty="0" err="1">
                <a:latin typeface="Times New Roman" panose="02020603050405020304" pitchFamily="18" charset="0"/>
                <a:ea typeface="MS PGothic" panose="020B0600070205080204" pitchFamily="34" charset="-128"/>
                <a:cs typeface="Times New Roman" panose="02020603050405020304" pitchFamily="18" charset="0"/>
              </a:rPr>
              <a:t>Ign</a:t>
            </a:r>
            <a:endParaRPr lang="zh-CN" altLang="en-US" sz="1400"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A8C6D446-7D4F-6C87-7BDE-1B922159F89E}"/>
              </a:ext>
            </a:extLst>
          </p:cNvPr>
          <p:cNvSpPr txBox="1"/>
          <p:nvPr/>
        </p:nvSpPr>
        <p:spPr>
          <a:xfrm>
            <a:off x="7685335" y="1410680"/>
            <a:ext cx="1335595" cy="307777"/>
          </a:xfrm>
          <a:prstGeom prst="rect">
            <a:avLst/>
          </a:prstGeom>
          <a:noFill/>
        </p:spPr>
        <p:txBody>
          <a:bodyPr wrap="square">
            <a:spAutoFit/>
          </a:bodyPr>
          <a:lstStyle/>
          <a:p>
            <a:r>
              <a:rPr lang="en-US" altLang="zh-CN" sz="1400" dirty="0" err="1">
                <a:latin typeface="Times New Roman" panose="02020603050405020304" pitchFamily="18" charset="0"/>
                <a:ea typeface="MS PGothic" panose="020B0600070205080204" pitchFamily="34" charset="-128"/>
                <a:cs typeface="Times New Roman" panose="02020603050405020304" pitchFamily="18" charset="0"/>
              </a:rPr>
              <a:t>Af</a:t>
            </a:r>
            <a:r>
              <a:rPr lang="en-US" altLang="zh-CN" sz="1400" dirty="0">
                <a:latin typeface="Times New Roman" panose="02020603050405020304" pitchFamily="18" charset="0"/>
                <a:ea typeface="MS PGothic" panose="020B0600070205080204" pitchFamily="34" charset="-128"/>
                <a:cs typeface="Times New Roman" panose="02020603050405020304" pitchFamily="18" charset="0"/>
              </a:rPr>
              <a:t>=0</a:t>
            </a:r>
            <a:r>
              <a:rPr lang="zh-CN" altLang="en-US" sz="1400" dirty="0">
                <a:latin typeface="Times New Roman" panose="02020603050405020304" pitchFamily="18" charset="0"/>
                <a:ea typeface="MS PGothic" panose="020B0600070205080204" pitchFamily="34" charset="-128"/>
                <a:cs typeface="Times New Roman" panose="02020603050405020304" pitchFamily="18" charset="0"/>
              </a:rPr>
              <a:t>或</a:t>
            </a:r>
            <a:r>
              <a:rPr lang="en-US" altLang="zh-CN" sz="1400" dirty="0" err="1">
                <a:latin typeface="Times New Roman" panose="02020603050405020304" pitchFamily="18" charset="0"/>
                <a:ea typeface="MS PGothic" panose="020B0600070205080204" pitchFamily="34" charset="-128"/>
                <a:cs typeface="Times New Roman" panose="02020603050405020304" pitchFamily="18" charset="0"/>
              </a:rPr>
              <a:t>Xb</a:t>
            </a:r>
            <a:r>
              <a:rPr lang="en-US" altLang="zh-CN" sz="1400" dirty="0">
                <a:latin typeface="Times New Roman" panose="02020603050405020304" pitchFamily="18" charset="0"/>
                <a:ea typeface="MS PGothic" panose="020B0600070205080204" pitchFamily="34" charset="-128"/>
                <a:cs typeface="Times New Roman" panose="02020603050405020304" pitchFamily="18" charset="0"/>
              </a:rPr>
              <a:t>=1</a:t>
            </a:r>
            <a:endParaRPr lang="zh-CN" altLang="en-US" sz="1400" dirty="0">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18" name="文本框 17">
            <a:extLst>
              <a:ext uri="{FF2B5EF4-FFF2-40B4-BE49-F238E27FC236}">
                <a16:creationId xmlns:a16="http://schemas.microsoft.com/office/drawing/2014/main" id="{101ECCD8-E2D3-7AF2-1832-EB2A52B6E805}"/>
              </a:ext>
            </a:extLst>
          </p:cNvPr>
          <p:cNvSpPr txBox="1"/>
          <p:nvPr/>
        </p:nvSpPr>
        <p:spPr>
          <a:xfrm>
            <a:off x="2674513" y="1415001"/>
            <a:ext cx="1062559" cy="338554"/>
          </a:xfrm>
          <a:prstGeom prst="rect">
            <a:avLst/>
          </a:prstGeom>
          <a:noFill/>
        </p:spPr>
        <p:txBody>
          <a:bodyPr wrap="square" rtlCol="0">
            <a:spAutoFit/>
          </a:bodyPr>
          <a:lstStyle/>
          <a:p>
            <a:r>
              <a:rPr lang="zh-CN" altLang="en-US" sz="1600"/>
              <a:t>单区</a:t>
            </a:r>
          </a:p>
        </p:txBody>
      </p:sp>
      <p:sp>
        <p:nvSpPr>
          <p:cNvPr id="19" name="文本框 18">
            <a:extLst>
              <a:ext uri="{FF2B5EF4-FFF2-40B4-BE49-F238E27FC236}">
                <a16:creationId xmlns:a16="http://schemas.microsoft.com/office/drawing/2014/main" id="{CF3BCC52-43EA-E8F7-80C0-B78257790CC1}"/>
              </a:ext>
            </a:extLst>
          </p:cNvPr>
          <p:cNvSpPr txBox="1"/>
          <p:nvPr/>
        </p:nvSpPr>
        <p:spPr>
          <a:xfrm>
            <a:off x="4289783" y="1395291"/>
            <a:ext cx="595035" cy="338554"/>
          </a:xfrm>
          <a:prstGeom prst="rect">
            <a:avLst/>
          </a:prstGeom>
          <a:noFill/>
        </p:spPr>
        <p:txBody>
          <a:bodyPr wrap="square" rtlCol="0">
            <a:spAutoFit/>
          </a:bodyPr>
          <a:lstStyle/>
          <a:p>
            <a:r>
              <a:rPr lang="zh-CN" altLang="en-US" sz="1600"/>
              <a:t>单区</a:t>
            </a:r>
          </a:p>
        </p:txBody>
      </p:sp>
      <p:sp>
        <p:nvSpPr>
          <p:cNvPr id="20" name="文本框 19">
            <a:extLst>
              <a:ext uri="{FF2B5EF4-FFF2-40B4-BE49-F238E27FC236}">
                <a16:creationId xmlns:a16="http://schemas.microsoft.com/office/drawing/2014/main" id="{A45DE0DB-7D56-E66E-4F39-0375B47D107B}"/>
              </a:ext>
            </a:extLst>
          </p:cNvPr>
          <p:cNvSpPr txBox="1"/>
          <p:nvPr/>
        </p:nvSpPr>
        <p:spPr>
          <a:xfrm>
            <a:off x="6121413" y="1383271"/>
            <a:ext cx="1119859" cy="338554"/>
          </a:xfrm>
          <a:prstGeom prst="rect">
            <a:avLst/>
          </a:prstGeom>
          <a:noFill/>
        </p:spPr>
        <p:txBody>
          <a:bodyPr wrap="square" rtlCol="0">
            <a:spAutoFit/>
          </a:bodyPr>
          <a:lstStyle/>
          <a:p>
            <a:r>
              <a:rPr lang="zh-CN" altLang="en-US" sz="1600"/>
              <a:t>双区准维</a:t>
            </a:r>
          </a:p>
        </p:txBody>
      </p:sp>
      <p:sp>
        <p:nvSpPr>
          <p:cNvPr id="21" name="文本框 20">
            <a:extLst>
              <a:ext uri="{FF2B5EF4-FFF2-40B4-BE49-F238E27FC236}">
                <a16:creationId xmlns:a16="http://schemas.microsoft.com/office/drawing/2014/main" id="{BD9EF4D5-936B-0DDE-8E10-F44EAEEC966D}"/>
              </a:ext>
            </a:extLst>
          </p:cNvPr>
          <p:cNvSpPr txBox="1"/>
          <p:nvPr/>
        </p:nvSpPr>
        <p:spPr>
          <a:xfrm>
            <a:off x="9136416" y="1395291"/>
            <a:ext cx="595035" cy="338554"/>
          </a:xfrm>
          <a:prstGeom prst="rect">
            <a:avLst/>
          </a:prstGeom>
          <a:noFill/>
        </p:spPr>
        <p:txBody>
          <a:bodyPr wrap="square" rtlCol="0">
            <a:spAutoFit/>
          </a:bodyPr>
          <a:lstStyle/>
          <a:p>
            <a:r>
              <a:rPr lang="zh-CN" altLang="en-US" sz="1600"/>
              <a:t>单区</a:t>
            </a:r>
          </a:p>
        </p:txBody>
      </p:sp>
      <p:sp>
        <p:nvSpPr>
          <p:cNvPr id="22" name="文本框 21">
            <a:extLst>
              <a:ext uri="{FF2B5EF4-FFF2-40B4-BE49-F238E27FC236}">
                <a16:creationId xmlns:a16="http://schemas.microsoft.com/office/drawing/2014/main" id="{2FFCD7DB-15D3-3497-5664-2A6AD8B6837D}"/>
              </a:ext>
            </a:extLst>
          </p:cNvPr>
          <p:cNvSpPr txBox="1"/>
          <p:nvPr/>
        </p:nvSpPr>
        <p:spPr>
          <a:xfrm>
            <a:off x="10216209" y="1410680"/>
            <a:ext cx="874451" cy="307777"/>
          </a:xfrm>
          <a:prstGeom prst="rect">
            <a:avLst/>
          </a:prstGeom>
          <a:noFill/>
        </p:spPr>
        <p:txBody>
          <a:bodyPr wrap="square">
            <a:spAutoFit/>
          </a:bodyPr>
          <a:lstStyle/>
          <a:p>
            <a:r>
              <a:rPr lang="el-GR" altLang="zh-CN" sz="1400" dirty="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400" dirty="0">
                <a:latin typeface="Times New Roman" panose="02020603050405020304" pitchFamily="18" charset="0"/>
                <a:ea typeface="MS PGothic" panose="020B0600070205080204" pitchFamily="34" charset="-128"/>
                <a:cs typeface="Times New Roman" panose="02020603050405020304" pitchFamily="18" charset="0"/>
              </a:rPr>
              <a:t>_EVO</a:t>
            </a:r>
          </a:p>
        </p:txBody>
      </p:sp>
    </p:spTree>
    <p:extLst>
      <p:ext uri="{BB962C8B-B14F-4D97-AF65-F5344CB8AC3E}">
        <p14:creationId xmlns:p14="http://schemas.microsoft.com/office/powerpoint/2010/main" val="1459616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6D055-36D9-808A-097C-8456553EE56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660F578-4F8A-A455-D39F-2E07FDFB6C4D}"/>
              </a:ext>
            </a:extLst>
          </p:cNvPr>
          <p:cNvSpPr>
            <a:spLocks noGrp="1"/>
          </p:cNvSpPr>
          <p:nvPr>
            <p:ph type="title"/>
          </p:nvPr>
        </p:nvSpPr>
        <p:spPr/>
        <p:txBody>
          <a:bodyPr/>
          <a:lstStyle/>
          <a:p>
            <a:r>
              <a:rPr lang="zh-CN" altLang="en-US"/>
              <a:t>目录</a:t>
            </a:r>
            <a:endParaRPr lang="zh-CN" altLang="en-US" dirty="0"/>
          </a:p>
        </p:txBody>
      </p:sp>
      <p:grpSp>
        <p:nvGrpSpPr>
          <p:cNvPr id="5" name="组合 4">
            <a:extLst>
              <a:ext uri="{FF2B5EF4-FFF2-40B4-BE49-F238E27FC236}">
                <a16:creationId xmlns:a16="http://schemas.microsoft.com/office/drawing/2014/main" id="{B0E41AE2-F713-04AE-3E50-486D60957DC7}"/>
              </a:ext>
            </a:extLst>
          </p:cNvPr>
          <p:cNvGrpSpPr/>
          <p:nvPr/>
        </p:nvGrpSpPr>
        <p:grpSpPr>
          <a:xfrm>
            <a:off x="2897226" y="2013783"/>
            <a:ext cx="6967210" cy="2830434"/>
            <a:chOff x="2767917" y="1781591"/>
            <a:chExt cx="17305538" cy="2830434"/>
          </a:xfrm>
        </p:grpSpPr>
        <p:sp>
          <p:nvSpPr>
            <p:cNvPr id="6" name="矩形 5">
              <a:extLst>
                <a:ext uri="{FF2B5EF4-FFF2-40B4-BE49-F238E27FC236}">
                  <a16:creationId xmlns:a16="http://schemas.microsoft.com/office/drawing/2014/main" id="{E62BD871-76FF-83B4-F30F-CAE27F58E751}"/>
                </a:ext>
              </a:extLst>
            </p:cNvPr>
            <p:cNvSpPr/>
            <p:nvPr/>
          </p:nvSpPr>
          <p:spPr>
            <a:xfrm>
              <a:off x="2767920" y="178159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第一章：绪论</a:t>
              </a:r>
              <a:endParaRPr lang="zh-CN" altLang="en-US"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7" name="矩形 6">
              <a:extLst>
                <a:ext uri="{FF2B5EF4-FFF2-40B4-BE49-F238E27FC236}">
                  <a16:creationId xmlns:a16="http://schemas.microsoft.com/office/drawing/2014/main" id="{9BBEA192-A117-43E5-6087-90F28E7B6E4F}"/>
                </a:ext>
              </a:extLst>
            </p:cNvPr>
            <p:cNvSpPr/>
            <p:nvPr/>
          </p:nvSpPr>
          <p:spPr>
            <a:xfrm>
              <a:off x="2767919" y="237087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第二章：氢内燃机准维燃烧模型的构建</a:t>
              </a:r>
              <a:endParaRPr lang="zh-CN" altLang="zh-CN"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8" name="矩形 7">
              <a:extLst>
                <a:ext uri="{FF2B5EF4-FFF2-40B4-BE49-F238E27FC236}">
                  <a16:creationId xmlns:a16="http://schemas.microsoft.com/office/drawing/2014/main" id="{2AE9BCAA-98A8-8A31-0D4D-A0873F67A9DE}"/>
                </a:ext>
              </a:extLst>
            </p:cNvPr>
            <p:cNvSpPr/>
            <p:nvPr/>
          </p:nvSpPr>
          <p:spPr>
            <a:xfrm>
              <a:off x="2767919" y="296015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C00000"/>
                  </a:solidFill>
                  <a:latin typeface="Times New Roman" panose="02020603050405020304" pitchFamily="18" charset="0"/>
                  <a:ea typeface="微软雅黑" panose="020B0503020204020204" pitchFamily="34" charset="-122"/>
                  <a:cs typeface="+mn-ea"/>
                </a:rPr>
                <a:t>第三章：氢内燃机爆震唯象模型的构建</a:t>
              </a:r>
              <a:endParaRPr lang="zh-CN" altLang="en-US" sz="2400" b="1" dirty="0">
                <a:solidFill>
                  <a:srgbClr val="C00000"/>
                </a:solidFill>
                <a:latin typeface="Times New Roman" panose="02020603050405020304" pitchFamily="18" charset="0"/>
                <a:ea typeface="微软雅黑" panose="020B0503020204020204" pitchFamily="34" charset="-122"/>
                <a:cs typeface="+mn-ea"/>
              </a:endParaRPr>
            </a:p>
          </p:txBody>
        </p:sp>
        <p:sp>
          <p:nvSpPr>
            <p:cNvPr id="10" name="矩形 9">
              <a:extLst>
                <a:ext uri="{FF2B5EF4-FFF2-40B4-BE49-F238E27FC236}">
                  <a16:creationId xmlns:a16="http://schemas.microsoft.com/office/drawing/2014/main" id="{71E6DF85-8841-5401-87E6-05BBDE470281}"/>
                </a:ext>
              </a:extLst>
            </p:cNvPr>
            <p:cNvSpPr/>
            <p:nvPr/>
          </p:nvSpPr>
          <p:spPr>
            <a:xfrm>
              <a:off x="2767917" y="3549431"/>
              <a:ext cx="1730553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第四章：氢内燃机燃烧与爆震模型的标定与验证</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sp>
          <p:nvSpPr>
            <p:cNvPr id="11" name="矩形 10">
              <a:extLst>
                <a:ext uri="{FF2B5EF4-FFF2-40B4-BE49-F238E27FC236}">
                  <a16:creationId xmlns:a16="http://schemas.microsoft.com/office/drawing/2014/main" id="{18946E18-E1DD-22AF-A9D3-8A19074A8587}"/>
                </a:ext>
              </a:extLst>
            </p:cNvPr>
            <p:cNvSpPr/>
            <p:nvPr/>
          </p:nvSpPr>
          <p:spPr>
            <a:xfrm>
              <a:off x="2767917" y="4150360"/>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第五章：总结与展望</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grpSp>
    </p:spTree>
    <p:extLst>
      <p:ext uri="{BB962C8B-B14F-4D97-AF65-F5344CB8AC3E}">
        <p14:creationId xmlns:p14="http://schemas.microsoft.com/office/powerpoint/2010/main" val="3891413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9146C-FAE6-DBC9-3A32-842DB265A26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BBEF5D9-CFD2-4EB9-DBAB-BA47CFDA1386}"/>
              </a:ext>
            </a:extLst>
          </p:cNvPr>
          <p:cNvSpPr>
            <a:spLocks noGrp="1"/>
          </p:cNvSpPr>
          <p:nvPr>
            <p:ph type="title"/>
          </p:nvPr>
        </p:nvSpPr>
        <p:spPr/>
        <p:txBody>
          <a:bodyPr/>
          <a:lstStyle/>
          <a:p>
            <a:r>
              <a:rPr lang="zh-CN" altLang="en-US"/>
              <a:t>第三章：氢内燃机爆震唯象模型的构建</a:t>
            </a:r>
            <a:endParaRPr lang="zh-CN" altLang="en-US" dirty="0"/>
          </a:p>
        </p:txBody>
      </p:sp>
      <p:sp>
        <p:nvSpPr>
          <p:cNvPr id="2" name="矩形 1">
            <a:extLst>
              <a:ext uri="{FF2B5EF4-FFF2-40B4-BE49-F238E27FC236}">
                <a16:creationId xmlns:a16="http://schemas.microsoft.com/office/drawing/2014/main" id="{90A0C9E7-CBBB-BB15-2595-20351E0F23AC}"/>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第一节：氢气自燃诱发模型</a:t>
            </a:r>
          </a:p>
        </p:txBody>
      </p:sp>
      <p:sp>
        <p:nvSpPr>
          <p:cNvPr id="4" name="Rectangle 2">
            <a:extLst>
              <a:ext uri="{FF2B5EF4-FFF2-40B4-BE49-F238E27FC236}">
                <a16:creationId xmlns:a16="http://schemas.microsoft.com/office/drawing/2014/main" id="{C608085D-0D31-8B9A-C6A3-81503DED51A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文本框 4">
            <a:extLst>
              <a:ext uri="{FF2B5EF4-FFF2-40B4-BE49-F238E27FC236}">
                <a16:creationId xmlns:a16="http://schemas.microsoft.com/office/drawing/2014/main" id="{2F4C2084-D5DF-BD0B-E316-EE2CF0D000AF}"/>
              </a:ext>
            </a:extLst>
          </p:cNvPr>
          <p:cNvSpPr txBox="1"/>
          <p:nvPr/>
        </p:nvSpPr>
        <p:spPr>
          <a:xfrm>
            <a:off x="419100" y="2016750"/>
            <a:ext cx="5303520" cy="1077218"/>
          </a:xfrm>
          <a:prstGeom prst="rect">
            <a:avLst/>
          </a:prstGeom>
          <a:noFill/>
        </p:spPr>
        <p:txBody>
          <a:bodyPr wrap="square" rtlCol="0">
            <a:spAutoFit/>
          </a:bodyPr>
          <a:lstStyle/>
          <a:p>
            <a:r>
              <a:rPr lang="zh-CN" altLang="en-US" sz="1600" b="1">
                <a:solidFill>
                  <a:srgbClr val="D20B17"/>
                </a:solidFill>
                <a:latin typeface="等线" panose="02010600030101010101" pitchFamily="2" charset="-122"/>
                <a:ea typeface="等线" panose="02010600030101010101" pitchFamily="2" charset="-122"/>
              </a:rPr>
              <a:t>爆震的本质：</a:t>
            </a:r>
            <a:r>
              <a:rPr lang="zh-CN" altLang="en-US" sz="1600">
                <a:latin typeface="等线" panose="02010600030101010101" pitchFamily="2" charset="-122"/>
                <a:ea typeface="等线" panose="02010600030101010101" pitchFamily="2" charset="-122"/>
              </a:rPr>
              <a:t>气缸未燃区内的混合气在火焰前锋面到达之前，其局部温度与压力突破自燃临界点而越过火焰传播引发的</a:t>
            </a:r>
            <a:r>
              <a:rPr lang="zh-CN" altLang="en-US" sz="1600" b="1">
                <a:latin typeface="等线" panose="02010600030101010101" pitchFamily="2" charset="-122"/>
                <a:ea typeface="等线" panose="02010600030101010101" pitchFamily="2" charset="-122"/>
              </a:rPr>
              <a:t>末端气体自燃</a:t>
            </a:r>
            <a:r>
              <a:rPr lang="zh-CN" altLang="en-US" sz="1600">
                <a:latin typeface="等线" panose="02010600030101010101" pitchFamily="2" charset="-122"/>
                <a:ea typeface="等线" panose="02010600030101010101" pitchFamily="2" charset="-122"/>
              </a:rPr>
              <a:t>，并</a:t>
            </a:r>
            <a:r>
              <a:rPr lang="zh-CN" altLang="en-US" sz="1600" b="1">
                <a:latin typeface="等线" panose="02010600030101010101" pitchFamily="2" charset="-122"/>
                <a:ea typeface="等线" panose="02010600030101010101" pitchFamily="2" charset="-122"/>
              </a:rPr>
              <a:t>集中释放</a:t>
            </a:r>
            <a:r>
              <a:rPr lang="zh-CN" altLang="en-US" sz="1600">
                <a:latin typeface="等线" panose="02010600030101010101" pitchFamily="2" charset="-122"/>
                <a:ea typeface="等线" panose="02010600030101010101" pitchFamily="2" charset="-122"/>
              </a:rPr>
              <a:t>高频高强度压力冲击波在缸内引起压力剧烈震荡</a:t>
            </a:r>
            <a:r>
              <a:rPr lang="en-US" altLang="zh-CN" sz="1600" baseline="30000">
                <a:latin typeface="等线" panose="02010600030101010101" pitchFamily="2" charset="-122"/>
                <a:ea typeface="等线" panose="02010600030101010101" pitchFamily="2" charset="-122"/>
              </a:rPr>
              <a:t>[10]</a:t>
            </a:r>
            <a:r>
              <a:rPr lang="zh-CN" altLang="en-US" sz="1600">
                <a:latin typeface="等线" panose="02010600030101010101" pitchFamily="2" charset="-122"/>
                <a:ea typeface="等线" panose="02010600030101010101" pitchFamily="2" charset="-122"/>
              </a:rPr>
              <a:t>。</a:t>
            </a:r>
          </a:p>
        </p:txBody>
      </p:sp>
      <p:sp>
        <p:nvSpPr>
          <p:cNvPr id="8" name="矩形: 圆角 7">
            <a:extLst>
              <a:ext uri="{FF2B5EF4-FFF2-40B4-BE49-F238E27FC236}">
                <a16:creationId xmlns:a16="http://schemas.microsoft.com/office/drawing/2014/main" id="{B1EE1808-EA8E-02D0-4BDC-F6F9999C86E5}"/>
              </a:ext>
            </a:extLst>
          </p:cNvPr>
          <p:cNvSpPr/>
          <p:nvPr/>
        </p:nvSpPr>
        <p:spPr>
          <a:xfrm>
            <a:off x="419100" y="2016750"/>
            <a:ext cx="5303520" cy="1077218"/>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下 8">
            <a:extLst>
              <a:ext uri="{FF2B5EF4-FFF2-40B4-BE49-F238E27FC236}">
                <a16:creationId xmlns:a16="http://schemas.microsoft.com/office/drawing/2014/main" id="{9E8E3364-A60F-6F5A-7093-E2AEDCB8682C}"/>
              </a:ext>
            </a:extLst>
          </p:cNvPr>
          <p:cNvSpPr/>
          <p:nvPr/>
        </p:nvSpPr>
        <p:spPr>
          <a:xfrm>
            <a:off x="2811780" y="3147308"/>
            <a:ext cx="259080" cy="282351"/>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DB12B74-00C3-8395-8439-63D686B7ED20}"/>
              </a:ext>
            </a:extLst>
          </p:cNvPr>
          <p:cNvSpPr/>
          <p:nvPr/>
        </p:nvSpPr>
        <p:spPr>
          <a:xfrm>
            <a:off x="852208" y="3475379"/>
            <a:ext cx="670560" cy="4114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爆震</a:t>
            </a:r>
          </a:p>
        </p:txBody>
      </p:sp>
      <p:sp>
        <p:nvSpPr>
          <p:cNvPr id="12" name="箭头: V 形 11">
            <a:extLst>
              <a:ext uri="{FF2B5EF4-FFF2-40B4-BE49-F238E27FC236}">
                <a16:creationId xmlns:a16="http://schemas.microsoft.com/office/drawing/2014/main" id="{FD0521B6-4C74-A971-F3F2-3E53FC053D14}"/>
              </a:ext>
            </a:extLst>
          </p:cNvPr>
          <p:cNvSpPr/>
          <p:nvPr/>
        </p:nvSpPr>
        <p:spPr>
          <a:xfrm>
            <a:off x="1766608" y="3601109"/>
            <a:ext cx="121920" cy="1600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矩形 12">
            <a:extLst>
              <a:ext uri="{FF2B5EF4-FFF2-40B4-BE49-F238E27FC236}">
                <a16:creationId xmlns:a16="http://schemas.microsoft.com/office/drawing/2014/main" id="{C8AFB531-1C1D-FAEF-670E-4E81929A8E5C}"/>
              </a:ext>
            </a:extLst>
          </p:cNvPr>
          <p:cNvSpPr/>
          <p:nvPr/>
        </p:nvSpPr>
        <p:spPr>
          <a:xfrm>
            <a:off x="2025688" y="3475379"/>
            <a:ext cx="670560" cy="4114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自燃</a:t>
            </a:r>
          </a:p>
        </p:txBody>
      </p:sp>
      <p:sp>
        <p:nvSpPr>
          <p:cNvPr id="14" name="箭头: V 形 13">
            <a:extLst>
              <a:ext uri="{FF2B5EF4-FFF2-40B4-BE49-F238E27FC236}">
                <a16:creationId xmlns:a16="http://schemas.microsoft.com/office/drawing/2014/main" id="{20795E00-0033-4390-056A-2BF7E8722806}"/>
              </a:ext>
            </a:extLst>
          </p:cNvPr>
          <p:cNvSpPr/>
          <p:nvPr/>
        </p:nvSpPr>
        <p:spPr>
          <a:xfrm>
            <a:off x="2955328" y="3601109"/>
            <a:ext cx="121920" cy="1600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矩形 14">
            <a:extLst>
              <a:ext uri="{FF2B5EF4-FFF2-40B4-BE49-F238E27FC236}">
                <a16:creationId xmlns:a16="http://schemas.microsoft.com/office/drawing/2014/main" id="{29CFAC65-7F6E-04D4-5E86-FCC3F5DAC33A}"/>
              </a:ext>
            </a:extLst>
          </p:cNvPr>
          <p:cNvSpPr/>
          <p:nvPr/>
        </p:nvSpPr>
        <p:spPr>
          <a:xfrm>
            <a:off x="3199168" y="3475379"/>
            <a:ext cx="2263140" cy="4114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Livengood-Wu</a:t>
            </a:r>
            <a:r>
              <a:rPr lang="zh-CN" altLang="en-US"/>
              <a:t>积分</a:t>
            </a:r>
          </a:p>
        </p:txBody>
      </p:sp>
      <p:sp>
        <p:nvSpPr>
          <p:cNvPr id="17" name="文本框 16">
            <a:extLst>
              <a:ext uri="{FF2B5EF4-FFF2-40B4-BE49-F238E27FC236}">
                <a16:creationId xmlns:a16="http://schemas.microsoft.com/office/drawing/2014/main" id="{BB350C55-30D4-E394-5E66-8303E6703C53}"/>
              </a:ext>
            </a:extLst>
          </p:cNvPr>
          <p:cNvSpPr txBox="1"/>
          <p:nvPr/>
        </p:nvSpPr>
        <p:spPr>
          <a:xfrm>
            <a:off x="419100" y="4034752"/>
            <a:ext cx="3719288" cy="338554"/>
          </a:xfrm>
          <a:prstGeom prst="rect">
            <a:avLst/>
          </a:prstGeom>
          <a:noFill/>
        </p:spPr>
        <p:txBody>
          <a:bodyPr wrap="none" rtlCol="0">
            <a:spAutoFit/>
          </a:bodyPr>
          <a:lstStyle/>
          <a:p>
            <a:pPr marL="285750" indent="-285750">
              <a:buFont typeface="Wingdings" panose="05000000000000000000" pitchFamily="2" charset="2"/>
              <a:buChar char="u"/>
            </a:pPr>
            <a:r>
              <a:rPr lang="en-US" altLang="zh-CN" sz="1600" b="1">
                <a:solidFill>
                  <a:schemeClr val="accent1">
                    <a:lumMod val="75000"/>
                  </a:schemeClr>
                </a:solidFill>
              </a:rPr>
              <a:t>Livengood-Wu</a:t>
            </a:r>
            <a:r>
              <a:rPr lang="zh-CN" altLang="en-US" sz="1600" b="1">
                <a:solidFill>
                  <a:schemeClr val="accent1">
                    <a:lumMod val="75000"/>
                  </a:schemeClr>
                </a:solidFill>
              </a:rPr>
              <a:t>积分与自燃诱发准则</a:t>
            </a:r>
            <a:endParaRPr lang="en-US" altLang="zh-CN" sz="1600" b="1">
              <a:solidFill>
                <a:schemeClr val="accent1">
                  <a:lumMod val="75000"/>
                </a:schemeClr>
              </a:solidFill>
            </a:endParaRPr>
          </a:p>
        </p:txBody>
      </p:sp>
      <p:sp>
        <p:nvSpPr>
          <p:cNvPr id="22" name="文本框 21">
            <a:extLst>
              <a:ext uri="{FF2B5EF4-FFF2-40B4-BE49-F238E27FC236}">
                <a16:creationId xmlns:a16="http://schemas.microsoft.com/office/drawing/2014/main" id="{CC9A6D29-4C15-CC9D-1B3C-692A51B4EC28}"/>
              </a:ext>
            </a:extLst>
          </p:cNvPr>
          <p:cNvSpPr txBox="1"/>
          <p:nvPr/>
        </p:nvSpPr>
        <p:spPr>
          <a:xfrm>
            <a:off x="419100" y="4391510"/>
            <a:ext cx="5303520" cy="738664"/>
          </a:xfrm>
          <a:prstGeom prst="rect">
            <a:avLst/>
          </a:prstGeom>
          <a:noFill/>
        </p:spPr>
        <p:txBody>
          <a:bodyPr wrap="square" rtlCol="0">
            <a:spAutoFit/>
          </a:bodyPr>
          <a:lstStyle/>
          <a:p>
            <a:pPr marL="285750" indent="-285750">
              <a:buClr>
                <a:srgbClr val="C00000"/>
              </a:buClr>
              <a:buFont typeface="Wingdings" panose="05000000000000000000" pitchFamily="2" charset="2"/>
              <a:buChar char="Ø"/>
            </a:pPr>
            <a:r>
              <a:rPr lang="en-US" altLang="zh-CN" sz="1400" b="1"/>
              <a:t>Livengood</a:t>
            </a:r>
            <a:r>
              <a:rPr lang="zh-CN" altLang="en-US" sz="1400" b="1"/>
              <a:t>积分末端气体自燃理论假设：</a:t>
            </a:r>
            <a:r>
              <a:rPr lang="zh-CN" altLang="en-US" sz="1400"/>
              <a:t>在任意微小的时间步长内，混合气所消耗的“自燃准备时间</a:t>
            </a:r>
            <a:r>
              <a:rPr lang="en-US" altLang="zh-CN" sz="1400"/>
              <a:t>τ</a:t>
            </a:r>
            <a:r>
              <a:rPr lang="zh-CN" altLang="en-US" sz="1400"/>
              <a:t>”占其在当前瞬态状态下总着火延迟期的比值，即为该步长内的自燃倾向增量。</a:t>
            </a:r>
          </a:p>
        </p:txBody>
      </p:sp>
      <p:sp>
        <p:nvSpPr>
          <p:cNvPr id="25" name="文本框 24">
            <a:extLst>
              <a:ext uri="{FF2B5EF4-FFF2-40B4-BE49-F238E27FC236}">
                <a16:creationId xmlns:a16="http://schemas.microsoft.com/office/drawing/2014/main" id="{2BA58B10-FD7D-A360-C782-330FC16FA5CC}"/>
              </a:ext>
            </a:extLst>
          </p:cNvPr>
          <p:cNvSpPr txBox="1"/>
          <p:nvPr/>
        </p:nvSpPr>
        <p:spPr>
          <a:xfrm>
            <a:off x="716280" y="5923065"/>
            <a:ext cx="5006340" cy="523220"/>
          </a:xfrm>
          <a:prstGeom prst="rect">
            <a:avLst/>
          </a:prstGeom>
          <a:noFill/>
        </p:spPr>
        <p:txBody>
          <a:bodyPr wrap="square" rtlCol="0">
            <a:spAutoFit/>
          </a:bodyPr>
          <a:lstStyle/>
          <a:p>
            <a:pPr>
              <a:buClr>
                <a:srgbClr val="C00000"/>
              </a:buClr>
            </a:pPr>
            <a:r>
              <a:rPr lang="zh-CN" altLang="en-US" sz="1400"/>
              <a:t>式中，</a:t>
            </a:r>
            <a:r>
              <a:rPr lang="en-US" altLang="zh-CN" sz="1400"/>
              <a:t>t</a:t>
            </a:r>
            <a:r>
              <a:rPr lang="zh-CN" altLang="en-US" sz="1400"/>
              <a:t>为自燃发生时刻，</a:t>
            </a:r>
            <a:r>
              <a:rPr lang="en-US" altLang="zh-CN" sz="1400"/>
              <a:t>t_IVC</a:t>
            </a:r>
            <a:r>
              <a:rPr lang="zh-CN" altLang="en-US" sz="1400"/>
              <a:t>为进气门关闭时刻，</a:t>
            </a:r>
            <a:r>
              <a:rPr lang="en-US" altLang="zh-CN" sz="1400"/>
              <a:t>τ</a:t>
            </a:r>
            <a:r>
              <a:rPr lang="zh-CN" altLang="en-US" sz="1400"/>
              <a:t>（</a:t>
            </a:r>
            <a:r>
              <a:rPr lang="en-US" altLang="zh-CN" sz="1400"/>
              <a:t>t’</a:t>
            </a:r>
            <a:r>
              <a:rPr lang="zh-CN" altLang="en-US" sz="1400"/>
              <a:t>）为每一步长的着火延迟时间。</a:t>
            </a:r>
          </a:p>
        </p:txBody>
      </p:sp>
      <p:sp>
        <p:nvSpPr>
          <p:cNvPr id="28" name="箭头: 下 27">
            <a:extLst>
              <a:ext uri="{FF2B5EF4-FFF2-40B4-BE49-F238E27FC236}">
                <a16:creationId xmlns:a16="http://schemas.microsoft.com/office/drawing/2014/main" id="{16D648C0-B6B1-3D9F-EAA0-D5196F159A79}"/>
              </a:ext>
            </a:extLst>
          </p:cNvPr>
          <p:cNvSpPr/>
          <p:nvPr/>
        </p:nvSpPr>
        <p:spPr>
          <a:xfrm rot="-5400000">
            <a:off x="6045444" y="2166457"/>
            <a:ext cx="259080" cy="282351"/>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D07C1D42-7769-5B2B-9F7C-E48F5CE6A872}"/>
              </a:ext>
            </a:extLst>
          </p:cNvPr>
          <p:cNvSpPr txBox="1"/>
          <p:nvPr/>
        </p:nvSpPr>
        <p:spPr>
          <a:xfrm>
            <a:off x="6468652" y="2596372"/>
            <a:ext cx="4245073" cy="338554"/>
          </a:xfrm>
          <a:prstGeom prst="rect">
            <a:avLst/>
          </a:prstGeom>
          <a:noFill/>
        </p:spPr>
        <p:txBody>
          <a:bodyPr wrap="none" rtlCol="0">
            <a:spAutoFit/>
          </a:bodyPr>
          <a:lstStyle/>
          <a:p>
            <a:pPr marL="285750" indent="-285750">
              <a:buFont typeface="Wingdings" panose="05000000000000000000" pitchFamily="2" charset="2"/>
              <a:buChar char="u"/>
            </a:pPr>
            <a:r>
              <a:rPr lang="zh-CN" altLang="en-US" sz="1600" b="1">
                <a:solidFill>
                  <a:schemeClr val="accent1">
                    <a:lumMod val="75000"/>
                  </a:schemeClr>
                </a:solidFill>
              </a:rPr>
              <a:t>基于</a:t>
            </a:r>
            <a:r>
              <a:rPr lang="en-US" altLang="zh-CN" sz="1600" b="1">
                <a:solidFill>
                  <a:schemeClr val="accent1">
                    <a:lumMod val="75000"/>
                  </a:schemeClr>
                </a:solidFill>
              </a:rPr>
              <a:t>Arrhenius</a:t>
            </a:r>
            <a:r>
              <a:rPr lang="zh-CN" altLang="en-US" sz="1600" b="1">
                <a:solidFill>
                  <a:schemeClr val="accent1">
                    <a:lumMod val="75000"/>
                  </a:schemeClr>
                </a:solidFill>
              </a:rPr>
              <a:t>理论的瞬态着火延迟期计算</a:t>
            </a:r>
            <a:endParaRPr lang="en-US" altLang="zh-CN" sz="1600" b="1">
              <a:solidFill>
                <a:schemeClr val="accent1">
                  <a:lumMod val="75000"/>
                </a:schemeClr>
              </a:solidFill>
            </a:endParaRPr>
          </a:p>
        </p:txBody>
      </p:sp>
      <p:sp>
        <p:nvSpPr>
          <p:cNvPr id="34" name="文本框 33">
            <a:extLst>
              <a:ext uri="{FF2B5EF4-FFF2-40B4-BE49-F238E27FC236}">
                <a16:creationId xmlns:a16="http://schemas.microsoft.com/office/drawing/2014/main" id="{64ACC3E5-039C-4EF6-4A51-FB578A0D2BB2}"/>
              </a:ext>
            </a:extLst>
          </p:cNvPr>
          <p:cNvSpPr txBox="1"/>
          <p:nvPr/>
        </p:nvSpPr>
        <p:spPr>
          <a:xfrm>
            <a:off x="6468652" y="1758648"/>
            <a:ext cx="5303520" cy="738664"/>
          </a:xfrm>
          <a:prstGeom prst="rect">
            <a:avLst/>
          </a:prstGeom>
          <a:noFill/>
        </p:spPr>
        <p:txBody>
          <a:bodyPr wrap="square" rtlCol="0">
            <a:spAutoFit/>
          </a:bodyPr>
          <a:lstStyle/>
          <a:p>
            <a:pPr marL="285750" indent="-285750">
              <a:buClr>
                <a:srgbClr val="C00000"/>
              </a:buClr>
              <a:buFont typeface="Wingdings" panose="05000000000000000000" pitchFamily="2" charset="2"/>
              <a:buChar char="Ø"/>
            </a:pPr>
            <a:r>
              <a:rPr lang="zh-CN" altLang="en-US" sz="1400" b="1"/>
              <a:t>自燃判定准则：</a:t>
            </a:r>
            <a:r>
              <a:rPr lang="zh-CN" altLang="en-US" sz="1400"/>
              <a:t>将全过程所有</a:t>
            </a:r>
            <a:r>
              <a:rPr lang="en-US" altLang="zh-CN" sz="1400"/>
              <a:t>livengood-Wu</a:t>
            </a:r>
            <a:r>
              <a:rPr lang="zh-CN" altLang="en-US" sz="1400"/>
              <a:t>积分微小增量进行累加，当累加值达到</a:t>
            </a:r>
            <a:r>
              <a:rPr lang="zh-CN" altLang="en-US" sz="1400" b="1"/>
              <a:t>临界阈值</a:t>
            </a:r>
            <a:r>
              <a:rPr lang="en-US" altLang="zh-CN" sz="1400" b="1"/>
              <a:t>1.0</a:t>
            </a:r>
            <a:r>
              <a:rPr lang="zh-CN" altLang="en-US" sz="1400"/>
              <a:t>时，即判定未燃区混合气完成了所有链式反应的自由基积累，引发末端气体自燃。</a:t>
            </a:r>
          </a:p>
        </p:txBody>
      </p:sp>
      <p:sp>
        <p:nvSpPr>
          <p:cNvPr id="35" name="矩形: 圆角 34">
            <a:extLst>
              <a:ext uri="{FF2B5EF4-FFF2-40B4-BE49-F238E27FC236}">
                <a16:creationId xmlns:a16="http://schemas.microsoft.com/office/drawing/2014/main" id="{18A7690D-BB6E-E627-870C-9657467A0618}"/>
              </a:ext>
            </a:extLst>
          </p:cNvPr>
          <p:cNvSpPr/>
          <p:nvPr/>
        </p:nvSpPr>
        <p:spPr>
          <a:xfrm>
            <a:off x="6468652" y="1758648"/>
            <a:ext cx="5210313" cy="738664"/>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63CDED2-B17D-B390-75B8-DA8EB62D1085}"/>
              </a:ext>
            </a:extLst>
          </p:cNvPr>
          <p:cNvSpPr txBox="1"/>
          <p:nvPr/>
        </p:nvSpPr>
        <p:spPr>
          <a:xfrm>
            <a:off x="6561859" y="2919111"/>
            <a:ext cx="5117106" cy="307777"/>
          </a:xfrm>
          <a:prstGeom prst="rect">
            <a:avLst/>
          </a:prstGeom>
          <a:noFill/>
        </p:spPr>
        <p:txBody>
          <a:bodyPr wrap="none" rtlCol="0">
            <a:spAutoFit/>
          </a:bodyPr>
          <a:lstStyle/>
          <a:p>
            <a:pPr marL="171450" indent="-171450">
              <a:buClr>
                <a:srgbClr val="C00000"/>
              </a:buClr>
              <a:buFont typeface="Wingdings" panose="05000000000000000000" pitchFamily="2" charset="2"/>
              <a:buChar char="Ø"/>
            </a:pPr>
            <a:r>
              <a:rPr lang="zh-CN" altLang="en-US" sz="1400"/>
              <a:t>在给定的瞬态未燃区温度</a:t>
            </a:r>
            <a:r>
              <a:rPr lang="en-US" altLang="zh-CN" sz="1400"/>
              <a:t>T</a:t>
            </a:r>
            <a:r>
              <a:rPr lang="zh-CN" altLang="en-US" sz="1400"/>
              <a:t>与瞬态缸压</a:t>
            </a:r>
            <a:r>
              <a:rPr lang="en-US" altLang="zh-CN" sz="1400"/>
              <a:t>P</a:t>
            </a:r>
            <a:r>
              <a:rPr lang="zh-CN" altLang="en-US" sz="1400"/>
              <a:t>下，着火延迟期</a:t>
            </a:r>
            <a:r>
              <a:rPr lang="en-US" altLang="zh-CN" sz="1400"/>
              <a:t>τ</a:t>
            </a:r>
            <a:r>
              <a:rPr lang="zh-CN" altLang="en-US" sz="1400"/>
              <a:t>为：</a:t>
            </a:r>
          </a:p>
        </p:txBody>
      </p:sp>
      <p:pic>
        <p:nvPicPr>
          <p:cNvPr id="11" name="图片 10">
            <a:extLst>
              <a:ext uri="{FF2B5EF4-FFF2-40B4-BE49-F238E27FC236}">
                <a16:creationId xmlns:a16="http://schemas.microsoft.com/office/drawing/2014/main" id="{973B16AB-D3D8-9010-47E3-5C2279679950}"/>
              </a:ext>
            </a:extLst>
          </p:cNvPr>
          <p:cNvPicPr>
            <a:picLocks noChangeAspect="1"/>
          </p:cNvPicPr>
          <p:nvPr/>
        </p:nvPicPr>
        <p:blipFill>
          <a:blip r:embed="rId3"/>
          <a:stretch>
            <a:fillRect/>
          </a:stretch>
        </p:blipFill>
        <p:spPr>
          <a:xfrm>
            <a:off x="8116338" y="3157682"/>
            <a:ext cx="1895387" cy="722368"/>
          </a:xfrm>
          <a:prstGeom prst="rect">
            <a:avLst/>
          </a:prstGeom>
        </p:spPr>
      </p:pic>
      <p:sp>
        <p:nvSpPr>
          <p:cNvPr id="16" name="文本框 15">
            <a:extLst>
              <a:ext uri="{FF2B5EF4-FFF2-40B4-BE49-F238E27FC236}">
                <a16:creationId xmlns:a16="http://schemas.microsoft.com/office/drawing/2014/main" id="{80E85BB7-CE3F-A09F-F003-B9C8E9DFC74E}"/>
              </a:ext>
            </a:extLst>
          </p:cNvPr>
          <p:cNvSpPr txBox="1"/>
          <p:nvPr/>
        </p:nvSpPr>
        <p:spPr>
          <a:xfrm>
            <a:off x="6837974" y="3878022"/>
            <a:ext cx="4789325" cy="646331"/>
          </a:xfrm>
          <a:prstGeom prst="rect">
            <a:avLst/>
          </a:prstGeom>
          <a:noFill/>
        </p:spPr>
        <p:txBody>
          <a:bodyPr wrap="square" rtlCol="0">
            <a:spAutoFit/>
          </a:bodyPr>
          <a:lstStyle/>
          <a:p>
            <a:pPr>
              <a:buClr>
                <a:srgbClr val="C00000"/>
              </a:buClr>
            </a:pPr>
            <a:r>
              <a:rPr lang="zh-CN" altLang="en-US" sz="1200"/>
              <a:t>式中：</a:t>
            </a:r>
            <a:r>
              <a:rPr lang="en-US" altLang="zh-CN" sz="1200"/>
              <a:t>A</a:t>
            </a:r>
            <a:r>
              <a:rPr lang="zh-CN" altLang="en-US" sz="1200"/>
              <a:t>为碰撞指前因子；</a:t>
            </a:r>
            <a:r>
              <a:rPr lang="en-US" altLang="zh-CN" sz="1200"/>
              <a:t>P_ref</a:t>
            </a:r>
            <a:r>
              <a:rPr lang="zh-CN" altLang="en-US" sz="1200"/>
              <a:t>为标准参考压力（本模型取标准大气压 </a:t>
            </a:r>
            <a:r>
              <a:rPr lang="en-US" altLang="zh-CN" sz="1200"/>
              <a:t>101325Pa</a:t>
            </a:r>
            <a:r>
              <a:rPr lang="zh-CN" altLang="en-US" sz="1200"/>
              <a:t>）；</a:t>
            </a:r>
            <a:r>
              <a:rPr lang="en-US" altLang="zh-CN" sz="1200"/>
              <a:t>n</a:t>
            </a:r>
            <a:r>
              <a:rPr lang="zh-CN" altLang="en-US" sz="1200"/>
              <a:t>为压力特征指数；</a:t>
            </a:r>
            <a:r>
              <a:rPr lang="en-US" altLang="zh-CN" sz="1200"/>
              <a:t>B</a:t>
            </a:r>
            <a:r>
              <a:rPr lang="zh-CN" altLang="en-US" sz="1200"/>
              <a:t>为等效活化温度（其本质为全局表观活化能</a:t>
            </a:r>
            <a:r>
              <a:rPr lang="en-US" altLang="zh-CN" sz="1200"/>
              <a:t>E_a</a:t>
            </a:r>
            <a:r>
              <a:rPr lang="zh-CN" altLang="en-US" sz="1200"/>
              <a:t>与通用气体常数</a:t>
            </a:r>
            <a:r>
              <a:rPr lang="en-US" altLang="zh-CN" sz="1200"/>
              <a:t>R_u</a:t>
            </a:r>
            <a:r>
              <a:rPr lang="zh-CN" altLang="en-US" sz="1200"/>
              <a:t>的比值）。</a:t>
            </a:r>
          </a:p>
        </p:txBody>
      </p:sp>
      <p:sp>
        <p:nvSpPr>
          <p:cNvPr id="18" name="文本框 17">
            <a:extLst>
              <a:ext uri="{FF2B5EF4-FFF2-40B4-BE49-F238E27FC236}">
                <a16:creationId xmlns:a16="http://schemas.microsoft.com/office/drawing/2014/main" id="{4A72CF9D-5514-2245-C17E-40AE29DB9010}"/>
              </a:ext>
            </a:extLst>
          </p:cNvPr>
          <p:cNvSpPr txBox="1"/>
          <p:nvPr/>
        </p:nvSpPr>
        <p:spPr>
          <a:xfrm>
            <a:off x="6561859" y="4531184"/>
            <a:ext cx="5117106" cy="738664"/>
          </a:xfrm>
          <a:prstGeom prst="rect">
            <a:avLst/>
          </a:prstGeom>
          <a:noFill/>
        </p:spPr>
        <p:txBody>
          <a:bodyPr wrap="square" rtlCol="0">
            <a:spAutoFit/>
          </a:bodyPr>
          <a:lstStyle/>
          <a:p>
            <a:pPr marL="171450" indent="-171450">
              <a:buClr>
                <a:srgbClr val="C00000"/>
              </a:buClr>
              <a:buFont typeface="Wingdings" panose="05000000000000000000" pitchFamily="2" charset="2"/>
              <a:buChar char="Ø"/>
            </a:pPr>
            <a:r>
              <a:rPr lang="zh-CN" altLang="en-US" sz="1400"/>
              <a:t>在</a:t>
            </a:r>
            <a:r>
              <a:rPr lang="en-US" altLang="zh-CN" sz="1400"/>
              <a:t>T</a:t>
            </a:r>
            <a:r>
              <a:rPr lang="zh-CN" altLang="en-US" sz="1400"/>
              <a:t>、</a:t>
            </a:r>
            <a:r>
              <a:rPr lang="en-US" altLang="zh-CN" sz="1400"/>
              <a:t>P</a:t>
            </a:r>
            <a:r>
              <a:rPr lang="zh-CN" altLang="en-US" sz="1400"/>
              <a:t>、</a:t>
            </a:r>
            <a:r>
              <a:rPr lang="en-US" altLang="zh-CN" sz="1400"/>
              <a:t>λ</a:t>
            </a:r>
            <a:r>
              <a:rPr lang="zh-CN" altLang="en-US" sz="1400"/>
              <a:t>工况范围内，构建大量足够覆盖氢内燃机工作过程的工况的</a:t>
            </a:r>
            <a:r>
              <a:rPr lang="zh-CN" altLang="en-US" sz="1400" b="1">
                <a:solidFill>
                  <a:srgbClr val="C00000"/>
                </a:solidFill>
              </a:rPr>
              <a:t>搜寻网格</a:t>
            </a:r>
            <a:r>
              <a:rPr lang="zh-CN" altLang="en-US" sz="1400"/>
              <a:t>（</a:t>
            </a:r>
            <a:r>
              <a:rPr lang="en-US" altLang="zh-CN" sz="1400"/>
              <a:t>9672</a:t>
            </a:r>
            <a:r>
              <a:rPr lang="zh-CN" altLang="en-US" sz="1400"/>
              <a:t>个点）并结合插值方法实现动态求解</a:t>
            </a:r>
          </a:p>
        </p:txBody>
      </p:sp>
      <p:graphicFrame>
        <p:nvGraphicFramePr>
          <p:cNvPr id="19" name="表格 18">
            <a:extLst>
              <a:ext uri="{FF2B5EF4-FFF2-40B4-BE49-F238E27FC236}">
                <a16:creationId xmlns:a16="http://schemas.microsoft.com/office/drawing/2014/main" id="{B3FDF903-D2D9-2671-CEAA-FB44DD965752}"/>
              </a:ext>
            </a:extLst>
          </p:cNvPr>
          <p:cNvGraphicFramePr>
            <a:graphicFrameLocks noGrp="1"/>
          </p:cNvGraphicFramePr>
          <p:nvPr>
            <p:extLst>
              <p:ext uri="{D42A27DB-BD31-4B8C-83A1-F6EECF244321}">
                <p14:modId xmlns:p14="http://schemas.microsoft.com/office/powerpoint/2010/main" val="1827709982"/>
              </p:ext>
            </p:extLst>
          </p:nvPr>
        </p:nvGraphicFramePr>
        <p:xfrm>
          <a:off x="6652042" y="5473999"/>
          <a:ext cx="5117108" cy="647540"/>
        </p:xfrm>
        <a:graphic>
          <a:graphicData uri="http://schemas.openxmlformats.org/drawingml/2006/table">
            <a:tbl>
              <a:tblPr firstRow="1" bandRow="1">
                <a:tableStyleId>{5C22544A-7EE6-4342-B048-85BDC9FD1C3A}</a:tableStyleId>
              </a:tblPr>
              <a:tblGrid>
                <a:gridCol w="1033739">
                  <a:extLst>
                    <a:ext uri="{9D8B030D-6E8A-4147-A177-3AD203B41FA5}">
                      <a16:colId xmlns:a16="http://schemas.microsoft.com/office/drawing/2014/main" val="640194749"/>
                    </a:ext>
                  </a:extLst>
                </a:gridCol>
                <a:gridCol w="1203960">
                  <a:extLst>
                    <a:ext uri="{9D8B030D-6E8A-4147-A177-3AD203B41FA5}">
                      <a16:colId xmlns:a16="http://schemas.microsoft.com/office/drawing/2014/main" val="3609828063"/>
                    </a:ext>
                  </a:extLst>
                </a:gridCol>
                <a:gridCol w="1219200">
                  <a:extLst>
                    <a:ext uri="{9D8B030D-6E8A-4147-A177-3AD203B41FA5}">
                      <a16:colId xmlns:a16="http://schemas.microsoft.com/office/drawing/2014/main" val="1196423831"/>
                    </a:ext>
                  </a:extLst>
                </a:gridCol>
                <a:gridCol w="1660209">
                  <a:extLst>
                    <a:ext uri="{9D8B030D-6E8A-4147-A177-3AD203B41FA5}">
                      <a16:colId xmlns:a16="http://schemas.microsoft.com/office/drawing/2014/main" val="3278409950"/>
                    </a:ext>
                  </a:extLst>
                </a:gridCol>
              </a:tblGrid>
              <a:tr h="323770">
                <a:tc>
                  <a:txBody>
                    <a:bodyPr/>
                    <a:lstStyle/>
                    <a:p>
                      <a:pPr marL="0" algn="ctr" defTabSz="914400" rtl="0" eaLnBrk="1" latinLnBrk="0" hangingPunct="1"/>
                      <a:r>
                        <a:rPr lang="zh-CN" altLang="en-US" sz="1400" b="1" kern="1200">
                          <a:solidFill>
                            <a:srgbClr val="2F5597"/>
                          </a:solidFill>
                          <a:latin typeface="+mn-lt"/>
                          <a:ea typeface="+mn-ea"/>
                          <a:cs typeface="+mn-cs"/>
                        </a:rPr>
                        <a:t>工况参数</a:t>
                      </a:r>
                    </a:p>
                  </a:txBody>
                  <a:tcPr anchor="ctr">
                    <a:lnL w="12700" cmpd="sng">
                      <a:noFill/>
                    </a:lnL>
                    <a:lnR w="12700" cmpd="sng">
                      <a:noFill/>
                    </a:lnR>
                    <a:lnT w="12700" cap="flat" cmpd="sng" algn="ctr">
                      <a:solidFill>
                        <a:srgbClr val="2F5597"/>
                      </a:solidFill>
                      <a:prstDash val="solid"/>
                      <a:round/>
                      <a:headEnd type="none" w="med" len="med"/>
                      <a:tailEnd type="none" w="med" len="med"/>
                    </a:lnT>
                    <a:lnB w="12700" cap="flat" cmpd="sng" algn="ctr">
                      <a:solidFill>
                        <a:srgbClr val="2F559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zh-CN" altLang="en-US" sz="1400" b="1" kern="1200">
                          <a:solidFill>
                            <a:srgbClr val="2F5597"/>
                          </a:solidFill>
                          <a:latin typeface="+mn-lt"/>
                          <a:ea typeface="+mn-ea"/>
                          <a:cs typeface="+mn-cs"/>
                        </a:rPr>
                        <a:t>温度</a:t>
                      </a:r>
                      <a:r>
                        <a:rPr lang="en-US" altLang="zh-CN" sz="1400" b="1" kern="1200">
                          <a:solidFill>
                            <a:srgbClr val="2F5597"/>
                          </a:solidFill>
                          <a:latin typeface="+mn-lt"/>
                          <a:ea typeface="+mn-ea"/>
                          <a:cs typeface="+mn-cs"/>
                        </a:rPr>
                        <a:t>T(K)</a:t>
                      </a:r>
                      <a:endParaRPr lang="zh-CN" altLang="en-US" sz="1400" b="1" kern="1200">
                        <a:solidFill>
                          <a:srgbClr val="2F5597"/>
                        </a:solidFill>
                        <a:latin typeface="+mn-lt"/>
                        <a:ea typeface="+mn-ea"/>
                        <a:cs typeface="+mn-cs"/>
                      </a:endParaRPr>
                    </a:p>
                  </a:txBody>
                  <a:tcPr anchor="ctr">
                    <a:lnL w="12700" cmpd="sng">
                      <a:noFill/>
                    </a:lnL>
                    <a:lnR w="12700" cmpd="sng">
                      <a:noFill/>
                    </a:lnR>
                    <a:lnT w="12700" cap="flat" cmpd="sng" algn="ctr">
                      <a:solidFill>
                        <a:srgbClr val="2F5597"/>
                      </a:solidFill>
                      <a:prstDash val="solid"/>
                      <a:round/>
                      <a:headEnd type="none" w="med" len="med"/>
                      <a:tailEnd type="none" w="med" len="med"/>
                    </a:lnT>
                    <a:lnB w="12700" cap="flat" cmpd="sng" algn="ctr">
                      <a:solidFill>
                        <a:srgbClr val="2F559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zh-CN" altLang="en-US" sz="1400" b="1" kern="1200">
                          <a:solidFill>
                            <a:srgbClr val="2F5597"/>
                          </a:solidFill>
                          <a:latin typeface="+mn-lt"/>
                          <a:ea typeface="+mn-ea"/>
                          <a:cs typeface="+mn-cs"/>
                        </a:rPr>
                        <a:t>压力</a:t>
                      </a:r>
                      <a:r>
                        <a:rPr lang="en-US" altLang="zh-CN" sz="1400" b="1" kern="1200">
                          <a:solidFill>
                            <a:srgbClr val="2F5597"/>
                          </a:solidFill>
                          <a:latin typeface="+mn-lt"/>
                          <a:ea typeface="+mn-ea"/>
                          <a:cs typeface="+mn-cs"/>
                        </a:rPr>
                        <a:t>P(bar)</a:t>
                      </a:r>
                      <a:endParaRPr lang="zh-CN" altLang="en-US" sz="1400" b="1" kern="1200">
                        <a:solidFill>
                          <a:srgbClr val="2F5597"/>
                        </a:solidFill>
                        <a:latin typeface="+mn-lt"/>
                        <a:ea typeface="+mn-ea"/>
                        <a:cs typeface="+mn-cs"/>
                      </a:endParaRPr>
                    </a:p>
                  </a:txBody>
                  <a:tcPr anchor="ctr">
                    <a:lnL w="12700" cmpd="sng">
                      <a:noFill/>
                    </a:lnL>
                    <a:lnR w="12700" cmpd="sng">
                      <a:noFill/>
                    </a:lnR>
                    <a:lnT w="12700" cap="flat" cmpd="sng" algn="ctr">
                      <a:solidFill>
                        <a:srgbClr val="2F5597"/>
                      </a:solidFill>
                      <a:prstDash val="solid"/>
                      <a:round/>
                      <a:headEnd type="none" w="med" len="med"/>
                      <a:tailEnd type="none" w="med" len="med"/>
                    </a:lnT>
                    <a:lnB w="12700" cap="flat" cmpd="sng" algn="ctr">
                      <a:solidFill>
                        <a:srgbClr val="2F559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zh-CN" altLang="en-US" sz="1400" b="1" kern="1200">
                          <a:solidFill>
                            <a:srgbClr val="2F5597"/>
                          </a:solidFill>
                          <a:latin typeface="+mn-lt"/>
                          <a:ea typeface="+mn-ea"/>
                          <a:cs typeface="+mn-cs"/>
                        </a:rPr>
                        <a:t>过量空气系数</a:t>
                      </a:r>
                      <a:r>
                        <a:rPr lang="en-US" altLang="zh-CN" sz="1400" b="1" kern="1200">
                          <a:solidFill>
                            <a:srgbClr val="2F5597"/>
                          </a:solidFill>
                          <a:latin typeface="+mn-lt"/>
                          <a:ea typeface="+mn-ea"/>
                          <a:cs typeface="+mn-cs"/>
                        </a:rPr>
                        <a:t>λ</a:t>
                      </a:r>
                      <a:endParaRPr lang="zh-CN" altLang="en-US" sz="1400" b="1" kern="1200">
                        <a:solidFill>
                          <a:srgbClr val="2F5597"/>
                        </a:solidFill>
                        <a:latin typeface="+mn-lt"/>
                        <a:ea typeface="+mn-ea"/>
                        <a:cs typeface="+mn-cs"/>
                      </a:endParaRPr>
                    </a:p>
                  </a:txBody>
                  <a:tcPr anchor="ctr">
                    <a:lnL w="12700" cmpd="sng">
                      <a:noFill/>
                    </a:lnL>
                    <a:lnR w="12700" cmpd="sng">
                      <a:noFill/>
                    </a:lnR>
                    <a:lnT w="12700" cap="flat" cmpd="sng" algn="ctr">
                      <a:solidFill>
                        <a:srgbClr val="2F5597"/>
                      </a:solidFill>
                      <a:prstDash val="solid"/>
                      <a:round/>
                      <a:headEnd type="none" w="med" len="med"/>
                      <a:tailEnd type="none" w="med" len="med"/>
                    </a:lnT>
                    <a:lnB w="12700" cap="flat" cmpd="sng" algn="ctr">
                      <a:solidFill>
                        <a:srgbClr val="2F559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0943465"/>
                  </a:ext>
                </a:extLst>
              </a:tr>
              <a:tr h="323770">
                <a:tc>
                  <a:txBody>
                    <a:bodyPr/>
                    <a:lstStyle/>
                    <a:p>
                      <a:pPr marL="0" algn="ctr" defTabSz="914400" rtl="0" eaLnBrk="1" latinLnBrk="0" hangingPunct="1"/>
                      <a:r>
                        <a:rPr lang="zh-CN" altLang="en-US" sz="1400" b="1" kern="1200">
                          <a:solidFill>
                            <a:srgbClr val="2F5597"/>
                          </a:solidFill>
                          <a:latin typeface="+mn-lt"/>
                          <a:ea typeface="+mn-ea"/>
                          <a:cs typeface="+mn-cs"/>
                        </a:rPr>
                        <a:t>参数范围</a:t>
                      </a:r>
                    </a:p>
                  </a:txBody>
                  <a:tcPr anchor="ctr">
                    <a:lnL w="12700" cmpd="sng">
                      <a:noFill/>
                    </a:lnL>
                    <a:lnR w="12700" cmpd="sng">
                      <a:noFill/>
                    </a:lnR>
                    <a:lnT w="12700" cap="flat" cmpd="sng" algn="ctr">
                      <a:solidFill>
                        <a:srgbClr val="2F5597"/>
                      </a:solidFill>
                      <a:prstDash val="solid"/>
                      <a:round/>
                      <a:headEnd type="none" w="med" len="med"/>
                      <a:tailEnd type="none" w="med" len="med"/>
                    </a:lnT>
                    <a:lnB w="12700" cap="flat" cmpd="sng" algn="ctr">
                      <a:solidFill>
                        <a:srgbClr val="2F559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altLang="zh-CN" sz="1400" b="1" kern="1200">
                          <a:solidFill>
                            <a:srgbClr val="2F5597"/>
                          </a:solidFill>
                          <a:latin typeface="+mn-lt"/>
                          <a:ea typeface="+mn-ea"/>
                          <a:cs typeface="+mn-cs"/>
                        </a:rPr>
                        <a:t>200-3200</a:t>
                      </a:r>
                      <a:endParaRPr lang="zh-CN" altLang="en-US" sz="1400" b="1" kern="1200">
                        <a:solidFill>
                          <a:srgbClr val="2F5597"/>
                        </a:solidFill>
                        <a:latin typeface="+mn-lt"/>
                        <a:ea typeface="+mn-ea"/>
                        <a:cs typeface="+mn-cs"/>
                      </a:endParaRPr>
                    </a:p>
                  </a:txBody>
                  <a:tcPr anchor="ctr">
                    <a:lnL w="12700" cmpd="sng">
                      <a:noFill/>
                    </a:lnL>
                    <a:lnR w="12700" cmpd="sng">
                      <a:noFill/>
                    </a:lnR>
                    <a:lnT w="12700" cap="flat" cmpd="sng" algn="ctr">
                      <a:solidFill>
                        <a:srgbClr val="2F5597"/>
                      </a:solidFill>
                      <a:prstDash val="solid"/>
                      <a:round/>
                      <a:headEnd type="none" w="med" len="med"/>
                      <a:tailEnd type="none" w="med" len="med"/>
                    </a:lnT>
                    <a:lnB w="12700" cap="flat" cmpd="sng" algn="ctr">
                      <a:solidFill>
                        <a:srgbClr val="2F559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altLang="zh-CN" sz="1400" b="1" kern="1200">
                          <a:solidFill>
                            <a:srgbClr val="2F5597"/>
                          </a:solidFill>
                          <a:latin typeface="+mn-lt"/>
                          <a:ea typeface="+mn-ea"/>
                          <a:cs typeface="+mn-cs"/>
                        </a:rPr>
                        <a:t>1-120</a:t>
                      </a:r>
                      <a:endParaRPr lang="zh-CN" altLang="en-US" sz="1400" b="1" kern="1200">
                        <a:solidFill>
                          <a:srgbClr val="2F5597"/>
                        </a:solidFill>
                        <a:latin typeface="+mn-lt"/>
                        <a:ea typeface="+mn-ea"/>
                        <a:cs typeface="+mn-cs"/>
                      </a:endParaRPr>
                    </a:p>
                  </a:txBody>
                  <a:tcPr anchor="ctr">
                    <a:lnL w="12700" cmpd="sng">
                      <a:noFill/>
                    </a:lnL>
                    <a:lnR w="12700" cmpd="sng">
                      <a:noFill/>
                    </a:lnR>
                    <a:lnT w="12700" cap="flat" cmpd="sng" algn="ctr">
                      <a:solidFill>
                        <a:srgbClr val="2F5597"/>
                      </a:solidFill>
                      <a:prstDash val="solid"/>
                      <a:round/>
                      <a:headEnd type="none" w="med" len="med"/>
                      <a:tailEnd type="none" w="med" len="med"/>
                    </a:lnT>
                    <a:lnB w="12700" cap="flat" cmpd="sng" algn="ctr">
                      <a:solidFill>
                        <a:srgbClr val="2F559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altLang="zh-CN" sz="1400" b="1" kern="1200">
                          <a:solidFill>
                            <a:srgbClr val="2F5597"/>
                          </a:solidFill>
                          <a:latin typeface="+mn-lt"/>
                          <a:ea typeface="+mn-ea"/>
                          <a:cs typeface="+mn-cs"/>
                        </a:rPr>
                        <a:t>0.5-3.5</a:t>
                      </a:r>
                      <a:endParaRPr lang="zh-CN" altLang="en-US" sz="1400" b="1" kern="1200">
                        <a:solidFill>
                          <a:srgbClr val="2F5597"/>
                        </a:solidFill>
                        <a:latin typeface="+mn-lt"/>
                        <a:ea typeface="+mn-ea"/>
                        <a:cs typeface="+mn-cs"/>
                      </a:endParaRPr>
                    </a:p>
                  </a:txBody>
                  <a:tcPr anchor="ctr">
                    <a:lnL w="12700" cmpd="sng">
                      <a:noFill/>
                    </a:lnL>
                    <a:lnR w="12700" cmpd="sng">
                      <a:noFill/>
                    </a:lnR>
                    <a:lnT w="12700" cap="flat" cmpd="sng" algn="ctr">
                      <a:solidFill>
                        <a:srgbClr val="2F5597"/>
                      </a:solidFill>
                      <a:prstDash val="solid"/>
                      <a:round/>
                      <a:headEnd type="none" w="med" len="med"/>
                      <a:tailEnd type="none" w="med" len="med"/>
                    </a:lnT>
                    <a:lnB w="12700" cap="flat" cmpd="sng" algn="ctr">
                      <a:solidFill>
                        <a:srgbClr val="2F559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040251"/>
                  </a:ext>
                </a:extLst>
              </a:tr>
            </a:tbl>
          </a:graphicData>
        </a:graphic>
      </p:graphicFrame>
      <p:sp>
        <p:nvSpPr>
          <p:cNvPr id="30" name="文本框 29">
            <a:extLst>
              <a:ext uri="{FF2B5EF4-FFF2-40B4-BE49-F238E27FC236}">
                <a16:creationId xmlns:a16="http://schemas.microsoft.com/office/drawing/2014/main" id="{D187B964-2D46-AE0A-2458-C9C7553C8AFE}"/>
              </a:ext>
            </a:extLst>
          </p:cNvPr>
          <p:cNvSpPr txBox="1"/>
          <p:nvPr/>
        </p:nvSpPr>
        <p:spPr>
          <a:xfrm>
            <a:off x="7095835" y="5230613"/>
            <a:ext cx="4229521" cy="276999"/>
          </a:xfrm>
          <a:prstGeom prst="rect">
            <a:avLst/>
          </a:prstGeom>
          <a:noFill/>
        </p:spPr>
        <p:txBody>
          <a:bodyPr wrap="square">
            <a:spAutoFit/>
          </a:bodyPr>
          <a:lstStyle/>
          <a:p>
            <a:pPr algn="ctr"/>
            <a:r>
              <a:rPr lang="zh-CN" altLang="en-US" sz="1200">
                <a:solidFill>
                  <a:srgbClr val="2F5597"/>
                </a:solidFill>
              </a:rPr>
              <a:t>表</a:t>
            </a:r>
            <a:r>
              <a:rPr lang="en-US" altLang="zh-CN" sz="1200">
                <a:solidFill>
                  <a:srgbClr val="2F5597"/>
                </a:solidFill>
              </a:rPr>
              <a:t>3-1 </a:t>
            </a:r>
            <a:r>
              <a:rPr lang="zh-CN" altLang="en-US" sz="1200">
                <a:solidFill>
                  <a:srgbClr val="2F5597"/>
                </a:solidFill>
              </a:rPr>
              <a:t>阿伦尼乌斯系数查找表覆盖工况</a:t>
            </a:r>
          </a:p>
        </p:txBody>
      </p:sp>
      <p:cxnSp>
        <p:nvCxnSpPr>
          <p:cNvPr id="36" name="直接连接符 35">
            <a:extLst>
              <a:ext uri="{FF2B5EF4-FFF2-40B4-BE49-F238E27FC236}">
                <a16:creationId xmlns:a16="http://schemas.microsoft.com/office/drawing/2014/main" id="{A57F32E6-F0BD-B96E-A8BB-80D7B33006AE}"/>
              </a:ext>
            </a:extLst>
          </p:cNvPr>
          <p:cNvCxnSpPr>
            <a:cxnSpLocks/>
          </p:cNvCxnSpPr>
          <p:nvPr/>
        </p:nvCxnSpPr>
        <p:spPr>
          <a:xfrm flipH="1">
            <a:off x="6159090" y="2582126"/>
            <a:ext cx="1596" cy="3757071"/>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矩形: 圆角 37">
            <a:extLst>
              <a:ext uri="{FF2B5EF4-FFF2-40B4-BE49-F238E27FC236}">
                <a16:creationId xmlns:a16="http://schemas.microsoft.com/office/drawing/2014/main" id="{DF65CA98-E639-4D52-0B52-A74FD97BAD10}"/>
              </a:ext>
            </a:extLst>
          </p:cNvPr>
          <p:cNvSpPr/>
          <p:nvPr/>
        </p:nvSpPr>
        <p:spPr>
          <a:xfrm>
            <a:off x="8116338" y="3226888"/>
            <a:ext cx="1975908" cy="607518"/>
          </a:xfrm>
          <a:prstGeom prst="roundRect">
            <a:avLst/>
          </a:prstGeom>
          <a:noFill/>
          <a:ln>
            <a:solidFill>
              <a:srgbClr val="5476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a:extLst>
              <a:ext uri="{FF2B5EF4-FFF2-40B4-BE49-F238E27FC236}">
                <a16:creationId xmlns:a16="http://schemas.microsoft.com/office/drawing/2014/main" id="{34318023-FA9C-FD29-82F9-0AB75C2C5B46}"/>
              </a:ext>
            </a:extLst>
          </p:cNvPr>
          <p:cNvGrpSpPr/>
          <p:nvPr/>
        </p:nvGrpSpPr>
        <p:grpSpPr>
          <a:xfrm>
            <a:off x="1643304" y="5166197"/>
            <a:ext cx="2624048" cy="738664"/>
            <a:chOff x="1514340" y="4858303"/>
            <a:chExt cx="2624048" cy="738664"/>
          </a:xfrm>
        </p:grpSpPr>
        <p:pic>
          <p:nvPicPr>
            <p:cNvPr id="40" name="图片 39">
              <a:extLst>
                <a:ext uri="{FF2B5EF4-FFF2-40B4-BE49-F238E27FC236}">
                  <a16:creationId xmlns:a16="http://schemas.microsoft.com/office/drawing/2014/main" id="{CA9DDC04-D127-BBA7-493E-47D2165349CA}"/>
                </a:ext>
              </a:extLst>
            </p:cNvPr>
            <p:cNvPicPr>
              <a:picLocks noChangeAspect="1"/>
            </p:cNvPicPr>
            <p:nvPr/>
          </p:nvPicPr>
          <p:blipFill>
            <a:blip r:embed="rId4"/>
            <a:stretch>
              <a:fillRect/>
            </a:stretch>
          </p:blipFill>
          <p:spPr>
            <a:xfrm>
              <a:off x="1514340" y="4896534"/>
              <a:ext cx="2594879" cy="652750"/>
            </a:xfrm>
            <a:prstGeom prst="rect">
              <a:avLst/>
            </a:prstGeom>
          </p:spPr>
        </p:pic>
        <p:sp>
          <p:nvSpPr>
            <p:cNvPr id="41" name="矩形: 圆角 40">
              <a:extLst>
                <a:ext uri="{FF2B5EF4-FFF2-40B4-BE49-F238E27FC236}">
                  <a16:creationId xmlns:a16="http://schemas.microsoft.com/office/drawing/2014/main" id="{EA05F43D-EA63-5A4B-80C1-EF8021E92249}"/>
                </a:ext>
              </a:extLst>
            </p:cNvPr>
            <p:cNvSpPr/>
            <p:nvPr/>
          </p:nvSpPr>
          <p:spPr>
            <a:xfrm>
              <a:off x="1514340" y="4858303"/>
              <a:ext cx="2624048" cy="738664"/>
            </a:xfrm>
            <a:prstGeom prst="roundRect">
              <a:avLst/>
            </a:prstGeom>
            <a:noFill/>
            <a:ln>
              <a:solidFill>
                <a:srgbClr val="5476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a:extLst>
              <a:ext uri="{FF2B5EF4-FFF2-40B4-BE49-F238E27FC236}">
                <a16:creationId xmlns:a16="http://schemas.microsoft.com/office/drawing/2014/main" id="{685DF6A9-EB4B-9F16-21D3-6515853DF129}"/>
              </a:ext>
            </a:extLst>
          </p:cNvPr>
          <p:cNvSpPr txBox="1"/>
          <p:nvPr/>
        </p:nvSpPr>
        <p:spPr>
          <a:xfrm>
            <a:off x="401933" y="1616370"/>
            <a:ext cx="5320687" cy="307777"/>
          </a:xfrm>
          <a:prstGeom prst="rect">
            <a:avLst/>
          </a:prstGeom>
          <a:noFill/>
        </p:spPr>
        <p:txBody>
          <a:bodyPr wrap="none" rtlCol="0">
            <a:spAutoFit/>
          </a:bodyPr>
          <a:lstStyle/>
          <a:p>
            <a:pPr marL="285750" indent="-285750">
              <a:buFont typeface="Wingdings" panose="05000000000000000000" pitchFamily="2" charset="2"/>
              <a:buChar char="u"/>
            </a:pPr>
            <a:r>
              <a:rPr lang="zh-CN" altLang="en-US" sz="1400" b="1">
                <a:solidFill>
                  <a:srgbClr val="C00000"/>
                </a:solidFill>
              </a:rPr>
              <a:t>唯象模型</a:t>
            </a:r>
            <a:r>
              <a:rPr lang="zh-CN" altLang="en-US" sz="1400"/>
              <a:t>即根据可观测的现象通过半经验公式描述其行为特征</a:t>
            </a:r>
          </a:p>
        </p:txBody>
      </p:sp>
      <p:sp>
        <p:nvSpPr>
          <p:cNvPr id="20" name="矩形: 圆角 19">
            <a:extLst>
              <a:ext uri="{FF2B5EF4-FFF2-40B4-BE49-F238E27FC236}">
                <a16:creationId xmlns:a16="http://schemas.microsoft.com/office/drawing/2014/main" id="{42D7B9A6-A5CB-5E78-75BB-47FFD7FC9E5E}"/>
              </a:ext>
            </a:extLst>
          </p:cNvPr>
          <p:cNvSpPr/>
          <p:nvPr/>
        </p:nvSpPr>
        <p:spPr>
          <a:xfrm>
            <a:off x="419100" y="1577999"/>
            <a:ext cx="5303520" cy="325308"/>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40742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C6626-6427-20C4-3D60-B484AB29E77F}"/>
            </a:ext>
          </a:extLst>
        </p:cNvPr>
        <p:cNvGrpSpPr/>
        <p:nvPr/>
      </p:nvGrpSpPr>
      <p:grpSpPr>
        <a:xfrm>
          <a:off x="0" y="0"/>
          <a:ext cx="0" cy="0"/>
          <a:chOff x="0" y="0"/>
          <a:chExt cx="0" cy="0"/>
        </a:xfrm>
      </p:grpSpPr>
      <p:sp>
        <p:nvSpPr>
          <p:cNvPr id="50" name="矩形 49">
            <a:extLst>
              <a:ext uri="{FF2B5EF4-FFF2-40B4-BE49-F238E27FC236}">
                <a16:creationId xmlns:a16="http://schemas.microsoft.com/office/drawing/2014/main" id="{D346FC92-D405-4F6C-09AC-61734E0FB1E4}"/>
              </a:ext>
            </a:extLst>
          </p:cNvPr>
          <p:cNvSpPr/>
          <p:nvPr/>
        </p:nvSpPr>
        <p:spPr>
          <a:xfrm>
            <a:off x="8988421" y="4345491"/>
            <a:ext cx="3125202" cy="1634449"/>
          </a:xfrm>
          <a:prstGeom prst="rect">
            <a:avLst/>
          </a:prstGeom>
          <a:solidFill>
            <a:schemeClr val="bg1"/>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4BDA4E92-E6E0-C6A0-53F4-F928518014BD}"/>
              </a:ext>
            </a:extLst>
          </p:cNvPr>
          <p:cNvSpPr>
            <a:spLocks noGrp="1"/>
          </p:cNvSpPr>
          <p:nvPr>
            <p:ph type="title"/>
          </p:nvPr>
        </p:nvSpPr>
        <p:spPr/>
        <p:txBody>
          <a:bodyPr/>
          <a:lstStyle/>
          <a:p>
            <a:r>
              <a:rPr lang="zh-CN" altLang="en-US"/>
              <a:t>第三章：氢内燃机爆震唯象模型的构建</a:t>
            </a:r>
            <a:endParaRPr lang="zh-CN" altLang="en-US" dirty="0"/>
          </a:p>
        </p:txBody>
      </p:sp>
      <p:sp>
        <p:nvSpPr>
          <p:cNvPr id="2" name="矩形 1">
            <a:extLst>
              <a:ext uri="{FF2B5EF4-FFF2-40B4-BE49-F238E27FC236}">
                <a16:creationId xmlns:a16="http://schemas.microsoft.com/office/drawing/2014/main" id="{F65775F9-3F80-2B64-2EB6-F12F71BB576A}"/>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第二节：爆震发生准则与未燃气体质量分数的物理表征</a:t>
            </a:r>
            <a:endParaRPr lang="zh-CN" altLang="zh-CN" sz="2400" b="1" dirty="0">
              <a:solidFill>
                <a:srgbClr val="004A98"/>
              </a:solidFill>
              <a:latin typeface="Times New Roman" panose="02020603050405020304" pitchFamily="18" charset="0"/>
              <a:ea typeface="微软雅黑" panose="020B0503020204020204" pitchFamily="34" charset="-122"/>
              <a:cs typeface="+mn-ea"/>
            </a:endParaRPr>
          </a:p>
        </p:txBody>
      </p:sp>
      <p:grpSp>
        <p:nvGrpSpPr>
          <p:cNvPr id="8" name="组合 7">
            <a:extLst>
              <a:ext uri="{FF2B5EF4-FFF2-40B4-BE49-F238E27FC236}">
                <a16:creationId xmlns:a16="http://schemas.microsoft.com/office/drawing/2014/main" id="{8F706DA9-3876-6BE9-7F9A-5F978885C318}"/>
              </a:ext>
            </a:extLst>
          </p:cNvPr>
          <p:cNvGrpSpPr/>
          <p:nvPr/>
        </p:nvGrpSpPr>
        <p:grpSpPr>
          <a:xfrm>
            <a:off x="579081" y="2623164"/>
            <a:ext cx="4731310" cy="2620339"/>
            <a:chOff x="316271" y="2396254"/>
            <a:chExt cx="4731310" cy="2620339"/>
          </a:xfrm>
        </p:grpSpPr>
        <p:grpSp>
          <p:nvGrpSpPr>
            <p:cNvPr id="12" name="组合 11">
              <a:extLst>
                <a:ext uri="{FF2B5EF4-FFF2-40B4-BE49-F238E27FC236}">
                  <a16:creationId xmlns:a16="http://schemas.microsoft.com/office/drawing/2014/main" id="{C0E86142-5D44-0CD8-9A9C-68DECF8598D0}"/>
                </a:ext>
              </a:extLst>
            </p:cNvPr>
            <p:cNvGrpSpPr/>
            <p:nvPr/>
          </p:nvGrpSpPr>
          <p:grpSpPr>
            <a:xfrm>
              <a:off x="316271" y="2396254"/>
              <a:ext cx="2870008" cy="2376400"/>
              <a:chOff x="683515" y="3421369"/>
              <a:chExt cx="2870008" cy="2376400"/>
            </a:xfrm>
          </p:grpSpPr>
          <p:pic>
            <p:nvPicPr>
              <p:cNvPr id="9" name="图片 8">
                <a:extLst>
                  <a:ext uri="{FF2B5EF4-FFF2-40B4-BE49-F238E27FC236}">
                    <a16:creationId xmlns:a16="http://schemas.microsoft.com/office/drawing/2014/main" id="{A18F4132-0AD2-DD3B-563A-F59A7CE5FCD1}"/>
                  </a:ext>
                </a:extLst>
              </p:cNvPr>
              <p:cNvPicPr>
                <a:picLocks noChangeAspect="1"/>
              </p:cNvPicPr>
              <p:nvPr/>
            </p:nvPicPr>
            <p:blipFill>
              <a:blip r:embed="rId3"/>
              <a:stretch>
                <a:fillRect/>
              </a:stretch>
            </p:blipFill>
            <p:spPr>
              <a:xfrm>
                <a:off x="683515" y="3421369"/>
                <a:ext cx="2870008" cy="2376400"/>
              </a:xfrm>
              <a:prstGeom prst="rect">
                <a:avLst/>
              </a:prstGeom>
            </p:spPr>
          </p:pic>
          <p:sp>
            <p:nvSpPr>
              <p:cNvPr id="10" name="文本框 9">
                <a:extLst>
                  <a:ext uri="{FF2B5EF4-FFF2-40B4-BE49-F238E27FC236}">
                    <a16:creationId xmlns:a16="http://schemas.microsoft.com/office/drawing/2014/main" id="{B9A14148-2AB3-B6ED-A4C7-FA61D8B67D02}"/>
                  </a:ext>
                </a:extLst>
              </p:cNvPr>
              <p:cNvSpPr txBox="1"/>
              <p:nvPr/>
            </p:nvSpPr>
            <p:spPr>
              <a:xfrm>
                <a:off x="1863562" y="4973444"/>
                <a:ext cx="569387" cy="246221"/>
              </a:xfrm>
              <a:prstGeom prst="rect">
                <a:avLst/>
              </a:prstGeom>
              <a:noFill/>
            </p:spPr>
            <p:txBody>
              <a:bodyPr wrap="none" rtlCol="0">
                <a:spAutoFit/>
              </a:bodyPr>
              <a:lstStyle/>
              <a:p>
                <a:r>
                  <a:rPr lang="zh-CN" altLang="en-US" sz="1000"/>
                  <a:t>未燃区</a:t>
                </a:r>
              </a:p>
            </p:txBody>
          </p:sp>
          <p:sp>
            <p:nvSpPr>
              <p:cNvPr id="11" name="椭圆 10">
                <a:extLst>
                  <a:ext uri="{FF2B5EF4-FFF2-40B4-BE49-F238E27FC236}">
                    <a16:creationId xmlns:a16="http://schemas.microsoft.com/office/drawing/2014/main" id="{F4184364-708B-11AC-3C7C-B674378DCC30}"/>
                  </a:ext>
                </a:extLst>
              </p:cNvPr>
              <p:cNvSpPr/>
              <p:nvPr/>
            </p:nvSpPr>
            <p:spPr>
              <a:xfrm>
                <a:off x="3211551" y="4609569"/>
                <a:ext cx="237894" cy="20072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7E6DE00E-CBD5-B663-6425-24B134650D29}"/>
                </a:ext>
              </a:extLst>
            </p:cNvPr>
            <p:cNvGrpSpPr/>
            <p:nvPr/>
          </p:nvGrpSpPr>
          <p:grpSpPr>
            <a:xfrm>
              <a:off x="3183647" y="2726364"/>
              <a:ext cx="1863934" cy="1708246"/>
              <a:chOff x="221393" y="3658805"/>
              <a:chExt cx="1863934" cy="1708246"/>
            </a:xfrm>
          </p:grpSpPr>
          <p:grpSp>
            <p:nvGrpSpPr>
              <p:cNvPr id="14" name="组合 13">
                <a:extLst>
                  <a:ext uri="{FF2B5EF4-FFF2-40B4-BE49-F238E27FC236}">
                    <a16:creationId xmlns:a16="http://schemas.microsoft.com/office/drawing/2014/main" id="{91C92416-0E74-B947-B210-B169E5EEC460}"/>
                  </a:ext>
                </a:extLst>
              </p:cNvPr>
              <p:cNvGrpSpPr/>
              <p:nvPr/>
            </p:nvGrpSpPr>
            <p:grpSpPr>
              <a:xfrm>
                <a:off x="221393" y="4020735"/>
                <a:ext cx="1863934" cy="1346316"/>
                <a:chOff x="764878" y="4261821"/>
                <a:chExt cx="1863934" cy="1346316"/>
              </a:xfrm>
            </p:grpSpPr>
            <p:sp>
              <p:nvSpPr>
                <p:cNvPr id="19" name="矩形 18">
                  <a:extLst>
                    <a:ext uri="{FF2B5EF4-FFF2-40B4-BE49-F238E27FC236}">
                      <a16:creationId xmlns:a16="http://schemas.microsoft.com/office/drawing/2014/main" id="{555D2F5A-C807-848E-8538-746353E00C14}"/>
                    </a:ext>
                  </a:extLst>
                </p:cNvPr>
                <p:cNvSpPr/>
                <p:nvPr/>
              </p:nvSpPr>
              <p:spPr>
                <a:xfrm>
                  <a:off x="2085416" y="4261822"/>
                  <a:ext cx="418649" cy="106356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气缸壁</a:t>
                  </a:r>
                </a:p>
              </p:txBody>
            </p:sp>
            <p:sp>
              <p:nvSpPr>
                <p:cNvPr id="20" name="矩形 19">
                  <a:extLst>
                    <a:ext uri="{FF2B5EF4-FFF2-40B4-BE49-F238E27FC236}">
                      <a16:creationId xmlns:a16="http://schemas.microsoft.com/office/drawing/2014/main" id="{C47B6917-7EFB-97B0-3E9C-DB767627D601}"/>
                    </a:ext>
                  </a:extLst>
                </p:cNvPr>
                <p:cNvSpPr/>
                <p:nvPr/>
              </p:nvSpPr>
              <p:spPr>
                <a:xfrm>
                  <a:off x="1411435" y="4261821"/>
                  <a:ext cx="673981" cy="1063563"/>
                </a:xfrm>
                <a:prstGeom prst="rect">
                  <a:avLst/>
                </a:prstGeom>
                <a:solidFill>
                  <a:srgbClr val="FD67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热边界层</a:t>
                  </a:r>
                  <a:r>
                    <a:rPr lang="zh-CN" altLang="en-US" sz="1400" dirty="0"/>
                    <a:t>燃料气体</a:t>
                  </a:r>
                </a:p>
              </p:txBody>
            </p:sp>
            <p:sp>
              <p:nvSpPr>
                <p:cNvPr id="21" name="箭头: 右 20">
                  <a:extLst>
                    <a:ext uri="{FF2B5EF4-FFF2-40B4-BE49-F238E27FC236}">
                      <a16:creationId xmlns:a16="http://schemas.microsoft.com/office/drawing/2014/main" id="{A102BEE4-FFE2-D89B-45C2-A471065D95AF}"/>
                    </a:ext>
                  </a:extLst>
                </p:cNvPr>
                <p:cNvSpPr/>
                <p:nvPr/>
              </p:nvSpPr>
              <p:spPr>
                <a:xfrm>
                  <a:off x="1967090" y="4661636"/>
                  <a:ext cx="247973" cy="238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0050D6A-53D5-6801-0ABC-034D267D0132}"/>
                    </a:ext>
                  </a:extLst>
                </p:cNvPr>
                <p:cNvSpPr/>
                <p:nvPr/>
              </p:nvSpPr>
              <p:spPr>
                <a:xfrm>
                  <a:off x="764878" y="4261821"/>
                  <a:ext cx="673981" cy="1063563"/>
                </a:xfrm>
                <a:prstGeom prst="rect">
                  <a:avLst/>
                </a:prstGeom>
                <a:solidFill>
                  <a:srgbClr val="D20B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未燃区燃料</a:t>
                  </a:r>
                  <a:r>
                    <a:rPr lang="zh-CN" altLang="en-US" sz="1400" dirty="0"/>
                    <a:t>气体</a:t>
                  </a:r>
                </a:p>
              </p:txBody>
            </p:sp>
            <p:sp>
              <p:nvSpPr>
                <p:cNvPr id="23" name="箭头: 右 22">
                  <a:extLst>
                    <a:ext uri="{FF2B5EF4-FFF2-40B4-BE49-F238E27FC236}">
                      <a16:creationId xmlns:a16="http://schemas.microsoft.com/office/drawing/2014/main" id="{5B4109E5-0772-3EF6-4D7C-1B7037959412}"/>
                    </a:ext>
                  </a:extLst>
                </p:cNvPr>
                <p:cNvSpPr/>
                <p:nvPr/>
              </p:nvSpPr>
              <p:spPr>
                <a:xfrm>
                  <a:off x="1320533" y="4674194"/>
                  <a:ext cx="247973" cy="238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24AA3FDC-9AB8-2ECA-F070-408BCC799FC9}"/>
                    </a:ext>
                  </a:extLst>
                </p:cNvPr>
                <p:cNvSpPr txBox="1"/>
                <p:nvPr/>
              </p:nvSpPr>
              <p:spPr>
                <a:xfrm>
                  <a:off x="856309" y="5300360"/>
                  <a:ext cx="553357" cy="307777"/>
                </a:xfrm>
                <a:prstGeom prst="rect">
                  <a:avLst/>
                </a:prstGeom>
                <a:noFill/>
              </p:spPr>
              <p:txBody>
                <a:bodyPr wrap="none" rtlCol="0">
                  <a:spAutoFit/>
                </a:bodyPr>
                <a:lstStyle/>
                <a:p>
                  <a:r>
                    <a:rPr lang="en-US" altLang="zh-CN" sz="1400"/>
                    <a:t>T_ub</a:t>
                  </a:r>
                  <a:endParaRPr lang="zh-CN" altLang="en-US" sz="1400" dirty="0"/>
                </a:p>
              </p:txBody>
            </p:sp>
            <p:sp>
              <p:nvSpPr>
                <p:cNvPr id="25" name="文本框 24">
                  <a:extLst>
                    <a:ext uri="{FF2B5EF4-FFF2-40B4-BE49-F238E27FC236}">
                      <a16:creationId xmlns:a16="http://schemas.microsoft.com/office/drawing/2014/main" id="{BB9B5AA2-26C5-B047-788E-02226CBBAFFB}"/>
                    </a:ext>
                  </a:extLst>
                </p:cNvPr>
                <p:cNvSpPr txBox="1"/>
                <p:nvPr/>
              </p:nvSpPr>
              <p:spPr>
                <a:xfrm>
                  <a:off x="1982481" y="5300265"/>
                  <a:ext cx="646331" cy="307777"/>
                </a:xfrm>
                <a:prstGeom prst="rect">
                  <a:avLst/>
                </a:prstGeom>
                <a:noFill/>
              </p:spPr>
              <p:txBody>
                <a:bodyPr wrap="none" rtlCol="0">
                  <a:spAutoFit/>
                </a:bodyPr>
                <a:lstStyle/>
                <a:p>
                  <a:r>
                    <a:rPr lang="en-US" altLang="zh-CN" sz="1400"/>
                    <a:t>T_wall</a:t>
                  </a:r>
                  <a:endParaRPr lang="zh-CN" altLang="en-US" sz="1400" dirty="0"/>
                </a:p>
              </p:txBody>
            </p:sp>
            <p:sp>
              <p:nvSpPr>
                <p:cNvPr id="26" name="文本框 25">
                  <a:extLst>
                    <a:ext uri="{FF2B5EF4-FFF2-40B4-BE49-F238E27FC236}">
                      <a16:creationId xmlns:a16="http://schemas.microsoft.com/office/drawing/2014/main" id="{B5B64BD6-9070-8266-571C-F670D32FBD23}"/>
                    </a:ext>
                  </a:extLst>
                </p:cNvPr>
                <p:cNvSpPr txBox="1"/>
                <p:nvPr/>
              </p:nvSpPr>
              <p:spPr>
                <a:xfrm>
                  <a:off x="1529457" y="5300265"/>
                  <a:ext cx="494046" cy="307777"/>
                </a:xfrm>
                <a:prstGeom prst="rect">
                  <a:avLst/>
                </a:prstGeom>
                <a:noFill/>
              </p:spPr>
              <p:txBody>
                <a:bodyPr wrap="none" rtlCol="0">
                  <a:spAutoFit/>
                </a:bodyPr>
                <a:lstStyle/>
                <a:p>
                  <a:r>
                    <a:rPr lang="en-US" altLang="zh-CN" sz="1400"/>
                    <a:t>T_bl</a:t>
                  </a:r>
                  <a:endParaRPr lang="zh-CN" altLang="en-US" sz="1400" dirty="0"/>
                </a:p>
              </p:txBody>
            </p:sp>
          </p:grpSp>
          <p:cxnSp>
            <p:nvCxnSpPr>
              <p:cNvPr id="15" name="直接箭头连接符 14">
                <a:extLst>
                  <a:ext uri="{FF2B5EF4-FFF2-40B4-BE49-F238E27FC236}">
                    <a16:creationId xmlns:a16="http://schemas.microsoft.com/office/drawing/2014/main" id="{3C52C897-EF3E-B978-9A68-A9D8F9E9FDA2}"/>
                  </a:ext>
                </a:extLst>
              </p:cNvPr>
              <p:cNvCxnSpPr>
                <a:cxnSpLocks/>
              </p:cNvCxnSpPr>
              <p:nvPr/>
            </p:nvCxnSpPr>
            <p:spPr>
              <a:xfrm>
                <a:off x="879842" y="3928402"/>
                <a:ext cx="64678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90DF42F-9410-AF6D-AC5A-7131EEB68E8E}"/>
                  </a:ext>
                </a:extLst>
              </p:cNvPr>
              <p:cNvCxnSpPr>
                <a:cxnSpLocks/>
              </p:cNvCxnSpPr>
              <p:nvPr/>
            </p:nvCxnSpPr>
            <p:spPr>
              <a:xfrm flipV="1">
                <a:off x="889199" y="3813152"/>
                <a:ext cx="0" cy="2347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39FA0F6-908E-A651-267B-344D90BE92F8}"/>
                  </a:ext>
                </a:extLst>
              </p:cNvPr>
              <p:cNvCxnSpPr>
                <a:cxnSpLocks/>
              </p:cNvCxnSpPr>
              <p:nvPr/>
            </p:nvCxnSpPr>
            <p:spPr>
              <a:xfrm flipV="1">
                <a:off x="1530044" y="3813152"/>
                <a:ext cx="0" cy="234729"/>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840F57D-CD2F-2E7F-7D4A-3078B8BB96B0}"/>
                  </a:ext>
                </a:extLst>
              </p:cNvPr>
              <p:cNvSpPr txBox="1"/>
              <p:nvPr/>
            </p:nvSpPr>
            <p:spPr>
              <a:xfrm>
                <a:off x="951635" y="3658805"/>
                <a:ext cx="481222" cy="307777"/>
              </a:xfrm>
              <a:prstGeom prst="rect">
                <a:avLst/>
              </a:prstGeom>
              <a:noFill/>
            </p:spPr>
            <p:txBody>
              <a:bodyPr wrap="none" rtlCol="0">
                <a:spAutoFit/>
              </a:bodyPr>
              <a:lstStyle/>
              <a:p>
                <a:r>
                  <a:rPr lang="el-GR" altLang="zh-CN" sz="1400">
                    <a:latin typeface="MS PGothic" panose="020B0600070205080204" pitchFamily="34" charset="-128"/>
                    <a:ea typeface="MS PGothic" panose="020B0600070205080204" pitchFamily="34" charset="-128"/>
                  </a:rPr>
                  <a:t>δ</a:t>
                </a:r>
                <a:r>
                  <a:rPr lang="en-US" altLang="zh-CN" sz="1400">
                    <a:latin typeface="MS PGothic" panose="020B0600070205080204" pitchFamily="34" charset="-128"/>
                    <a:ea typeface="MS PGothic" panose="020B0600070205080204" pitchFamily="34" charset="-128"/>
                  </a:rPr>
                  <a:t>_t</a:t>
                </a:r>
                <a:endParaRPr lang="zh-CN" altLang="en-US" sz="1400" dirty="0"/>
              </a:p>
            </p:txBody>
          </p:sp>
        </p:grpSp>
        <p:sp>
          <p:nvSpPr>
            <p:cNvPr id="4" name="文本框 3">
              <a:extLst>
                <a:ext uri="{FF2B5EF4-FFF2-40B4-BE49-F238E27FC236}">
                  <a16:creationId xmlns:a16="http://schemas.microsoft.com/office/drawing/2014/main" id="{2CEFDDF4-BD17-4103-FD1B-DADDEB8719E8}"/>
                </a:ext>
              </a:extLst>
            </p:cNvPr>
            <p:cNvSpPr txBox="1"/>
            <p:nvPr/>
          </p:nvSpPr>
          <p:spPr>
            <a:xfrm>
              <a:off x="1222115" y="4739594"/>
              <a:ext cx="3041220" cy="276999"/>
            </a:xfrm>
            <a:prstGeom prst="rect">
              <a:avLst/>
            </a:prstGeom>
            <a:noFill/>
          </p:spPr>
          <p:txBody>
            <a:bodyPr wrap="square">
              <a:spAutoFit/>
            </a:bodyPr>
            <a:lstStyle/>
            <a:p>
              <a:pPr algn="ctr"/>
              <a:r>
                <a:rPr lang="zh-CN" altLang="en-US" sz="1200"/>
                <a:t>图</a:t>
              </a:r>
              <a:r>
                <a:rPr lang="en-US" altLang="zh-CN" sz="1200"/>
                <a:t>3-1</a:t>
              </a:r>
              <a:r>
                <a:rPr lang="zh-CN" altLang="en-US" sz="1200"/>
                <a:t>热边界层散热示意图</a:t>
              </a:r>
            </a:p>
          </p:txBody>
        </p:sp>
      </p:grpSp>
      <p:sp>
        <p:nvSpPr>
          <p:cNvPr id="27" name="文本框 26">
            <a:extLst>
              <a:ext uri="{FF2B5EF4-FFF2-40B4-BE49-F238E27FC236}">
                <a16:creationId xmlns:a16="http://schemas.microsoft.com/office/drawing/2014/main" id="{3ACED2A8-9622-2740-5566-2401C795B91B}"/>
              </a:ext>
            </a:extLst>
          </p:cNvPr>
          <p:cNvSpPr txBox="1"/>
          <p:nvPr/>
        </p:nvSpPr>
        <p:spPr>
          <a:xfrm>
            <a:off x="792470" y="1622216"/>
            <a:ext cx="4290060" cy="338554"/>
          </a:xfrm>
          <a:prstGeom prst="rect">
            <a:avLst/>
          </a:prstGeom>
          <a:noFill/>
        </p:spPr>
        <p:txBody>
          <a:bodyPr wrap="square" rtlCol="0">
            <a:spAutoFit/>
          </a:bodyPr>
          <a:lstStyle/>
          <a:p>
            <a:pPr algn="ctr"/>
            <a:r>
              <a:rPr lang="zh-CN" altLang="en-US" sz="1600" b="1">
                <a:solidFill>
                  <a:srgbClr val="D20B17"/>
                </a:solidFill>
                <a:latin typeface="+mn-ea"/>
              </a:rPr>
              <a:t>爆震 ≠ 自燃：</a:t>
            </a:r>
            <a:r>
              <a:rPr lang="zh-CN" altLang="en-US" sz="1600">
                <a:latin typeface="+mn-ea"/>
              </a:rPr>
              <a:t>自燃是爆震的</a:t>
            </a:r>
            <a:r>
              <a:rPr lang="zh-CN" altLang="en-US" sz="1600" b="1">
                <a:latin typeface="+mn-ea"/>
              </a:rPr>
              <a:t>必要不充分</a:t>
            </a:r>
            <a:r>
              <a:rPr lang="zh-CN" altLang="en-US" sz="1600">
                <a:latin typeface="+mn-ea"/>
              </a:rPr>
              <a:t>条件</a:t>
            </a:r>
          </a:p>
        </p:txBody>
      </p:sp>
      <p:sp>
        <p:nvSpPr>
          <p:cNvPr id="28" name="矩形: 圆角 27">
            <a:extLst>
              <a:ext uri="{FF2B5EF4-FFF2-40B4-BE49-F238E27FC236}">
                <a16:creationId xmlns:a16="http://schemas.microsoft.com/office/drawing/2014/main" id="{D4EEB07C-F7BA-CEA5-D120-7D071AB8F3D0}"/>
              </a:ext>
            </a:extLst>
          </p:cNvPr>
          <p:cNvSpPr/>
          <p:nvPr/>
        </p:nvSpPr>
        <p:spPr>
          <a:xfrm>
            <a:off x="767349" y="1589372"/>
            <a:ext cx="4315181" cy="407068"/>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02EA5D6D-61EF-795E-23D4-A621AC6D65CC}"/>
              </a:ext>
            </a:extLst>
          </p:cNvPr>
          <p:cNvSpPr txBox="1"/>
          <p:nvPr/>
        </p:nvSpPr>
        <p:spPr>
          <a:xfrm>
            <a:off x="675871" y="2057700"/>
            <a:ext cx="4371710" cy="338554"/>
          </a:xfrm>
          <a:prstGeom prst="rect">
            <a:avLst/>
          </a:prstGeom>
          <a:noFill/>
        </p:spPr>
        <p:txBody>
          <a:bodyPr wrap="none" rtlCol="0">
            <a:spAutoFit/>
          </a:bodyPr>
          <a:lstStyle/>
          <a:p>
            <a:pPr marL="285750" indent="-285750">
              <a:buClr>
                <a:srgbClr val="D20B17"/>
              </a:buClr>
              <a:buFont typeface="Wingdings" panose="05000000000000000000" pitchFamily="2" charset="2"/>
              <a:buChar char="Ø"/>
            </a:pPr>
            <a:r>
              <a:rPr lang="zh-CN" altLang="en-US" sz="1600">
                <a:latin typeface="+mn-ea"/>
              </a:rPr>
              <a:t>冷的气缸壁对未燃区有一定的</a:t>
            </a:r>
            <a:r>
              <a:rPr lang="zh-CN" altLang="en-US" sz="1600" b="1">
                <a:latin typeface="+mn-ea"/>
              </a:rPr>
              <a:t>冷却淬熄作用</a:t>
            </a:r>
          </a:p>
        </p:txBody>
      </p:sp>
      <p:sp>
        <p:nvSpPr>
          <p:cNvPr id="7" name="文本框 6">
            <a:extLst>
              <a:ext uri="{FF2B5EF4-FFF2-40B4-BE49-F238E27FC236}">
                <a16:creationId xmlns:a16="http://schemas.microsoft.com/office/drawing/2014/main" id="{FBA9E1B9-7506-5478-D517-84D81032A455}"/>
              </a:ext>
            </a:extLst>
          </p:cNvPr>
          <p:cNvSpPr txBox="1"/>
          <p:nvPr/>
        </p:nvSpPr>
        <p:spPr>
          <a:xfrm>
            <a:off x="668550" y="2326549"/>
            <a:ext cx="2807179" cy="338554"/>
          </a:xfrm>
          <a:prstGeom prst="rect">
            <a:avLst/>
          </a:prstGeom>
          <a:noFill/>
        </p:spPr>
        <p:txBody>
          <a:bodyPr wrap="none" rtlCol="0">
            <a:spAutoFit/>
          </a:bodyPr>
          <a:lstStyle/>
          <a:p>
            <a:pPr marL="285750" indent="-285750">
              <a:buClr>
                <a:srgbClr val="D20B17"/>
              </a:buClr>
              <a:buFont typeface="Wingdings" panose="05000000000000000000" pitchFamily="2" charset="2"/>
              <a:buChar char="Ø"/>
            </a:pPr>
            <a:r>
              <a:rPr lang="zh-CN" altLang="en-US" sz="1600">
                <a:latin typeface="宋体" panose="02010600030101010101" pitchFamily="2" charset="-122"/>
                <a:ea typeface="宋体" panose="02010600030101010101" pitchFamily="2" charset="-122"/>
              </a:rPr>
              <a:t>引入</a:t>
            </a:r>
            <a:r>
              <a:rPr lang="zh-CN" altLang="en-US" sz="1600" b="1">
                <a:latin typeface="宋体" panose="02010600030101010101" pitchFamily="2" charset="-122"/>
                <a:ea typeface="宋体" panose="02010600030101010101" pitchFamily="2" charset="-122"/>
              </a:rPr>
              <a:t>热边界层</a:t>
            </a:r>
            <a:r>
              <a:rPr lang="zh-CN" altLang="en-US" sz="1600">
                <a:latin typeface="宋体" panose="02010600030101010101" pitchFamily="2" charset="-122"/>
                <a:ea typeface="宋体" panose="02010600030101010101" pitchFamily="2" charset="-122"/>
              </a:rPr>
              <a:t>进行表征</a:t>
            </a:r>
            <a:r>
              <a:rPr lang="en-US" altLang="zh-CN" sz="1600" baseline="30000">
                <a:latin typeface="宋体" panose="02010600030101010101" pitchFamily="2" charset="-122"/>
                <a:ea typeface="宋体" panose="02010600030101010101" pitchFamily="2" charset="-122"/>
              </a:rPr>
              <a:t>[42]</a:t>
            </a:r>
            <a:endParaRPr lang="zh-CN" altLang="en-US" sz="1600" baseline="30000">
              <a:latin typeface="宋体" panose="02010600030101010101" pitchFamily="2" charset="-122"/>
              <a:ea typeface="宋体" panose="02010600030101010101" pitchFamily="2" charset="-122"/>
            </a:endParaRPr>
          </a:p>
        </p:txBody>
      </p:sp>
      <p:sp>
        <p:nvSpPr>
          <p:cNvPr id="29" name="文本框 28">
            <a:extLst>
              <a:ext uri="{FF2B5EF4-FFF2-40B4-BE49-F238E27FC236}">
                <a16:creationId xmlns:a16="http://schemas.microsoft.com/office/drawing/2014/main" id="{F983D544-1A06-84AD-2F52-59FBD0C7B986}"/>
              </a:ext>
            </a:extLst>
          </p:cNvPr>
          <p:cNvSpPr txBox="1"/>
          <p:nvPr/>
        </p:nvSpPr>
        <p:spPr>
          <a:xfrm>
            <a:off x="767349" y="5296179"/>
            <a:ext cx="1620957" cy="338554"/>
          </a:xfrm>
          <a:prstGeom prst="rect">
            <a:avLst/>
          </a:prstGeom>
          <a:noFill/>
        </p:spPr>
        <p:txBody>
          <a:bodyPr wrap="none" rtlCol="0">
            <a:spAutoFit/>
          </a:bodyPr>
          <a:lstStyle/>
          <a:p>
            <a:r>
              <a:rPr lang="zh-CN" altLang="en-US" sz="1600"/>
              <a:t>热边界层散热快</a:t>
            </a:r>
          </a:p>
        </p:txBody>
      </p:sp>
      <p:sp>
        <p:nvSpPr>
          <p:cNvPr id="30" name="文本框 29">
            <a:extLst>
              <a:ext uri="{FF2B5EF4-FFF2-40B4-BE49-F238E27FC236}">
                <a16:creationId xmlns:a16="http://schemas.microsoft.com/office/drawing/2014/main" id="{08903893-116D-24B2-C536-A7060E89E51C}"/>
              </a:ext>
            </a:extLst>
          </p:cNvPr>
          <p:cNvSpPr txBox="1"/>
          <p:nvPr/>
        </p:nvSpPr>
        <p:spPr>
          <a:xfrm>
            <a:off x="767349" y="5656003"/>
            <a:ext cx="1620957" cy="338554"/>
          </a:xfrm>
          <a:prstGeom prst="rect">
            <a:avLst/>
          </a:prstGeom>
          <a:noFill/>
        </p:spPr>
        <p:txBody>
          <a:bodyPr wrap="none" rtlCol="0">
            <a:spAutoFit/>
          </a:bodyPr>
          <a:lstStyle/>
          <a:p>
            <a:r>
              <a:rPr lang="zh-CN" altLang="en-US" sz="1600"/>
              <a:t>热边界层散热慢</a:t>
            </a:r>
          </a:p>
        </p:txBody>
      </p:sp>
      <p:sp>
        <p:nvSpPr>
          <p:cNvPr id="31" name="文本框 30">
            <a:extLst>
              <a:ext uri="{FF2B5EF4-FFF2-40B4-BE49-F238E27FC236}">
                <a16:creationId xmlns:a16="http://schemas.microsoft.com/office/drawing/2014/main" id="{50A3A4C6-60D0-5858-323D-E4DA82AD909C}"/>
              </a:ext>
            </a:extLst>
          </p:cNvPr>
          <p:cNvSpPr txBox="1"/>
          <p:nvPr/>
        </p:nvSpPr>
        <p:spPr>
          <a:xfrm>
            <a:off x="2535430" y="5275282"/>
            <a:ext cx="2646878" cy="338554"/>
          </a:xfrm>
          <a:prstGeom prst="rect">
            <a:avLst/>
          </a:prstGeom>
          <a:noFill/>
        </p:spPr>
        <p:txBody>
          <a:bodyPr wrap="none" rtlCol="0">
            <a:spAutoFit/>
          </a:bodyPr>
          <a:lstStyle/>
          <a:p>
            <a:r>
              <a:rPr lang="zh-CN" altLang="en-US" sz="1600"/>
              <a:t>抑制自燃甚至</a:t>
            </a:r>
            <a:r>
              <a:rPr lang="zh-CN" altLang="en-US" sz="1600" b="1">
                <a:solidFill>
                  <a:srgbClr val="004A98"/>
                </a:solidFill>
              </a:rPr>
              <a:t>淬熄</a:t>
            </a:r>
            <a:r>
              <a:rPr lang="zh-CN" altLang="en-US" sz="1600"/>
              <a:t>自燃火焰</a:t>
            </a:r>
          </a:p>
        </p:txBody>
      </p:sp>
      <p:sp>
        <p:nvSpPr>
          <p:cNvPr id="32" name="文本框 31">
            <a:extLst>
              <a:ext uri="{FF2B5EF4-FFF2-40B4-BE49-F238E27FC236}">
                <a16:creationId xmlns:a16="http://schemas.microsoft.com/office/drawing/2014/main" id="{A3F4E33E-8DD7-4154-26A0-515B4E333D94}"/>
              </a:ext>
            </a:extLst>
          </p:cNvPr>
          <p:cNvSpPr txBox="1"/>
          <p:nvPr/>
        </p:nvSpPr>
        <p:spPr>
          <a:xfrm>
            <a:off x="2535430" y="5641387"/>
            <a:ext cx="1005403" cy="338554"/>
          </a:xfrm>
          <a:prstGeom prst="rect">
            <a:avLst/>
          </a:prstGeom>
          <a:noFill/>
        </p:spPr>
        <p:txBody>
          <a:bodyPr wrap="none" rtlCol="0">
            <a:spAutoFit/>
          </a:bodyPr>
          <a:lstStyle/>
          <a:p>
            <a:r>
              <a:rPr lang="zh-CN" altLang="en-US" sz="1600"/>
              <a:t>引发</a:t>
            </a:r>
            <a:r>
              <a:rPr lang="zh-CN" altLang="en-US" sz="1600" b="1">
                <a:solidFill>
                  <a:srgbClr val="D20B17"/>
                </a:solidFill>
              </a:rPr>
              <a:t>爆震</a:t>
            </a:r>
          </a:p>
        </p:txBody>
      </p:sp>
      <p:sp>
        <p:nvSpPr>
          <p:cNvPr id="33" name="箭头: 燕尾形 32">
            <a:extLst>
              <a:ext uri="{FF2B5EF4-FFF2-40B4-BE49-F238E27FC236}">
                <a16:creationId xmlns:a16="http://schemas.microsoft.com/office/drawing/2014/main" id="{97BA8FD4-75EA-A193-BBCC-F4784076B75F}"/>
              </a:ext>
            </a:extLst>
          </p:cNvPr>
          <p:cNvSpPr/>
          <p:nvPr/>
        </p:nvSpPr>
        <p:spPr>
          <a:xfrm>
            <a:off x="2380232" y="5370114"/>
            <a:ext cx="155198" cy="143701"/>
          </a:xfrm>
          <a:prstGeom prst="notched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燕尾形 33">
            <a:extLst>
              <a:ext uri="{FF2B5EF4-FFF2-40B4-BE49-F238E27FC236}">
                <a16:creationId xmlns:a16="http://schemas.microsoft.com/office/drawing/2014/main" id="{0729FECB-47FE-1886-420B-AACC2BD08002}"/>
              </a:ext>
            </a:extLst>
          </p:cNvPr>
          <p:cNvSpPr/>
          <p:nvPr/>
        </p:nvSpPr>
        <p:spPr>
          <a:xfrm>
            <a:off x="2388306" y="5762031"/>
            <a:ext cx="155198" cy="143701"/>
          </a:xfrm>
          <a:prstGeom prst="notched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圆角 34">
            <a:extLst>
              <a:ext uri="{FF2B5EF4-FFF2-40B4-BE49-F238E27FC236}">
                <a16:creationId xmlns:a16="http://schemas.microsoft.com/office/drawing/2014/main" id="{5DE19423-FE1E-99DF-783F-C82BDFC2B4A0}"/>
              </a:ext>
            </a:extLst>
          </p:cNvPr>
          <p:cNvSpPr/>
          <p:nvPr/>
        </p:nvSpPr>
        <p:spPr>
          <a:xfrm>
            <a:off x="767349" y="5263713"/>
            <a:ext cx="1539079" cy="749806"/>
          </a:xfrm>
          <a:prstGeom prst="round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809BD7B3-2FB8-C4D9-2E58-3793FF4936DB}"/>
              </a:ext>
            </a:extLst>
          </p:cNvPr>
          <p:cNvSpPr txBox="1"/>
          <p:nvPr/>
        </p:nvSpPr>
        <p:spPr>
          <a:xfrm>
            <a:off x="1158024" y="6115201"/>
            <a:ext cx="3592650" cy="338554"/>
          </a:xfrm>
          <a:prstGeom prst="rect">
            <a:avLst/>
          </a:prstGeom>
          <a:noFill/>
        </p:spPr>
        <p:txBody>
          <a:bodyPr wrap="none" rtlCol="0">
            <a:spAutoFit/>
          </a:bodyPr>
          <a:lstStyle/>
          <a:p>
            <a:pPr marL="285750" indent="-285750">
              <a:buClr>
                <a:srgbClr val="D20B17"/>
              </a:buClr>
              <a:buFont typeface="Wingdings" panose="05000000000000000000" pitchFamily="2" charset="2"/>
              <a:buChar char="Ø"/>
            </a:pPr>
            <a:r>
              <a:rPr lang="zh-CN" altLang="en-US" sz="1600" b="1"/>
              <a:t>热边界层未燃气体质量分数</a:t>
            </a:r>
            <a:r>
              <a:rPr lang="en-US" altLang="zh-CN" sz="1600" b="1"/>
              <a:t>x_ub,bl</a:t>
            </a:r>
            <a:endParaRPr lang="zh-CN" altLang="en-US" sz="1600" b="1"/>
          </a:p>
        </p:txBody>
      </p:sp>
      <p:sp>
        <p:nvSpPr>
          <p:cNvPr id="39" name="文本框 38">
            <a:extLst>
              <a:ext uri="{FF2B5EF4-FFF2-40B4-BE49-F238E27FC236}">
                <a16:creationId xmlns:a16="http://schemas.microsoft.com/office/drawing/2014/main" id="{31E13D4B-74C0-2427-2634-4644A8E3A672}"/>
              </a:ext>
            </a:extLst>
          </p:cNvPr>
          <p:cNvSpPr txBox="1"/>
          <p:nvPr/>
        </p:nvSpPr>
        <p:spPr>
          <a:xfrm>
            <a:off x="6010055" y="2324317"/>
            <a:ext cx="5640066" cy="523220"/>
          </a:xfrm>
          <a:prstGeom prst="rect">
            <a:avLst/>
          </a:prstGeom>
          <a:noFill/>
        </p:spPr>
        <p:txBody>
          <a:bodyPr wrap="square" rtlCol="0">
            <a:spAutoFit/>
          </a:bodyPr>
          <a:lstStyle/>
          <a:p>
            <a:pPr marL="285750" indent="-285750" algn="ctr">
              <a:buClr>
                <a:srgbClr val="D20B17"/>
              </a:buClr>
              <a:buFont typeface="Wingdings" panose="05000000000000000000" pitchFamily="2" charset="2"/>
              <a:buChar char="Ø"/>
            </a:pPr>
            <a:r>
              <a:rPr lang="zh-CN" altLang="en-US" sz="1400"/>
              <a:t>热边界层</a:t>
            </a:r>
            <a:r>
              <a:rPr lang="zh-CN" altLang="en-US" sz="1400" dirty="0"/>
              <a:t>未燃气体</a:t>
            </a:r>
            <a:r>
              <a:rPr lang="zh-CN" altLang="en-US" sz="1400" b="1" dirty="0"/>
              <a:t>占比越大</a:t>
            </a:r>
            <a:r>
              <a:rPr lang="zh-CN" altLang="en-US" sz="1400" dirty="0"/>
              <a:t>，边界层冷气体占比越多，边界层吸热能力越</a:t>
            </a:r>
            <a:r>
              <a:rPr lang="zh-CN" altLang="en-US" sz="1400"/>
              <a:t>高，</a:t>
            </a:r>
            <a:r>
              <a:rPr lang="zh-CN" altLang="en-US" sz="1400" b="1"/>
              <a:t>淬</a:t>
            </a:r>
            <a:r>
              <a:rPr lang="zh-CN" altLang="en-US" sz="1400" b="1" dirty="0"/>
              <a:t>熄越容易</a:t>
            </a:r>
            <a:r>
              <a:rPr lang="zh-CN" altLang="en-US" sz="1400" b="1"/>
              <a:t>发生</a:t>
            </a:r>
            <a:r>
              <a:rPr lang="zh-CN" altLang="en-US" sz="1400"/>
              <a:t>。</a:t>
            </a:r>
            <a:endParaRPr lang="zh-CN" altLang="en-US" sz="1400" dirty="0"/>
          </a:p>
        </p:txBody>
      </p:sp>
      <p:sp>
        <p:nvSpPr>
          <p:cNvPr id="40" name="文本框 39">
            <a:extLst>
              <a:ext uri="{FF2B5EF4-FFF2-40B4-BE49-F238E27FC236}">
                <a16:creationId xmlns:a16="http://schemas.microsoft.com/office/drawing/2014/main" id="{DEE2652A-7391-3043-886A-520C152CAACE}"/>
              </a:ext>
            </a:extLst>
          </p:cNvPr>
          <p:cNvSpPr txBox="1"/>
          <p:nvPr/>
        </p:nvSpPr>
        <p:spPr>
          <a:xfrm>
            <a:off x="6831272" y="2959692"/>
            <a:ext cx="4410182" cy="338554"/>
          </a:xfrm>
          <a:prstGeom prst="rect">
            <a:avLst/>
          </a:prstGeom>
          <a:noFill/>
        </p:spPr>
        <p:txBody>
          <a:bodyPr wrap="none" rtlCol="0">
            <a:spAutoFit/>
          </a:bodyPr>
          <a:lstStyle/>
          <a:p>
            <a:pPr>
              <a:buClr>
                <a:srgbClr val="C00000"/>
              </a:buClr>
            </a:pPr>
            <a:r>
              <a:rPr lang="zh-CN" altLang="en-US" sz="1600" b="1">
                <a:solidFill>
                  <a:srgbClr val="C00000"/>
                </a:solidFill>
              </a:rPr>
              <a:t>淬熄失效判据：</a:t>
            </a:r>
            <a:r>
              <a:rPr lang="en-US" altLang="zh-CN" sz="1600" b="1"/>
              <a:t>x_ub,bl</a:t>
            </a:r>
            <a:r>
              <a:rPr lang="zh-CN" altLang="en-US" sz="1600" b="1"/>
              <a:t>＜</a:t>
            </a:r>
            <a:r>
              <a:rPr lang="en-US" altLang="zh-CN" sz="1600" b="1"/>
              <a:t>30%</a:t>
            </a:r>
            <a:r>
              <a:rPr lang="zh-CN" altLang="en-US" sz="1600" b="1"/>
              <a:t>（经验阈值</a:t>
            </a:r>
            <a:r>
              <a:rPr lang="en-US" altLang="zh-CN" sz="1600" baseline="30000"/>
              <a:t>[42]</a:t>
            </a:r>
            <a:r>
              <a:rPr lang="zh-CN" altLang="en-US" sz="1600" b="1"/>
              <a:t>）</a:t>
            </a:r>
          </a:p>
        </p:txBody>
      </p:sp>
      <p:sp>
        <p:nvSpPr>
          <p:cNvPr id="41" name="矩形: 圆角 40">
            <a:extLst>
              <a:ext uri="{FF2B5EF4-FFF2-40B4-BE49-F238E27FC236}">
                <a16:creationId xmlns:a16="http://schemas.microsoft.com/office/drawing/2014/main" id="{D0077B20-7BC0-A670-CD1C-52717913F660}"/>
              </a:ext>
            </a:extLst>
          </p:cNvPr>
          <p:cNvSpPr/>
          <p:nvPr/>
        </p:nvSpPr>
        <p:spPr>
          <a:xfrm>
            <a:off x="6831272" y="2929694"/>
            <a:ext cx="4063203" cy="398551"/>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501F84C4-F39C-1D2C-366B-7832B0336949}"/>
              </a:ext>
            </a:extLst>
          </p:cNvPr>
          <p:cNvSpPr txBox="1"/>
          <p:nvPr/>
        </p:nvSpPr>
        <p:spPr>
          <a:xfrm>
            <a:off x="6003765" y="3410401"/>
            <a:ext cx="5640066" cy="523220"/>
          </a:xfrm>
          <a:prstGeom prst="rect">
            <a:avLst/>
          </a:prstGeom>
          <a:noFill/>
        </p:spPr>
        <p:txBody>
          <a:bodyPr wrap="square" rtlCol="0">
            <a:spAutoFit/>
          </a:bodyPr>
          <a:lstStyle/>
          <a:p>
            <a:pPr marL="285750" indent="-285750" algn="ctr">
              <a:buClr>
                <a:srgbClr val="D20B17"/>
              </a:buClr>
              <a:buFont typeface="Wingdings" panose="05000000000000000000" pitchFamily="2" charset="2"/>
              <a:buChar char="Ø"/>
            </a:pPr>
            <a:r>
              <a:rPr lang="zh-CN" altLang="en-US" sz="1400" b="1">
                <a:solidFill>
                  <a:srgbClr val="C00000"/>
                </a:solidFill>
              </a:rPr>
              <a:t>爆震发生倾向的物理表征：</a:t>
            </a:r>
            <a:r>
              <a:rPr lang="en-US" altLang="zh-CN" sz="1400" b="1"/>
              <a:t>x_ub,bl</a:t>
            </a:r>
            <a:r>
              <a:rPr lang="zh-CN" altLang="en-US" sz="1400"/>
              <a:t>越小，爆震发生倾向越高；反之，则爆震发生倾向越低</a:t>
            </a:r>
            <a:endParaRPr lang="zh-CN" altLang="en-US" sz="1400" dirty="0"/>
          </a:p>
        </p:txBody>
      </p:sp>
      <p:sp>
        <p:nvSpPr>
          <p:cNvPr id="43" name="文本框 42">
            <a:extLst>
              <a:ext uri="{FF2B5EF4-FFF2-40B4-BE49-F238E27FC236}">
                <a16:creationId xmlns:a16="http://schemas.microsoft.com/office/drawing/2014/main" id="{8AF4ADAD-C3DE-7D8F-A74B-33FDFFF77FA8}"/>
              </a:ext>
            </a:extLst>
          </p:cNvPr>
          <p:cNvSpPr txBox="1"/>
          <p:nvPr/>
        </p:nvSpPr>
        <p:spPr>
          <a:xfrm>
            <a:off x="5676259" y="6048854"/>
            <a:ext cx="3041220" cy="276999"/>
          </a:xfrm>
          <a:prstGeom prst="rect">
            <a:avLst/>
          </a:prstGeom>
          <a:noFill/>
        </p:spPr>
        <p:txBody>
          <a:bodyPr wrap="square">
            <a:spAutoFit/>
          </a:bodyPr>
          <a:lstStyle/>
          <a:p>
            <a:pPr algn="ctr"/>
            <a:r>
              <a:rPr lang="zh-CN" altLang="en-US" sz="1200"/>
              <a:t>图</a:t>
            </a:r>
            <a:r>
              <a:rPr lang="en-US" altLang="zh-CN" sz="1200"/>
              <a:t>3-2 </a:t>
            </a:r>
            <a:r>
              <a:rPr lang="zh-CN" altLang="en-US" sz="1200"/>
              <a:t>爆震判断流程图</a:t>
            </a:r>
          </a:p>
        </p:txBody>
      </p:sp>
      <p:pic>
        <p:nvPicPr>
          <p:cNvPr id="47" name="图片 46">
            <a:extLst>
              <a:ext uri="{FF2B5EF4-FFF2-40B4-BE49-F238E27FC236}">
                <a16:creationId xmlns:a16="http://schemas.microsoft.com/office/drawing/2014/main" id="{D213FBC7-D11F-6493-F9F7-EA7F470EE93F}"/>
              </a:ext>
            </a:extLst>
          </p:cNvPr>
          <p:cNvPicPr>
            <a:picLocks noChangeAspect="1"/>
          </p:cNvPicPr>
          <p:nvPr/>
        </p:nvPicPr>
        <p:blipFill>
          <a:blip r:embed="rId4"/>
          <a:stretch>
            <a:fillRect/>
          </a:stretch>
        </p:blipFill>
        <p:spPr>
          <a:xfrm>
            <a:off x="5541428" y="4220480"/>
            <a:ext cx="3350553" cy="1759461"/>
          </a:xfrm>
          <a:prstGeom prst="rect">
            <a:avLst/>
          </a:prstGeom>
        </p:spPr>
      </p:pic>
      <p:pic>
        <p:nvPicPr>
          <p:cNvPr id="48" name="Picture 2">
            <a:extLst>
              <a:ext uri="{FF2B5EF4-FFF2-40B4-BE49-F238E27FC236}">
                <a16:creationId xmlns:a16="http://schemas.microsoft.com/office/drawing/2014/main" id="{67CCFF00-F804-0D3F-E47F-C64096DE3D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36581" y="4404661"/>
            <a:ext cx="3125202" cy="150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文本框 48">
            <a:extLst>
              <a:ext uri="{FF2B5EF4-FFF2-40B4-BE49-F238E27FC236}">
                <a16:creationId xmlns:a16="http://schemas.microsoft.com/office/drawing/2014/main" id="{605FF85F-F1E3-0ECD-636C-A7B4C6FB1DF6}"/>
              </a:ext>
            </a:extLst>
          </p:cNvPr>
          <p:cNvSpPr txBox="1"/>
          <p:nvPr/>
        </p:nvSpPr>
        <p:spPr>
          <a:xfrm>
            <a:off x="9020563" y="6048853"/>
            <a:ext cx="3041220" cy="276999"/>
          </a:xfrm>
          <a:prstGeom prst="rect">
            <a:avLst/>
          </a:prstGeom>
          <a:noFill/>
        </p:spPr>
        <p:txBody>
          <a:bodyPr wrap="square">
            <a:spAutoFit/>
          </a:bodyPr>
          <a:lstStyle/>
          <a:p>
            <a:pPr algn="ctr"/>
            <a:r>
              <a:rPr lang="zh-CN" altLang="en-US" sz="1200"/>
              <a:t>图</a:t>
            </a:r>
            <a:r>
              <a:rPr lang="en-US" altLang="zh-CN" sz="1200"/>
              <a:t>3-3 </a:t>
            </a:r>
            <a:r>
              <a:rPr lang="zh-CN" altLang="en-US" sz="1200"/>
              <a:t>爆震唯象模型架构及输入输出</a:t>
            </a:r>
          </a:p>
        </p:txBody>
      </p:sp>
      <p:cxnSp>
        <p:nvCxnSpPr>
          <p:cNvPr id="52" name="直接连接符 51">
            <a:extLst>
              <a:ext uri="{FF2B5EF4-FFF2-40B4-BE49-F238E27FC236}">
                <a16:creationId xmlns:a16="http://schemas.microsoft.com/office/drawing/2014/main" id="{6872A333-B8A4-DDC8-F295-31131472C8CB}"/>
              </a:ext>
            </a:extLst>
          </p:cNvPr>
          <p:cNvCxnSpPr>
            <a:cxnSpLocks/>
          </p:cNvCxnSpPr>
          <p:nvPr/>
        </p:nvCxnSpPr>
        <p:spPr>
          <a:xfrm>
            <a:off x="5512340" y="4010463"/>
            <a:ext cx="666759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55" name="图片 54">
            <a:extLst>
              <a:ext uri="{FF2B5EF4-FFF2-40B4-BE49-F238E27FC236}">
                <a16:creationId xmlns:a16="http://schemas.microsoft.com/office/drawing/2014/main" id="{94B8E45D-8A42-8232-2650-9D77E136ECAC}"/>
              </a:ext>
            </a:extLst>
          </p:cNvPr>
          <p:cNvPicPr>
            <a:picLocks noChangeAspect="1"/>
          </p:cNvPicPr>
          <p:nvPr/>
        </p:nvPicPr>
        <p:blipFill>
          <a:blip r:embed="rId6"/>
          <a:stretch>
            <a:fillRect/>
          </a:stretch>
        </p:blipFill>
        <p:spPr>
          <a:xfrm>
            <a:off x="6395469" y="1813642"/>
            <a:ext cx="2049037" cy="474856"/>
          </a:xfrm>
          <a:prstGeom prst="rect">
            <a:avLst/>
          </a:prstGeom>
        </p:spPr>
      </p:pic>
      <p:pic>
        <p:nvPicPr>
          <p:cNvPr id="57" name="图片 56">
            <a:extLst>
              <a:ext uri="{FF2B5EF4-FFF2-40B4-BE49-F238E27FC236}">
                <a16:creationId xmlns:a16="http://schemas.microsoft.com/office/drawing/2014/main" id="{0532B048-B1BD-0F40-A00C-484C075FB3A3}"/>
              </a:ext>
            </a:extLst>
          </p:cNvPr>
          <p:cNvPicPr>
            <a:picLocks noChangeAspect="1"/>
          </p:cNvPicPr>
          <p:nvPr/>
        </p:nvPicPr>
        <p:blipFill>
          <a:blip r:embed="rId7"/>
          <a:stretch>
            <a:fillRect/>
          </a:stretch>
        </p:blipFill>
        <p:spPr>
          <a:xfrm>
            <a:off x="9406980" y="1813642"/>
            <a:ext cx="1775194" cy="564587"/>
          </a:xfrm>
          <a:prstGeom prst="rect">
            <a:avLst/>
          </a:prstGeom>
        </p:spPr>
      </p:pic>
      <p:sp>
        <p:nvSpPr>
          <p:cNvPr id="58" name="文本框 57">
            <a:extLst>
              <a:ext uri="{FF2B5EF4-FFF2-40B4-BE49-F238E27FC236}">
                <a16:creationId xmlns:a16="http://schemas.microsoft.com/office/drawing/2014/main" id="{52ADCBF4-18B9-9C43-3532-3BDCC7325B37}"/>
              </a:ext>
            </a:extLst>
          </p:cNvPr>
          <p:cNvSpPr txBox="1"/>
          <p:nvPr/>
        </p:nvSpPr>
        <p:spPr>
          <a:xfrm>
            <a:off x="6020575" y="1592924"/>
            <a:ext cx="1800493" cy="307777"/>
          </a:xfrm>
          <a:prstGeom prst="rect">
            <a:avLst/>
          </a:prstGeom>
          <a:noFill/>
        </p:spPr>
        <p:txBody>
          <a:bodyPr wrap="none" rtlCol="0">
            <a:spAutoFit/>
          </a:bodyPr>
          <a:lstStyle/>
          <a:p>
            <a:r>
              <a:rPr lang="zh-CN" altLang="en-US" sz="1400" b="1"/>
              <a:t>热边界层厚度计算：</a:t>
            </a:r>
          </a:p>
        </p:txBody>
      </p:sp>
      <p:sp>
        <p:nvSpPr>
          <p:cNvPr id="59" name="文本框 58">
            <a:extLst>
              <a:ext uri="{FF2B5EF4-FFF2-40B4-BE49-F238E27FC236}">
                <a16:creationId xmlns:a16="http://schemas.microsoft.com/office/drawing/2014/main" id="{3C4A180E-927C-6C8D-ED02-61F43659E784}"/>
              </a:ext>
            </a:extLst>
          </p:cNvPr>
          <p:cNvSpPr txBox="1"/>
          <p:nvPr/>
        </p:nvSpPr>
        <p:spPr>
          <a:xfrm>
            <a:off x="8862873" y="1572881"/>
            <a:ext cx="2877711" cy="307777"/>
          </a:xfrm>
          <a:prstGeom prst="rect">
            <a:avLst/>
          </a:prstGeom>
          <a:noFill/>
        </p:spPr>
        <p:txBody>
          <a:bodyPr wrap="none" rtlCol="0">
            <a:spAutoFit/>
          </a:bodyPr>
          <a:lstStyle/>
          <a:p>
            <a:r>
              <a:rPr lang="zh-CN" altLang="en-US" sz="1400" b="1"/>
              <a:t>热边界层未燃气体质量分数计算：</a:t>
            </a:r>
          </a:p>
        </p:txBody>
      </p:sp>
      <p:cxnSp>
        <p:nvCxnSpPr>
          <p:cNvPr id="61" name="直接连接符 60">
            <a:extLst>
              <a:ext uri="{FF2B5EF4-FFF2-40B4-BE49-F238E27FC236}">
                <a16:creationId xmlns:a16="http://schemas.microsoft.com/office/drawing/2014/main" id="{3F5128AC-E8C9-B1C3-8AB1-C48691D5864C}"/>
              </a:ext>
            </a:extLst>
          </p:cNvPr>
          <p:cNvCxnSpPr>
            <a:cxnSpLocks/>
          </p:cNvCxnSpPr>
          <p:nvPr/>
        </p:nvCxnSpPr>
        <p:spPr>
          <a:xfrm>
            <a:off x="8717479" y="1521896"/>
            <a:ext cx="0" cy="75350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3621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059AB-E991-26B7-A541-88A403986BF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211D568-D70A-17DA-6E29-062B68594FC9}"/>
              </a:ext>
            </a:extLst>
          </p:cNvPr>
          <p:cNvSpPr>
            <a:spLocks noGrp="1"/>
          </p:cNvSpPr>
          <p:nvPr>
            <p:ph type="title"/>
          </p:nvPr>
        </p:nvSpPr>
        <p:spPr/>
        <p:txBody>
          <a:bodyPr/>
          <a:lstStyle/>
          <a:p>
            <a:r>
              <a:rPr lang="zh-CN" altLang="en-US"/>
              <a:t>第三章：氢内燃机爆震唯象模型的构建</a:t>
            </a:r>
            <a:endParaRPr lang="zh-CN" altLang="en-US" dirty="0"/>
          </a:p>
        </p:txBody>
      </p:sp>
      <p:sp>
        <p:nvSpPr>
          <p:cNvPr id="2" name="矩形 1">
            <a:extLst>
              <a:ext uri="{FF2B5EF4-FFF2-40B4-BE49-F238E27FC236}">
                <a16:creationId xmlns:a16="http://schemas.microsoft.com/office/drawing/2014/main" id="{92947846-1236-C190-4706-3F4D04D083D6}"/>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第三节：爆震模型与准维模型的在线耦合步进计算逻辑</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pic>
        <p:nvPicPr>
          <p:cNvPr id="1066" name="图片 1065">
            <a:extLst>
              <a:ext uri="{FF2B5EF4-FFF2-40B4-BE49-F238E27FC236}">
                <a16:creationId xmlns:a16="http://schemas.microsoft.com/office/drawing/2014/main" id="{E29DCBD5-5693-7677-6017-E50CFEFA2AA5}"/>
              </a:ext>
            </a:extLst>
          </p:cNvPr>
          <p:cNvPicPr>
            <a:picLocks noChangeAspect="1"/>
          </p:cNvPicPr>
          <p:nvPr/>
        </p:nvPicPr>
        <p:blipFill>
          <a:blip r:embed="rId3"/>
          <a:stretch>
            <a:fillRect/>
          </a:stretch>
        </p:blipFill>
        <p:spPr>
          <a:xfrm>
            <a:off x="3337170" y="1751548"/>
            <a:ext cx="8626167" cy="4234491"/>
          </a:xfrm>
          <a:prstGeom prst="rect">
            <a:avLst/>
          </a:prstGeom>
        </p:spPr>
      </p:pic>
      <p:sp>
        <p:nvSpPr>
          <p:cNvPr id="1067" name="文本框 1066">
            <a:extLst>
              <a:ext uri="{FF2B5EF4-FFF2-40B4-BE49-F238E27FC236}">
                <a16:creationId xmlns:a16="http://schemas.microsoft.com/office/drawing/2014/main" id="{C28DB7EB-DA1A-92E0-3D86-2ED9DA3950EC}"/>
              </a:ext>
            </a:extLst>
          </p:cNvPr>
          <p:cNvSpPr txBox="1"/>
          <p:nvPr/>
        </p:nvSpPr>
        <p:spPr>
          <a:xfrm>
            <a:off x="6236811" y="5986039"/>
            <a:ext cx="3714121" cy="276999"/>
          </a:xfrm>
          <a:prstGeom prst="rect">
            <a:avLst/>
          </a:prstGeom>
          <a:noFill/>
        </p:spPr>
        <p:txBody>
          <a:bodyPr wrap="square">
            <a:spAutoFit/>
          </a:bodyPr>
          <a:lstStyle/>
          <a:p>
            <a:pPr algn="ctr"/>
            <a:r>
              <a:rPr lang="zh-CN" altLang="en-US" sz="1200"/>
              <a:t>图</a:t>
            </a:r>
            <a:r>
              <a:rPr lang="en-US" altLang="zh-CN" sz="1200"/>
              <a:t>3-6</a:t>
            </a:r>
            <a:r>
              <a:rPr lang="zh-CN" altLang="en-US" sz="1200"/>
              <a:t>爆震模型与准维模型的在线集成步进计算架构</a:t>
            </a:r>
          </a:p>
        </p:txBody>
      </p:sp>
      <p:sp>
        <p:nvSpPr>
          <p:cNvPr id="4" name="矩形 3">
            <a:extLst>
              <a:ext uri="{FF2B5EF4-FFF2-40B4-BE49-F238E27FC236}">
                <a16:creationId xmlns:a16="http://schemas.microsoft.com/office/drawing/2014/main" id="{9D3CB7D3-DA8B-9D30-C73B-F91A3D039BB7}"/>
              </a:ext>
            </a:extLst>
          </p:cNvPr>
          <p:cNvSpPr/>
          <p:nvPr/>
        </p:nvSpPr>
        <p:spPr>
          <a:xfrm>
            <a:off x="1569296" y="2444045"/>
            <a:ext cx="705295" cy="370224"/>
          </a:xfrm>
          <a:prstGeom prst="rect">
            <a:avLst/>
          </a:prstGeom>
          <a:solidFill>
            <a:srgbClr val="E0E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爆震</a:t>
            </a:r>
          </a:p>
        </p:txBody>
      </p:sp>
      <p:sp>
        <p:nvSpPr>
          <p:cNvPr id="15" name="矩形 14">
            <a:extLst>
              <a:ext uri="{FF2B5EF4-FFF2-40B4-BE49-F238E27FC236}">
                <a16:creationId xmlns:a16="http://schemas.microsoft.com/office/drawing/2014/main" id="{E195B4CE-C9B7-EA06-DE32-E96ED1D81967}"/>
              </a:ext>
            </a:extLst>
          </p:cNvPr>
          <p:cNvSpPr/>
          <p:nvPr/>
        </p:nvSpPr>
        <p:spPr>
          <a:xfrm>
            <a:off x="83820" y="3142463"/>
            <a:ext cx="746286" cy="360209"/>
          </a:xfrm>
          <a:prstGeom prst="rect">
            <a:avLst/>
          </a:prstGeom>
          <a:solidFill>
            <a:srgbClr val="DAE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压缩期</a:t>
            </a:r>
          </a:p>
        </p:txBody>
      </p:sp>
      <p:sp>
        <p:nvSpPr>
          <p:cNvPr id="16" name="矩形 15">
            <a:extLst>
              <a:ext uri="{FF2B5EF4-FFF2-40B4-BE49-F238E27FC236}">
                <a16:creationId xmlns:a16="http://schemas.microsoft.com/office/drawing/2014/main" id="{AC42BADA-75FA-DF23-DA64-0932372A435B}"/>
              </a:ext>
            </a:extLst>
          </p:cNvPr>
          <p:cNvSpPr/>
          <p:nvPr/>
        </p:nvSpPr>
        <p:spPr>
          <a:xfrm>
            <a:off x="830107" y="3142463"/>
            <a:ext cx="910185" cy="360209"/>
          </a:xfrm>
          <a:prstGeom prst="rect">
            <a:avLst/>
          </a:prstGeom>
          <a:solidFill>
            <a:srgbClr val="DAE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点火延迟</a:t>
            </a:r>
          </a:p>
        </p:txBody>
      </p:sp>
      <p:sp>
        <p:nvSpPr>
          <p:cNvPr id="17" name="矩形 16">
            <a:extLst>
              <a:ext uri="{FF2B5EF4-FFF2-40B4-BE49-F238E27FC236}">
                <a16:creationId xmlns:a16="http://schemas.microsoft.com/office/drawing/2014/main" id="{E4B75BB5-30D9-DE61-A632-F99023133766}"/>
              </a:ext>
            </a:extLst>
          </p:cNvPr>
          <p:cNvSpPr/>
          <p:nvPr/>
        </p:nvSpPr>
        <p:spPr>
          <a:xfrm>
            <a:off x="1740293" y="3142462"/>
            <a:ext cx="770511" cy="360211"/>
          </a:xfrm>
          <a:prstGeom prst="rect">
            <a:avLst/>
          </a:prstGeom>
          <a:solidFill>
            <a:srgbClr val="FBE5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燃烧期</a:t>
            </a:r>
          </a:p>
        </p:txBody>
      </p:sp>
      <p:sp>
        <p:nvSpPr>
          <p:cNvPr id="18" name="矩形 17">
            <a:extLst>
              <a:ext uri="{FF2B5EF4-FFF2-40B4-BE49-F238E27FC236}">
                <a16:creationId xmlns:a16="http://schemas.microsoft.com/office/drawing/2014/main" id="{62D6FB64-3D11-CF7D-D12D-D8A7FC1AC486}"/>
              </a:ext>
            </a:extLst>
          </p:cNvPr>
          <p:cNvSpPr/>
          <p:nvPr/>
        </p:nvSpPr>
        <p:spPr>
          <a:xfrm>
            <a:off x="2510804" y="3142461"/>
            <a:ext cx="746286" cy="360211"/>
          </a:xfrm>
          <a:prstGeom prst="rect">
            <a:avLst/>
          </a:prstGeom>
          <a:solidFill>
            <a:srgbClr val="DAE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膨胀期</a:t>
            </a:r>
            <a:endParaRPr lang="zh-CN" altLang="en-US" sz="1400" dirty="0">
              <a:solidFill>
                <a:schemeClr val="tx1"/>
              </a:solidFill>
            </a:endParaRPr>
          </a:p>
        </p:txBody>
      </p:sp>
      <p:sp>
        <p:nvSpPr>
          <p:cNvPr id="20" name="文本框 19">
            <a:extLst>
              <a:ext uri="{FF2B5EF4-FFF2-40B4-BE49-F238E27FC236}">
                <a16:creationId xmlns:a16="http://schemas.microsoft.com/office/drawing/2014/main" id="{3E3D721F-411B-DA76-14A9-00EC34BC92E3}"/>
              </a:ext>
            </a:extLst>
          </p:cNvPr>
          <p:cNvSpPr txBox="1"/>
          <p:nvPr/>
        </p:nvSpPr>
        <p:spPr>
          <a:xfrm>
            <a:off x="-50212" y="2819400"/>
            <a:ext cx="820423" cy="307777"/>
          </a:xfrm>
          <a:prstGeom prst="rect">
            <a:avLst/>
          </a:prstGeom>
          <a:noFill/>
        </p:spPr>
        <p:txBody>
          <a:bodyPr wrap="square">
            <a:spAutoFit/>
          </a:bodyPr>
          <a:lstStyle/>
          <a:p>
            <a:r>
              <a:rPr lang="el-GR" altLang="zh-CN" sz="1400" dirty="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400" dirty="0">
                <a:latin typeface="Times New Roman" panose="02020603050405020304" pitchFamily="18" charset="0"/>
                <a:ea typeface="MS PGothic" panose="020B0600070205080204" pitchFamily="34" charset="-128"/>
                <a:cs typeface="Times New Roman" panose="02020603050405020304" pitchFamily="18" charset="0"/>
              </a:rPr>
              <a:t>_IVC</a:t>
            </a:r>
            <a:endParaRPr lang="zh-CN" altLang="en-US" sz="1400"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637B3B1E-DBC8-6B2E-B836-1B4999136D71}"/>
              </a:ext>
            </a:extLst>
          </p:cNvPr>
          <p:cNvSpPr txBox="1"/>
          <p:nvPr/>
        </p:nvSpPr>
        <p:spPr>
          <a:xfrm>
            <a:off x="2720382" y="2834683"/>
            <a:ext cx="820423" cy="307777"/>
          </a:xfrm>
          <a:prstGeom prst="rect">
            <a:avLst/>
          </a:prstGeom>
          <a:noFill/>
        </p:spPr>
        <p:txBody>
          <a:bodyPr wrap="square">
            <a:spAutoFit/>
          </a:bodyPr>
          <a:lstStyle/>
          <a:p>
            <a:r>
              <a:rPr lang="el-GR" altLang="zh-CN" sz="140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400">
                <a:latin typeface="Times New Roman" panose="02020603050405020304" pitchFamily="18" charset="0"/>
                <a:ea typeface="MS PGothic" panose="020B0600070205080204" pitchFamily="34" charset="-128"/>
                <a:cs typeface="Times New Roman" panose="02020603050405020304" pitchFamily="18" charset="0"/>
              </a:rPr>
              <a:t>_EVO</a:t>
            </a:r>
            <a:endParaRPr lang="zh-CN" altLang="en-US" sz="1400" dirty="0">
              <a:latin typeface="Times New Roman" panose="02020603050405020304" pitchFamily="18" charset="0"/>
              <a:cs typeface="Times New Roman" panose="02020603050405020304" pitchFamily="18" charset="0"/>
            </a:endParaRPr>
          </a:p>
        </p:txBody>
      </p:sp>
      <p:sp>
        <p:nvSpPr>
          <p:cNvPr id="23" name="箭头: 下 22">
            <a:extLst>
              <a:ext uri="{FF2B5EF4-FFF2-40B4-BE49-F238E27FC236}">
                <a16:creationId xmlns:a16="http://schemas.microsoft.com/office/drawing/2014/main" id="{D1590ADA-1038-0689-0883-755C63BC3A82}"/>
              </a:ext>
            </a:extLst>
          </p:cNvPr>
          <p:cNvSpPr/>
          <p:nvPr/>
        </p:nvSpPr>
        <p:spPr>
          <a:xfrm>
            <a:off x="1529384" y="3588935"/>
            <a:ext cx="257578" cy="317838"/>
          </a:xfrm>
          <a:prstGeom prst="downArrow">
            <a:avLst>
              <a:gd name="adj1" fmla="val 25089"/>
              <a:gd name="adj2" fmla="val 38908"/>
            </a:avLst>
          </a:prstGeom>
          <a:solidFill>
            <a:srgbClr val="8DA8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04B69D50-D54E-D9FF-8681-07FEEB7E24EC}"/>
              </a:ext>
            </a:extLst>
          </p:cNvPr>
          <p:cNvSpPr/>
          <p:nvPr/>
        </p:nvSpPr>
        <p:spPr>
          <a:xfrm>
            <a:off x="191883" y="3993719"/>
            <a:ext cx="1402080" cy="370224"/>
          </a:xfrm>
          <a:prstGeom prst="rect">
            <a:avLst/>
          </a:prstGeom>
          <a:solidFill>
            <a:srgbClr val="DAE3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爆震唯象模型</a:t>
            </a:r>
          </a:p>
        </p:txBody>
      </p:sp>
      <p:sp>
        <p:nvSpPr>
          <p:cNvPr id="25" name="矩形 24">
            <a:extLst>
              <a:ext uri="{FF2B5EF4-FFF2-40B4-BE49-F238E27FC236}">
                <a16:creationId xmlns:a16="http://schemas.microsoft.com/office/drawing/2014/main" id="{9C633BA6-CEEB-7AF9-64CE-8FB2003DF8D8}"/>
              </a:ext>
            </a:extLst>
          </p:cNvPr>
          <p:cNvSpPr/>
          <p:nvPr/>
        </p:nvSpPr>
        <p:spPr>
          <a:xfrm>
            <a:off x="1786962" y="3993719"/>
            <a:ext cx="1402080" cy="370224"/>
          </a:xfrm>
          <a:prstGeom prst="rect">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准维燃烧模型</a:t>
            </a:r>
          </a:p>
        </p:txBody>
      </p:sp>
      <p:sp>
        <p:nvSpPr>
          <p:cNvPr id="27" name="文本框 26">
            <a:extLst>
              <a:ext uri="{FF2B5EF4-FFF2-40B4-BE49-F238E27FC236}">
                <a16:creationId xmlns:a16="http://schemas.microsoft.com/office/drawing/2014/main" id="{0A134F04-9DBE-1D0A-9DED-3A947BECC174}"/>
              </a:ext>
            </a:extLst>
          </p:cNvPr>
          <p:cNvSpPr txBox="1"/>
          <p:nvPr/>
        </p:nvSpPr>
        <p:spPr>
          <a:xfrm>
            <a:off x="1482714" y="3993035"/>
            <a:ext cx="415498" cy="369332"/>
          </a:xfrm>
          <a:prstGeom prst="rect">
            <a:avLst/>
          </a:prstGeom>
          <a:noFill/>
        </p:spPr>
        <p:txBody>
          <a:bodyPr wrap="none" rtlCol="0">
            <a:spAutoFit/>
          </a:bodyPr>
          <a:lstStyle/>
          <a:p>
            <a:r>
              <a:rPr lang="zh-CN" altLang="en-US"/>
              <a:t>＋</a:t>
            </a:r>
          </a:p>
        </p:txBody>
      </p:sp>
      <p:sp>
        <p:nvSpPr>
          <p:cNvPr id="28" name="箭头: 直角上 27">
            <a:extLst>
              <a:ext uri="{FF2B5EF4-FFF2-40B4-BE49-F238E27FC236}">
                <a16:creationId xmlns:a16="http://schemas.microsoft.com/office/drawing/2014/main" id="{32D0215F-5F17-24B9-3674-C828905501DD}"/>
              </a:ext>
            </a:extLst>
          </p:cNvPr>
          <p:cNvSpPr/>
          <p:nvPr/>
        </p:nvSpPr>
        <p:spPr>
          <a:xfrm rot="5400000">
            <a:off x="2186532" y="3973354"/>
            <a:ext cx="440971" cy="1564048"/>
          </a:xfrm>
          <a:prstGeom prst="bentUpArrow">
            <a:avLst>
              <a:gd name="adj1" fmla="val 11176"/>
              <a:gd name="adj2" fmla="val 25000"/>
              <a:gd name="adj3" fmla="val 25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箭头连接符 29">
            <a:extLst>
              <a:ext uri="{FF2B5EF4-FFF2-40B4-BE49-F238E27FC236}">
                <a16:creationId xmlns:a16="http://schemas.microsoft.com/office/drawing/2014/main" id="{C156B4B3-DD59-DBD9-84A0-EC819753BAE9}"/>
              </a:ext>
            </a:extLst>
          </p:cNvPr>
          <p:cNvCxnSpPr>
            <a:cxnSpLocks/>
            <a:stCxn id="4" idx="2"/>
          </p:cNvCxnSpPr>
          <p:nvPr/>
        </p:nvCxnSpPr>
        <p:spPr>
          <a:xfrm flipH="1">
            <a:off x="1921943" y="2814269"/>
            <a:ext cx="1" cy="328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7061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754FF-CE3B-3410-E104-5BA2D3B805C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84B9A6D-D1BF-5001-C93E-31E1D6682C9B}"/>
              </a:ext>
            </a:extLst>
          </p:cNvPr>
          <p:cNvSpPr>
            <a:spLocks noGrp="1"/>
          </p:cNvSpPr>
          <p:nvPr>
            <p:ph type="title"/>
          </p:nvPr>
        </p:nvSpPr>
        <p:spPr/>
        <p:txBody>
          <a:bodyPr/>
          <a:lstStyle/>
          <a:p>
            <a:r>
              <a:rPr lang="zh-CN" altLang="en-US"/>
              <a:t>第三章：氢内燃机爆震唯象模型的构建</a:t>
            </a:r>
            <a:endParaRPr lang="zh-CN" altLang="en-US" dirty="0"/>
          </a:p>
        </p:txBody>
      </p:sp>
      <p:sp>
        <p:nvSpPr>
          <p:cNvPr id="2" name="矩形 1">
            <a:extLst>
              <a:ext uri="{FF2B5EF4-FFF2-40B4-BE49-F238E27FC236}">
                <a16:creationId xmlns:a16="http://schemas.microsoft.com/office/drawing/2014/main" id="{0A61F363-C5FD-61C0-4335-2497B341C19A}"/>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第三节：爆震模型与准维模型的在线耦合步进计算逻辑</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sp>
        <p:nvSpPr>
          <p:cNvPr id="1067" name="文本框 1066">
            <a:extLst>
              <a:ext uri="{FF2B5EF4-FFF2-40B4-BE49-F238E27FC236}">
                <a16:creationId xmlns:a16="http://schemas.microsoft.com/office/drawing/2014/main" id="{6021108D-2A98-86A9-FA44-8640F26A55D3}"/>
              </a:ext>
            </a:extLst>
          </p:cNvPr>
          <p:cNvSpPr txBox="1"/>
          <p:nvPr/>
        </p:nvSpPr>
        <p:spPr>
          <a:xfrm>
            <a:off x="6718591" y="6553360"/>
            <a:ext cx="3714121" cy="276999"/>
          </a:xfrm>
          <a:prstGeom prst="rect">
            <a:avLst/>
          </a:prstGeom>
          <a:noFill/>
        </p:spPr>
        <p:txBody>
          <a:bodyPr wrap="square">
            <a:spAutoFit/>
          </a:bodyPr>
          <a:lstStyle/>
          <a:p>
            <a:pPr algn="ctr"/>
            <a:r>
              <a:rPr lang="zh-CN" altLang="en-US" sz="1200"/>
              <a:t>图</a:t>
            </a:r>
            <a:r>
              <a:rPr lang="en-US" altLang="zh-CN" sz="1200"/>
              <a:t>3-6</a:t>
            </a:r>
            <a:r>
              <a:rPr lang="zh-CN" altLang="en-US" sz="1200"/>
              <a:t>爆震模型与准维模型的在线集成步进计算架构</a:t>
            </a:r>
          </a:p>
        </p:txBody>
      </p:sp>
      <p:grpSp>
        <p:nvGrpSpPr>
          <p:cNvPr id="8" name="组合 7">
            <a:extLst>
              <a:ext uri="{FF2B5EF4-FFF2-40B4-BE49-F238E27FC236}">
                <a16:creationId xmlns:a16="http://schemas.microsoft.com/office/drawing/2014/main" id="{9C4155A4-F570-3957-8BDD-E55667660221}"/>
              </a:ext>
            </a:extLst>
          </p:cNvPr>
          <p:cNvGrpSpPr/>
          <p:nvPr/>
        </p:nvGrpSpPr>
        <p:grpSpPr>
          <a:xfrm>
            <a:off x="1827749" y="1543389"/>
            <a:ext cx="9132356" cy="4833655"/>
            <a:chOff x="1827749" y="1543389"/>
            <a:chExt cx="9132356" cy="4833655"/>
          </a:xfrm>
        </p:grpSpPr>
        <p:pic>
          <p:nvPicPr>
            <p:cNvPr id="1066" name="图片 1065">
              <a:extLst>
                <a:ext uri="{FF2B5EF4-FFF2-40B4-BE49-F238E27FC236}">
                  <a16:creationId xmlns:a16="http://schemas.microsoft.com/office/drawing/2014/main" id="{62BB437B-FEAF-C9E2-FE89-1532284DF71A}"/>
                </a:ext>
              </a:extLst>
            </p:cNvPr>
            <p:cNvPicPr>
              <a:picLocks noChangeAspect="1"/>
            </p:cNvPicPr>
            <p:nvPr/>
          </p:nvPicPr>
          <p:blipFill>
            <a:blip r:embed="rId3"/>
            <a:stretch>
              <a:fillRect/>
            </a:stretch>
          </p:blipFill>
          <p:spPr>
            <a:xfrm>
              <a:off x="1923727" y="1543389"/>
              <a:ext cx="8626167" cy="4234491"/>
            </a:xfrm>
            <a:prstGeom prst="rect">
              <a:avLst/>
            </a:prstGeom>
          </p:spPr>
        </p:pic>
        <p:sp>
          <p:nvSpPr>
            <p:cNvPr id="15" name="矩形 14">
              <a:extLst>
                <a:ext uri="{FF2B5EF4-FFF2-40B4-BE49-F238E27FC236}">
                  <a16:creationId xmlns:a16="http://schemas.microsoft.com/office/drawing/2014/main" id="{68CE46D3-6C6C-4F7E-2DD6-9B620879B515}"/>
                </a:ext>
              </a:extLst>
            </p:cNvPr>
            <p:cNvSpPr/>
            <p:nvPr/>
          </p:nvSpPr>
          <p:spPr>
            <a:xfrm>
              <a:off x="1961780" y="6016834"/>
              <a:ext cx="2531561" cy="360207"/>
            </a:xfrm>
            <a:prstGeom prst="rect">
              <a:avLst/>
            </a:prstGeom>
            <a:solidFill>
              <a:srgbClr val="DAE3F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压缩期</a:t>
              </a:r>
            </a:p>
          </p:txBody>
        </p:sp>
        <p:sp>
          <p:nvSpPr>
            <p:cNvPr id="16" name="矩形 15">
              <a:extLst>
                <a:ext uri="{FF2B5EF4-FFF2-40B4-BE49-F238E27FC236}">
                  <a16:creationId xmlns:a16="http://schemas.microsoft.com/office/drawing/2014/main" id="{EA810B4B-912C-3577-7F1F-B2714C6A3C07}"/>
                </a:ext>
              </a:extLst>
            </p:cNvPr>
            <p:cNvSpPr/>
            <p:nvPr/>
          </p:nvSpPr>
          <p:spPr>
            <a:xfrm>
              <a:off x="4493342" y="6016835"/>
              <a:ext cx="925424" cy="360207"/>
            </a:xfrm>
            <a:prstGeom prst="rect">
              <a:avLst/>
            </a:prstGeom>
            <a:solidFill>
              <a:srgbClr val="DAE3F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点火延迟</a:t>
              </a:r>
            </a:p>
          </p:txBody>
        </p:sp>
        <p:sp>
          <p:nvSpPr>
            <p:cNvPr id="17" name="矩形 16">
              <a:extLst>
                <a:ext uri="{FF2B5EF4-FFF2-40B4-BE49-F238E27FC236}">
                  <a16:creationId xmlns:a16="http://schemas.microsoft.com/office/drawing/2014/main" id="{10A127CA-4B6C-B2CB-BB75-AB40C6AF9F3B}"/>
                </a:ext>
              </a:extLst>
            </p:cNvPr>
            <p:cNvSpPr/>
            <p:nvPr/>
          </p:nvSpPr>
          <p:spPr>
            <a:xfrm>
              <a:off x="5418766" y="6016833"/>
              <a:ext cx="2112744" cy="360209"/>
            </a:xfrm>
            <a:prstGeom prst="rect">
              <a:avLst/>
            </a:prstGeom>
            <a:solidFill>
              <a:srgbClr val="FBE5D6"/>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燃烧期</a:t>
              </a:r>
            </a:p>
          </p:txBody>
        </p:sp>
        <p:sp>
          <p:nvSpPr>
            <p:cNvPr id="18" name="矩形 17">
              <a:extLst>
                <a:ext uri="{FF2B5EF4-FFF2-40B4-BE49-F238E27FC236}">
                  <a16:creationId xmlns:a16="http://schemas.microsoft.com/office/drawing/2014/main" id="{C748CD88-3F7F-CB0C-C2D3-DE848FC74A3B}"/>
                </a:ext>
              </a:extLst>
            </p:cNvPr>
            <p:cNvSpPr/>
            <p:nvPr/>
          </p:nvSpPr>
          <p:spPr>
            <a:xfrm>
              <a:off x="7531510" y="6016834"/>
              <a:ext cx="3018384" cy="360210"/>
            </a:xfrm>
            <a:prstGeom prst="rect">
              <a:avLst/>
            </a:prstGeom>
            <a:solidFill>
              <a:srgbClr val="DAE3F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膨胀期</a:t>
              </a:r>
              <a:endParaRPr lang="zh-CN" altLang="en-US" sz="1400" dirty="0">
                <a:solidFill>
                  <a:schemeClr val="tx1"/>
                </a:solidFill>
              </a:endParaRPr>
            </a:p>
          </p:txBody>
        </p:sp>
        <p:sp>
          <p:nvSpPr>
            <p:cNvPr id="20" name="文本框 19">
              <a:extLst>
                <a:ext uri="{FF2B5EF4-FFF2-40B4-BE49-F238E27FC236}">
                  <a16:creationId xmlns:a16="http://schemas.microsoft.com/office/drawing/2014/main" id="{9345125B-4BFE-3AEF-D66A-618F69D05E15}"/>
                </a:ext>
              </a:extLst>
            </p:cNvPr>
            <p:cNvSpPr txBox="1"/>
            <p:nvPr/>
          </p:nvSpPr>
          <p:spPr>
            <a:xfrm>
              <a:off x="1827749" y="5739833"/>
              <a:ext cx="820423" cy="276999"/>
            </a:xfrm>
            <a:prstGeom prst="rect">
              <a:avLst/>
            </a:prstGeom>
            <a:noFill/>
          </p:spPr>
          <p:txBody>
            <a:bodyPr wrap="square">
              <a:spAutoFit/>
            </a:bodyPr>
            <a:lstStyle/>
            <a:p>
              <a:r>
                <a:rPr lang="el-GR" altLang="zh-CN" sz="1200" dirty="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200" dirty="0">
                  <a:latin typeface="Times New Roman" panose="02020603050405020304" pitchFamily="18" charset="0"/>
                  <a:ea typeface="MS PGothic" panose="020B0600070205080204" pitchFamily="34" charset="-128"/>
                  <a:cs typeface="Times New Roman" panose="02020603050405020304" pitchFamily="18" charset="0"/>
                </a:rPr>
                <a:t>_IVC</a:t>
              </a:r>
              <a:endParaRPr lang="zh-CN" altLang="en-US" sz="1200"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497B7294-318B-7F95-24B2-DBF2613A7A73}"/>
                </a:ext>
              </a:extLst>
            </p:cNvPr>
            <p:cNvSpPr txBox="1"/>
            <p:nvPr/>
          </p:nvSpPr>
          <p:spPr>
            <a:xfrm>
              <a:off x="10139682" y="5739834"/>
              <a:ext cx="820423" cy="276999"/>
            </a:xfrm>
            <a:prstGeom prst="rect">
              <a:avLst/>
            </a:prstGeom>
            <a:noFill/>
          </p:spPr>
          <p:txBody>
            <a:bodyPr wrap="square">
              <a:spAutoFit/>
            </a:bodyPr>
            <a:lstStyle/>
            <a:p>
              <a:r>
                <a:rPr lang="el-GR" altLang="zh-CN" sz="120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200">
                  <a:latin typeface="Times New Roman" panose="02020603050405020304" pitchFamily="18" charset="0"/>
                  <a:ea typeface="MS PGothic" panose="020B0600070205080204" pitchFamily="34" charset="-128"/>
                  <a:cs typeface="Times New Roman" panose="02020603050405020304" pitchFamily="18" charset="0"/>
                </a:rPr>
                <a:t>_EVO</a:t>
              </a:r>
              <a:endParaRPr lang="zh-CN" altLang="en-US" sz="12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19808996-72CE-854C-5B00-DB74C6023E9B}"/>
                </a:ext>
              </a:extLst>
            </p:cNvPr>
            <p:cNvSpPr txBox="1"/>
            <p:nvPr/>
          </p:nvSpPr>
          <p:spPr>
            <a:xfrm>
              <a:off x="4290573" y="5724444"/>
              <a:ext cx="528037" cy="276999"/>
            </a:xfrm>
            <a:prstGeom prst="rect">
              <a:avLst/>
            </a:prstGeom>
            <a:noFill/>
          </p:spPr>
          <p:txBody>
            <a:bodyPr wrap="square">
              <a:spAutoFit/>
            </a:bodyPr>
            <a:lstStyle/>
            <a:p>
              <a:r>
                <a:rPr lang="el-GR" altLang="zh-CN" sz="1200" dirty="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200" dirty="0">
                  <a:latin typeface="Times New Roman" panose="02020603050405020304" pitchFamily="18" charset="0"/>
                  <a:ea typeface="MS PGothic" panose="020B0600070205080204" pitchFamily="34" charset="-128"/>
                  <a:cs typeface="Times New Roman" panose="02020603050405020304" pitchFamily="18" charset="0"/>
                </a:rPr>
                <a:t>_</a:t>
              </a:r>
              <a:r>
                <a:rPr lang="en-US" altLang="zh-CN" sz="1200" dirty="0" err="1">
                  <a:latin typeface="Times New Roman" panose="02020603050405020304" pitchFamily="18" charset="0"/>
                  <a:ea typeface="MS PGothic" panose="020B0600070205080204" pitchFamily="34" charset="-128"/>
                  <a:cs typeface="Times New Roman" panose="02020603050405020304" pitchFamily="18" charset="0"/>
                </a:rPr>
                <a:t>i</a:t>
              </a:r>
              <a:endParaRPr lang="zh-CN" altLang="en-US" sz="12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6ABD4004-2099-DDB2-F4D7-F395C2B43C57}"/>
                </a:ext>
              </a:extLst>
            </p:cNvPr>
            <p:cNvSpPr txBox="1"/>
            <p:nvPr/>
          </p:nvSpPr>
          <p:spPr>
            <a:xfrm>
              <a:off x="5152089" y="5739832"/>
              <a:ext cx="716890" cy="276999"/>
            </a:xfrm>
            <a:prstGeom prst="rect">
              <a:avLst/>
            </a:prstGeom>
            <a:noFill/>
          </p:spPr>
          <p:txBody>
            <a:bodyPr wrap="square">
              <a:spAutoFit/>
            </a:bodyPr>
            <a:lstStyle/>
            <a:p>
              <a:r>
                <a:rPr lang="el-GR" altLang="zh-CN" sz="1200" dirty="0">
                  <a:latin typeface="Times New Roman" panose="02020603050405020304" pitchFamily="18" charset="0"/>
                  <a:ea typeface="MS PGothic" panose="020B0600070205080204" pitchFamily="34" charset="-128"/>
                  <a:cs typeface="Times New Roman" panose="02020603050405020304" pitchFamily="18" charset="0"/>
                </a:rPr>
                <a:t>θ</a:t>
              </a:r>
              <a:r>
                <a:rPr lang="en-US" altLang="zh-CN" sz="1200" dirty="0">
                  <a:latin typeface="Times New Roman" panose="02020603050405020304" pitchFamily="18" charset="0"/>
                  <a:ea typeface="MS PGothic" panose="020B0600070205080204" pitchFamily="34" charset="-128"/>
                  <a:cs typeface="Times New Roman" panose="02020603050405020304" pitchFamily="18" charset="0"/>
                </a:rPr>
                <a:t>_</a:t>
              </a:r>
              <a:r>
                <a:rPr lang="en-US" altLang="zh-CN" sz="1200" dirty="0" err="1">
                  <a:latin typeface="Times New Roman" panose="02020603050405020304" pitchFamily="18" charset="0"/>
                  <a:ea typeface="MS PGothic" panose="020B0600070205080204" pitchFamily="34" charset="-128"/>
                  <a:cs typeface="Times New Roman" panose="02020603050405020304" pitchFamily="18" charset="0"/>
                </a:rPr>
                <a:t>Ign</a:t>
              </a:r>
              <a:endParaRPr lang="zh-CN" altLang="en-US" sz="12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AB20C366-AF07-BBC8-E2BE-A57B3E121451}"/>
                </a:ext>
              </a:extLst>
            </p:cNvPr>
            <p:cNvSpPr txBox="1"/>
            <p:nvPr/>
          </p:nvSpPr>
          <p:spPr>
            <a:xfrm>
              <a:off x="7030216" y="5739831"/>
              <a:ext cx="1335595" cy="276999"/>
            </a:xfrm>
            <a:prstGeom prst="rect">
              <a:avLst/>
            </a:prstGeom>
            <a:noFill/>
          </p:spPr>
          <p:txBody>
            <a:bodyPr wrap="square">
              <a:spAutoFit/>
            </a:bodyPr>
            <a:lstStyle/>
            <a:p>
              <a:r>
                <a:rPr lang="en-US" altLang="zh-CN" sz="1200" dirty="0" err="1">
                  <a:latin typeface="Times New Roman" panose="02020603050405020304" pitchFamily="18" charset="0"/>
                  <a:ea typeface="MS PGothic" panose="020B0600070205080204" pitchFamily="34" charset="-128"/>
                  <a:cs typeface="Times New Roman" panose="02020603050405020304" pitchFamily="18" charset="0"/>
                </a:rPr>
                <a:t>Af</a:t>
              </a:r>
              <a:r>
                <a:rPr lang="en-US" altLang="zh-CN" sz="1200" dirty="0">
                  <a:latin typeface="Times New Roman" panose="02020603050405020304" pitchFamily="18" charset="0"/>
                  <a:ea typeface="MS PGothic" panose="020B0600070205080204" pitchFamily="34" charset="-128"/>
                  <a:cs typeface="Times New Roman" panose="02020603050405020304" pitchFamily="18" charset="0"/>
                </a:rPr>
                <a:t>=0</a:t>
              </a:r>
              <a:r>
                <a:rPr lang="zh-CN" altLang="en-US" sz="1200" dirty="0">
                  <a:latin typeface="Times New Roman" panose="02020603050405020304" pitchFamily="18" charset="0"/>
                  <a:ea typeface="MS PGothic" panose="020B0600070205080204" pitchFamily="34" charset="-128"/>
                  <a:cs typeface="Times New Roman" panose="02020603050405020304" pitchFamily="18" charset="0"/>
                </a:rPr>
                <a:t>或</a:t>
              </a:r>
              <a:r>
                <a:rPr lang="en-US" altLang="zh-CN" sz="1200" dirty="0" err="1">
                  <a:latin typeface="Times New Roman" panose="02020603050405020304" pitchFamily="18" charset="0"/>
                  <a:ea typeface="MS PGothic" panose="020B0600070205080204" pitchFamily="34" charset="-128"/>
                  <a:cs typeface="Times New Roman" panose="02020603050405020304" pitchFamily="18" charset="0"/>
                </a:rPr>
                <a:t>Xb</a:t>
              </a:r>
              <a:r>
                <a:rPr lang="en-US" altLang="zh-CN" sz="1200" dirty="0">
                  <a:latin typeface="Times New Roman" panose="02020603050405020304" pitchFamily="18" charset="0"/>
                  <a:ea typeface="MS PGothic" panose="020B0600070205080204" pitchFamily="34" charset="-128"/>
                  <a:cs typeface="Times New Roman" panose="02020603050405020304" pitchFamily="18" charset="0"/>
                </a:rPr>
                <a:t>=1</a:t>
              </a:r>
              <a:endParaRPr lang="zh-CN" altLang="en-US" sz="1200" dirty="0">
                <a:latin typeface="Times New Roman" panose="02020603050405020304" pitchFamily="18" charset="0"/>
                <a:ea typeface="MS PGothic" panose="020B0600070205080204" pitchFamily="34" charset="-128"/>
                <a:cs typeface="Times New Roman" panose="02020603050405020304" pitchFamily="18" charset="0"/>
              </a:endParaRPr>
            </a:p>
          </p:txBody>
        </p:sp>
      </p:grpSp>
    </p:spTree>
    <p:extLst>
      <p:ext uri="{BB962C8B-B14F-4D97-AF65-F5344CB8AC3E}">
        <p14:creationId xmlns:p14="http://schemas.microsoft.com/office/powerpoint/2010/main" val="2733856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5AD08-A7A5-5FB1-477F-0F4891E911F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6061394-5060-8B74-396B-95F4260ABFCF}"/>
              </a:ext>
            </a:extLst>
          </p:cNvPr>
          <p:cNvSpPr>
            <a:spLocks noGrp="1"/>
          </p:cNvSpPr>
          <p:nvPr>
            <p:ph type="title"/>
          </p:nvPr>
        </p:nvSpPr>
        <p:spPr/>
        <p:txBody>
          <a:bodyPr/>
          <a:lstStyle/>
          <a:p>
            <a:r>
              <a:rPr lang="zh-CN" altLang="en-US"/>
              <a:t>目录</a:t>
            </a:r>
            <a:endParaRPr lang="zh-CN" altLang="en-US" dirty="0"/>
          </a:p>
        </p:txBody>
      </p:sp>
      <p:grpSp>
        <p:nvGrpSpPr>
          <p:cNvPr id="5" name="组合 4">
            <a:extLst>
              <a:ext uri="{FF2B5EF4-FFF2-40B4-BE49-F238E27FC236}">
                <a16:creationId xmlns:a16="http://schemas.microsoft.com/office/drawing/2014/main" id="{A94E4F07-AE9A-6433-1012-CD5BBBC4F025}"/>
              </a:ext>
            </a:extLst>
          </p:cNvPr>
          <p:cNvGrpSpPr/>
          <p:nvPr/>
        </p:nvGrpSpPr>
        <p:grpSpPr>
          <a:xfrm>
            <a:off x="2897226" y="2013783"/>
            <a:ext cx="6967210" cy="2830434"/>
            <a:chOff x="2767917" y="1781591"/>
            <a:chExt cx="17305538" cy="2830434"/>
          </a:xfrm>
        </p:grpSpPr>
        <p:sp>
          <p:nvSpPr>
            <p:cNvPr id="6" name="矩形 5">
              <a:extLst>
                <a:ext uri="{FF2B5EF4-FFF2-40B4-BE49-F238E27FC236}">
                  <a16:creationId xmlns:a16="http://schemas.microsoft.com/office/drawing/2014/main" id="{803F0A0D-E7DF-AA41-A3F4-DD430B2DF2EA}"/>
                </a:ext>
              </a:extLst>
            </p:cNvPr>
            <p:cNvSpPr/>
            <p:nvPr/>
          </p:nvSpPr>
          <p:spPr>
            <a:xfrm>
              <a:off x="2767920" y="178159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第一章：绪论</a:t>
              </a:r>
              <a:endParaRPr lang="zh-CN" altLang="en-US"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7" name="矩形 6">
              <a:extLst>
                <a:ext uri="{FF2B5EF4-FFF2-40B4-BE49-F238E27FC236}">
                  <a16:creationId xmlns:a16="http://schemas.microsoft.com/office/drawing/2014/main" id="{C4DADB27-C3A6-7FF2-2914-0A4EACDC4560}"/>
                </a:ext>
              </a:extLst>
            </p:cNvPr>
            <p:cNvSpPr/>
            <p:nvPr/>
          </p:nvSpPr>
          <p:spPr>
            <a:xfrm>
              <a:off x="2767919" y="237087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第二章：氢内燃机准维燃烧模型的构建</a:t>
              </a:r>
              <a:endParaRPr lang="zh-CN" altLang="zh-CN"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8" name="矩形 7">
              <a:extLst>
                <a:ext uri="{FF2B5EF4-FFF2-40B4-BE49-F238E27FC236}">
                  <a16:creationId xmlns:a16="http://schemas.microsoft.com/office/drawing/2014/main" id="{A792B26B-CAEB-2BF5-3772-7B27B74F24B8}"/>
                </a:ext>
              </a:extLst>
            </p:cNvPr>
            <p:cNvSpPr/>
            <p:nvPr/>
          </p:nvSpPr>
          <p:spPr>
            <a:xfrm>
              <a:off x="2767919" y="296015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第三章：氢内燃机爆震唯象模型的构建</a:t>
              </a:r>
              <a:endParaRPr lang="zh-CN" altLang="en-US"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10" name="矩形 9">
              <a:extLst>
                <a:ext uri="{FF2B5EF4-FFF2-40B4-BE49-F238E27FC236}">
                  <a16:creationId xmlns:a16="http://schemas.microsoft.com/office/drawing/2014/main" id="{7678DB6A-06BA-1C5F-C8E4-565AA0E72EF5}"/>
                </a:ext>
              </a:extLst>
            </p:cNvPr>
            <p:cNvSpPr/>
            <p:nvPr/>
          </p:nvSpPr>
          <p:spPr>
            <a:xfrm>
              <a:off x="2767917" y="3549431"/>
              <a:ext cx="1730553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C00000"/>
                  </a:solidFill>
                  <a:latin typeface="Times New Roman" panose="02020603050405020304" pitchFamily="18" charset="0"/>
                  <a:ea typeface="微软雅黑" panose="020B0503020204020204" pitchFamily="34" charset="-122"/>
                  <a:cs typeface="+mn-ea"/>
                </a:rPr>
                <a:t>第四章：氢内燃机燃烧与爆震模型的标定与验证</a:t>
              </a:r>
              <a:endParaRPr lang="zh-CN" altLang="en-US" sz="2400" b="1" dirty="0">
                <a:solidFill>
                  <a:srgbClr val="C00000"/>
                </a:solidFill>
                <a:latin typeface="Times New Roman" panose="02020603050405020304" pitchFamily="18" charset="0"/>
                <a:ea typeface="微软雅黑" panose="020B0503020204020204" pitchFamily="34" charset="-122"/>
                <a:cs typeface="+mn-ea"/>
              </a:endParaRPr>
            </a:p>
          </p:txBody>
        </p:sp>
        <p:sp>
          <p:nvSpPr>
            <p:cNvPr id="11" name="矩形 10">
              <a:extLst>
                <a:ext uri="{FF2B5EF4-FFF2-40B4-BE49-F238E27FC236}">
                  <a16:creationId xmlns:a16="http://schemas.microsoft.com/office/drawing/2014/main" id="{4CC5B0DC-AB62-C9E4-35BD-C53EEA2D073D}"/>
                </a:ext>
              </a:extLst>
            </p:cNvPr>
            <p:cNvSpPr/>
            <p:nvPr/>
          </p:nvSpPr>
          <p:spPr>
            <a:xfrm>
              <a:off x="2767917" y="4150360"/>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第五章：总结与展望</a:t>
              </a:r>
              <a:endParaRPr lang="zh-CN" altLang="en-US" sz="2400" b="1" dirty="0">
                <a:solidFill>
                  <a:srgbClr val="004A98"/>
                </a:solidFill>
                <a:latin typeface="Times New Roman" panose="02020603050405020304" pitchFamily="18" charset="0"/>
                <a:ea typeface="微软雅黑" panose="020B0503020204020204" pitchFamily="34" charset="-122"/>
                <a:cs typeface="+mn-ea"/>
              </a:endParaRPr>
            </a:p>
          </p:txBody>
        </p:sp>
      </p:grpSp>
    </p:spTree>
    <p:extLst>
      <p:ext uri="{BB962C8B-B14F-4D97-AF65-F5344CB8AC3E}">
        <p14:creationId xmlns:p14="http://schemas.microsoft.com/office/powerpoint/2010/main" val="548778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12503-0146-FFE4-16ED-74AE622EA094}"/>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B5A17CD1-17F4-35DA-44A5-6AAA22D272E6}"/>
              </a:ext>
            </a:extLst>
          </p:cNvPr>
          <p:cNvPicPr>
            <a:picLocks noChangeAspect="1"/>
          </p:cNvPicPr>
          <p:nvPr/>
        </p:nvPicPr>
        <p:blipFill>
          <a:blip r:embed="rId3"/>
          <a:stretch>
            <a:fillRect/>
          </a:stretch>
        </p:blipFill>
        <p:spPr>
          <a:xfrm>
            <a:off x="8851268" y="2503485"/>
            <a:ext cx="2831814" cy="1824947"/>
          </a:xfrm>
          <a:prstGeom prst="rect">
            <a:avLst/>
          </a:prstGeom>
        </p:spPr>
      </p:pic>
      <p:graphicFrame>
        <p:nvGraphicFramePr>
          <p:cNvPr id="39" name="表格 38">
            <a:extLst>
              <a:ext uri="{FF2B5EF4-FFF2-40B4-BE49-F238E27FC236}">
                <a16:creationId xmlns:a16="http://schemas.microsoft.com/office/drawing/2014/main" id="{22D62BA6-A1E1-09C1-50A1-A2AD54BA17B8}"/>
              </a:ext>
            </a:extLst>
          </p:cNvPr>
          <p:cNvGraphicFramePr>
            <a:graphicFrameLocks noGrp="1"/>
          </p:cNvGraphicFramePr>
          <p:nvPr>
            <p:extLst>
              <p:ext uri="{D42A27DB-BD31-4B8C-83A1-F6EECF244321}">
                <p14:modId xmlns:p14="http://schemas.microsoft.com/office/powerpoint/2010/main" val="1255279458"/>
              </p:ext>
            </p:extLst>
          </p:nvPr>
        </p:nvGraphicFramePr>
        <p:xfrm>
          <a:off x="710747" y="1723782"/>
          <a:ext cx="4809549" cy="2275840"/>
        </p:xfrm>
        <a:graphic>
          <a:graphicData uri="http://schemas.openxmlformats.org/drawingml/2006/table">
            <a:tbl>
              <a:tblPr firstRow="1" bandRow="1">
                <a:tableStyleId>{5C22544A-7EE6-4342-B048-85BDC9FD1C3A}</a:tableStyleId>
              </a:tblPr>
              <a:tblGrid>
                <a:gridCol w="1494449">
                  <a:extLst>
                    <a:ext uri="{9D8B030D-6E8A-4147-A177-3AD203B41FA5}">
                      <a16:colId xmlns:a16="http://schemas.microsoft.com/office/drawing/2014/main" val="3229493024"/>
                    </a:ext>
                  </a:extLst>
                </a:gridCol>
                <a:gridCol w="1546302">
                  <a:extLst>
                    <a:ext uri="{9D8B030D-6E8A-4147-A177-3AD203B41FA5}">
                      <a16:colId xmlns:a16="http://schemas.microsoft.com/office/drawing/2014/main" val="4023956501"/>
                    </a:ext>
                  </a:extLst>
                </a:gridCol>
                <a:gridCol w="765717">
                  <a:extLst>
                    <a:ext uri="{9D8B030D-6E8A-4147-A177-3AD203B41FA5}">
                      <a16:colId xmlns:a16="http://schemas.microsoft.com/office/drawing/2014/main" val="2207814937"/>
                    </a:ext>
                  </a:extLst>
                </a:gridCol>
                <a:gridCol w="1003081">
                  <a:extLst>
                    <a:ext uri="{9D8B030D-6E8A-4147-A177-3AD203B41FA5}">
                      <a16:colId xmlns:a16="http://schemas.microsoft.com/office/drawing/2014/main" val="551943108"/>
                    </a:ext>
                  </a:extLst>
                </a:gridCol>
              </a:tblGrid>
              <a:tr h="257803">
                <a:tc>
                  <a:txBody>
                    <a:bodyPr/>
                    <a:lstStyle/>
                    <a:p>
                      <a:pPr algn="ctr">
                        <a:buNone/>
                      </a:pPr>
                      <a:r>
                        <a:rPr lang="zh-CN" altLang="en-US" sz="1200" b="0">
                          <a:solidFill>
                            <a:schemeClr val="tx1"/>
                          </a:solidFill>
                          <a:effectLst/>
                          <a:latin typeface="+mn-ea"/>
                          <a:ea typeface="+mn-ea"/>
                        </a:rPr>
                        <a:t>参数名称</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200" b="0">
                          <a:solidFill>
                            <a:schemeClr val="tx1"/>
                          </a:solidFill>
                          <a:effectLst/>
                          <a:latin typeface="+mn-ea"/>
                          <a:ea typeface="+mn-ea"/>
                        </a:rPr>
                        <a:t>物理符号</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200" b="0">
                          <a:solidFill>
                            <a:schemeClr val="tx1"/>
                          </a:solidFill>
                          <a:effectLst/>
                          <a:latin typeface="+mn-ea"/>
                          <a:ea typeface="+mn-ea"/>
                        </a:rPr>
                        <a:t>数值</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200" b="0">
                          <a:solidFill>
                            <a:schemeClr val="tx1"/>
                          </a:solidFill>
                          <a:effectLst/>
                          <a:latin typeface="+mn-ea"/>
                          <a:ea typeface="+mn-ea"/>
                        </a:rPr>
                        <a:t>单位</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366305"/>
                  </a:ext>
                </a:extLst>
              </a:tr>
              <a:tr h="257803">
                <a:tc>
                  <a:txBody>
                    <a:bodyPr/>
                    <a:lstStyle/>
                    <a:p>
                      <a:pPr algn="ctr">
                        <a:buNone/>
                      </a:pPr>
                      <a:r>
                        <a:rPr lang="zh-CN" altLang="en-US" sz="1200" b="0">
                          <a:solidFill>
                            <a:schemeClr val="tx1"/>
                          </a:solidFill>
                          <a:effectLst/>
                          <a:latin typeface="+mn-ea"/>
                          <a:ea typeface="+mn-ea"/>
                        </a:rPr>
                        <a:t>气缸直径（缸径）</a:t>
                      </a:r>
                    </a:p>
                  </a:txBody>
                  <a:tcPr marL="50800" marR="50800" marT="50800" marB="5080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D</a:t>
                      </a:r>
                    </a:p>
                  </a:txBody>
                  <a:tcPr marL="50800" marR="50800" marT="50800" marB="5080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altLang="zh-CN" sz="1200" b="0">
                          <a:solidFill>
                            <a:schemeClr val="tx1"/>
                          </a:solidFill>
                          <a:effectLst/>
                          <a:latin typeface="+mn-ea"/>
                          <a:ea typeface="+mn-ea"/>
                        </a:rPr>
                        <a:t>131</a:t>
                      </a:r>
                    </a:p>
                  </a:txBody>
                  <a:tcPr marL="50800" marR="50800" marT="50800" marB="5080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mm</a:t>
                      </a:r>
                    </a:p>
                  </a:txBody>
                  <a:tcPr marL="50800" marR="50800" marT="50800" marB="5080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89529018"/>
                  </a:ext>
                </a:extLst>
              </a:tr>
              <a:tr h="257803">
                <a:tc>
                  <a:txBody>
                    <a:bodyPr/>
                    <a:lstStyle/>
                    <a:p>
                      <a:pPr algn="ctr">
                        <a:buNone/>
                      </a:pPr>
                      <a:r>
                        <a:rPr lang="zh-CN" altLang="en-US" sz="1200" b="0">
                          <a:solidFill>
                            <a:schemeClr val="tx1"/>
                          </a:solidFill>
                          <a:effectLst/>
                          <a:latin typeface="+mn-ea"/>
                          <a:ea typeface="+mn-ea"/>
                        </a:rPr>
                        <a:t>气缸半径</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Rc​</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altLang="zh-CN" sz="1200" b="0">
                          <a:solidFill>
                            <a:schemeClr val="tx1"/>
                          </a:solidFill>
                          <a:effectLst/>
                          <a:latin typeface="+mn-ea"/>
                          <a:ea typeface="+mn-ea"/>
                        </a:rPr>
                        <a:t>65.5</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mm</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96811633"/>
                  </a:ext>
                </a:extLst>
              </a:tr>
              <a:tr h="257803">
                <a:tc>
                  <a:txBody>
                    <a:bodyPr/>
                    <a:lstStyle/>
                    <a:p>
                      <a:pPr algn="ctr">
                        <a:buNone/>
                      </a:pPr>
                      <a:r>
                        <a:rPr lang="zh-CN" altLang="en-US" sz="1200" b="0">
                          <a:solidFill>
                            <a:schemeClr val="tx1"/>
                          </a:solidFill>
                          <a:effectLst/>
                          <a:latin typeface="+mn-ea"/>
                          <a:ea typeface="+mn-ea"/>
                        </a:rPr>
                        <a:t>活塞行程</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S</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altLang="zh-CN" sz="1200" b="0">
                          <a:solidFill>
                            <a:schemeClr val="tx1"/>
                          </a:solidFill>
                          <a:effectLst/>
                          <a:latin typeface="+mn-ea"/>
                          <a:ea typeface="+mn-ea"/>
                        </a:rPr>
                        <a:t>160</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mm</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715440964"/>
                  </a:ext>
                </a:extLst>
              </a:tr>
              <a:tr h="257803">
                <a:tc>
                  <a:txBody>
                    <a:bodyPr/>
                    <a:lstStyle/>
                    <a:p>
                      <a:pPr algn="ctr">
                        <a:buNone/>
                      </a:pPr>
                      <a:r>
                        <a:rPr lang="zh-CN" altLang="en-US" sz="1200" b="0">
                          <a:solidFill>
                            <a:schemeClr val="tx1"/>
                          </a:solidFill>
                          <a:effectLst/>
                          <a:latin typeface="+mn-ea"/>
                          <a:ea typeface="+mn-ea"/>
                        </a:rPr>
                        <a:t>连杆长度</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ConnRod_length</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altLang="zh-CN" sz="1200" b="0">
                          <a:solidFill>
                            <a:schemeClr val="tx1"/>
                          </a:solidFill>
                          <a:effectLst/>
                          <a:latin typeface="+mn-ea"/>
                          <a:ea typeface="+mn-ea"/>
                        </a:rPr>
                        <a:t>257</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mm</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763803987"/>
                  </a:ext>
                </a:extLst>
              </a:tr>
              <a:tr h="257803">
                <a:tc>
                  <a:txBody>
                    <a:bodyPr/>
                    <a:lstStyle/>
                    <a:p>
                      <a:pPr algn="ctr">
                        <a:buNone/>
                      </a:pPr>
                      <a:r>
                        <a:rPr lang="zh-CN" altLang="en-US" sz="1200" b="0">
                          <a:solidFill>
                            <a:schemeClr val="tx1"/>
                          </a:solidFill>
                          <a:effectLst/>
                          <a:latin typeface="+mn-ea"/>
                          <a:ea typeface="+mn-ea"/>
                        </a:rPr>
                        <a:t>曲柄半径</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Rcrank​</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altLang="zh-CN" sz="1200" b="0">
                          <a:solidFill>
                            <a:schemeClr val="tx1"/>
                          </a:solidFill>
                          <a:effectLst/>
                          <a:latin typeface="+mn-ea"/>
                          <a:ea typeface="+mn-ea"/>
                        </a:rPr>
                        <a:t>80</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b="0">
                          <a:solidFill>
                            <a:schemeClr val="tx1"/>
                          </a:solidFill>
                          <a:effectLst/>
                          <a:latin typeface="+mn-ea"/>
                          <a:ea typeface="+mn-ea"/>
                        </a:rPr>
                        <a:t>mm</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914106263"/>
                  </a:ext>
                </a:extLst>
              </a:tr>
              <a:tr h="257803">
                <a:tc>
                  <a:txBody>
                    <a:bodyPr/>
                    <a:lstStyle/>
                    <a:p>
                      <a:pPr algn="ctr">
                        <a:buNone/>
                      </a:pPr>
                      <a:r>
                        <a:rPr lang="zh-CN" altLang="en-US" sz="1200" b="0">
                          <a:solidFill>
                            <a:schemeClr val="tx1"/>
                          </a:solidFill>
                          <a:effectLst/>
                          <a:latin typeface="+mn-ea"/>
                          <a:ea typeface="+mn-ea"/>
                        </a:rPr>
                        <a:t>曲柄连杆比</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l-GR" sz="1200" b="0">
                          <a:solidFill>
                            <a:schemeClr val="tx1"/>
                          </a:solidFill>
                          <a:effectLst/>
                          <a:latin typeface="+mn-ea"/>
                          <a:ea typeface="+mn-ea"/>
                        </a:rPr>
                        <a:t>λ</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altLang="zh-CN" sz="1200" b="0">
                          <a:solidFill>
                            <a:schemeClr val="tx1"/>
                          </a:solidFill>
                          <a:effectLst/>
                          <a:latin typeface="+mn-ea"/>
                          <a:ea typeface="+mn-ea"/>
                        </a:rPr>
                        <a:t>0.311</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altLang="zh-CN" sz="1200" b="0">
                          <a:solidFill>
                            <a:schemeClr val="tx1"/>
                          </a:solidFill>
                          <a:effectLst/>
                          <a:latin typeface="+mn-ea"/>
                          <a:ea typeface="+mn-ea"/>
                        </a:rPr>
                        <a:t>—</a:t>
                      </a:r>
                    </a:p>
                  </a:txBody>
                  <a:tcPr marL="50800" marR="50800" marT="50800" marB="508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778977464"/>
                  </a:ext>
                </a:extLst>
              </a:tr>
              <a:tr h="257803">
                <a:tc gridSpan="4">
                  <a:txBody>
                    <a:bodyPr/>
                    <a:lstStyle/>
                    <a:p>
                      <a:pPr algn="ctr">
                        <a:buNone/>
                      </a:pPr>
                      <a:r>
                        <a:rPr lang="en-US" altLang="zh-CN" sz="1200" b="0">
                          <a:solidFill>
                            <a:schemeClr val="tx1"/>
                          </a:solidFill>
                          <a:effectLst/>
                        </a:rPr>
                        <a:t>……</a:t>
                      </a:r>
                      <a:endParaRPr lang="zh-CN" altLang="en-US" sz="1200" b="0">
                        <a:solidFill>
                          <a:schemeClr val="tx1"/>
                        </a:solidFill>
                        <a:effectLst/>
                      </a:endParaRPr>
                    </a:p>
                  </a:txBody>
                  <a:tcPr marL="50800" marR="50800" marT="50800" marB="5080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buNone/>
                      </a:pPr>
                      <a:endParaRPr lang="el-GR" sz="1200" b="0">
                        <a:solidFill>
                          <a:schemeClr val="tx1"/>
                        </a:solidFill>
                        <a:effectLst/>
                      </a:endParaRPr>
                    </a:p>
                  </a:txBody>
                  <a:tcPr marL="50800" marR="50800" marT="50800" marB="5080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buNone/>
                      </a:pPr>
                      <a:endParaRPr lang="en-US" altLang="zh-CN" sz="1200" b="0">
                        <a:solidFill>
                          <a:schemeClr val="tx1"/>
                        </a:solidFill>
                        <a:effectLst/>
                      </a:endParaRPr>
                    </a:p>
                  </a:txBody>
                  <a:tcPr marL="50800" marR="50800" marT="50800" marB="5080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buNone/>
                      </a:pPr>
                      <a:endParaRPr lang="en-US" altLang="zh-CN" sz="1200" b="0">
                        <a:solidFill>
                          <a:schemeClr val="tx1"/>
                        </a:solidFill>
                        <a:effectLst/>
                      </a:endParaRPr>
                    </a:p>
                  </a:txBody>
                  <a:tcPr marL="50800" marR="50800" marT="50800" marB="50800"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620207"/>
                  </a:ext>
                </a:extLst>
              </a:tr>
            </a:tbl>
          </a:graphicData>
        </a:graphic>
      </p:graphicFrame>
      <p:sp>
        <p:nvSpPr>
          <p:cNvPr id="2" name="矩形 1">
            <a:extLst>
              <a:ext uri="{FF2B5EF4-FFF2-40B4-BE49-F238E27FC236}">
                <a16:creationId xmlns:a16="http://schemas.microsoft.com/office/drawing/2014/main" id="{2EA01464-7AAE-CB0F-6816-FA62D4EE842E}"/>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第一节：试验台架数据与工况参数</a:t>
            </a:r>
          </a:p>
        </p:txBody>
      </p:sp>
      <p:sp>
        <p:nvSpPr>
          <p:cNvPr id="3" name="标题 2">
            <a:extLst>
              <a:ext uri="{FF2B5EF4-FFF2-40B4-BE49-F238E27FC236}">
                <a16:creationId xmlns:a16="http://schemas.microsoft.com/office/drawing/2014/main" id="{056803BC-B8ED-18F9-331C-4C2E869F852C}"/>
              </a:ext>
            </a:extLst>
          </p:cNvPr>
          <p:cNvSpPr>
            <a:spLocks noGrp="1"/>
          </p:cNvSpPr>
          <p:nvPr>
            <p:ph type="title"/>
          </p:nvPr>
        </p:nvSpPr>
        <p:spPr/>
        <p:txBody>
          <a:bodyPr/>
          <a:lstStyle/>
          <a:p>
            <a:r>
              <a:rPr lang="zh-CN" altLang="en-US"/>
              <a:t>第四章：氢内燃机燃烧与爆震模型的标定与验证</a:t>
            </a:r>
            <a:endParaRPr lang="zh-CN" altLang="en-US" dirty="0"/>
          </a:p>
        </p:txBody>
      </p:sp>
      <p:sp>
        <p:nvSpPr>
          <p:cNvPr id="6" name="文本框 5">
            <a:extLst>
              <a:ext uri="{FF2B5EF4-FFF2-40B4-BE49-F238E27FC236}">
                <a16:creationId xmlns:a16="http://schemas.microsoft.com/office/drawing/2014/main" id="{C36349BF-CEE7-4C8E-BB9F-BFDEFDAD1CE8}"/>
              </a:ext>
            </a:extLst>
          </p:cNvPr>
          <p:cNvSpPr txBox="1"/>
          <p:nvPr/>
        </p:nvSpPr>
        <p:spPr>
          <a:xfrm>
            <a:off x="874419" y="1478532"/>
            <a:ext cx="4229521" cy="276999"/>
          </a:xfrm>
          <a:prstGeom prst="rect">
            <a:avLst/>
          </a:prstGeom>
          <a:noFill/>
        </p:spPr>
        <p:txBody>
          <a:bodyPr wrap="square">
            <a:spAutoFit/>
          </a:bodyPr>
          <a:lstStyle/>
          <a:p>
            <a:pPr algn="ctr"/>
            <a:r>
              <a:rPr lang="zh-CN" altLang="en-US" sz="1200"/>
              <a:t>表</a:t>
            </a:r>
            <a:r>
              <a:rPr lang="en-US" altLang="zh-CN" sz="1200"/>
              <a:t>4-1 </a:t>
            </a:r>
            <a:r>
              <a:rPr lang="zh-CN" altLang="en-US" sz="1200"/>
              <a:t>氢内燃机部分几何结构与关键物理参数</a:t>
            </a:r>
          </a:p>
        </p:txBody>
      </p:sp>
      <p:sp>
        <p:nvSpPr>
          <p:cNvPr id="9" name="文本框 8">
            <a:extLst>
              <a:ext uri="{FF2B5EF4-FFF2-40B4-BE49-F238E27FC236}">
                <a16:creationId xmlns:a16="http://schemas.microsoft.com/office/drawing/2014/main" id="{FECFB4BB-6A44-D413-EBE7-DC9035FD7B9B}"/>
              </a:ext>
            </a:extLst>
          </p:cNvPr>
          <p:cNvSpPr txBox="1"/>
          <p:nvPr/>
        </p:nvSpPr>
        <p:spPr>
          <a:xfrm>
            <a:off x="1132394" y="3999622"/>
            <a:ext cx="3713570" cy="276999"/>
          </a:xfrm>
          <a:prstGeom prst="rect">
            <a:avLst/>
          </a:prstGeom>
          <a:noFill/>
        </p:spPr>
        <p:txBody>
          <a:bodyPr wrap="square">
            <a:spAutoFit/>
          </a:bodyPr>
          <a:lstStyle/>
          <a:p>
            <a:pPr algn="ctr"/>
            <a:r>
              <a:rPr lang="zh-CN" altLang="en-US" sz="1200"/>
              <a:t>表 </a:t>
            </a:r>
            <a:r>
              <a:rPr lang="en-US" altLang="zh-CN" sz="1200"/>
              <a:t>4-2 </a:t>
            </a:r>
            <a:r>
              <a:rPr lang="zh-CN" altLang="en-US" sz="1200"/>
              <a:t>模型验证矩阵工况参数</a:t>
            </a:r>
          </a:p>
        </p:txBody>
      </p:sp>
      <p:pic>
        <p:nvPicPr>
          <p:cNvPr id="24" name="图片 23">
            <a:extLst>
              <a:ext uri="{FF2B5EF4-FFF2-40B4-BE49-F238E27FC236}">
                <a16:creationId xmlns:a16="http://schemas.microsoft.com/office/drawing/2014/main" id="{E10BFB04-35BA-3D67-C360-26E7453A1608}"/>
              </a:ext>
            </a:extLst>
          </p:cNvPr>
          <p:cNvPicPr>
            <a:picLocks noChangeAspect="1"/>
          </p:cNvPicPr>
          <p:nvPr/>
        </p:nvPicPr>
        <p:blipFill>
          <a:blip r:embed="rId4"/>
          <a:stretch>
            <a:fillRect/>
          </a:stretch>
        </p:blipFill>
        <p:spPr>
          <a:xfrm>
            <a:off x="8851414" y="4386622"/>
            <a:ext cx="2734200" cy="1775005"/>
          </a:xfrm>
          <a:prstGeom prst="rect">
            <a:avLst/>
          </a:prstGeom>
        </p:spPr>
      </p:pic>
      <p:sp>
        <p:nvSpPr>
          <p:cNvPr id="27" name="矩形 26">
            <a:extLst>
              <a:ext uri="{FF2B5EF4-FFF2-40B4-BE49-F238E27FC236}">
                <a16:creationId xmlns:a16="http://schemas.microsoft.com/office/drawing/2014/main" id="{94772C44-1C8D-849A-175E-E6C25F3E36F3}"/>
              </a:ext>
            </a:extLst>
          </p:cNvPr>
          <p:cNvSpPr/>
          <p:nvPr/>
        </p:nvSpPr>
        <p:spPr>
          <a:xfrm>
            <a:off x="10684103" y="4871295"/>
            <a:ext cx="1429519" cy="629844"/>
          </a:xfrm>
          <a:prstGeom prst="rect">
            <a:avLst/>
          </a:prstGeom>
          <a:solidFill>
            <a:srgbClr val="FFFFFF"/>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a:solidFill>
                  <a:srgbClr val="FF0000"/>
                </a:solidFill>
              </a:rPr>
              <a:t>爆震发生：</a:t>
            </a:r>
            <a:r>
              <a:rPr lang="en-US" altLang="zh-CN" sz="1100" b="1">
                <a:solidFill>
                  <a:srgbClr val="FF0000"/>
                </a:solidFill>
              </a:rPr>
              <a:t>6.6°CA</a:t>
            </a:r>
          </a:p>
          <a:p>
            <a:pPr algn="ctr"/>
            <a:r>
              <a:rPr lang="zh-CN" altLang="en-US" sz="1100" b="1">
                <a:solidFill>
                  <a:srgbClr val="FF0000"/>
                </a:solidFill>
              </a:rPr>
              <a:t>峰峰值：</a:t>
            </a:r>
            <a:r>
              <a:rPr lang="en-US" altLang="zh-CN" sz="1100" b="1">
                <a:solidFill>
                  <a:srgbClr val="FF0000"/>
                </a:solidFill>
              </a:rPr>
              <a:t>59.37bar</a:t>
            </a:r>
          </a:p>
          <a:p>
            <a:pPr algn="ctr"/>
            <a:r>
              <a:rPr lang="zh-CN" altLang="en-US" sz="1100" b="1">
                <a:solidFill>
                  <a:srgbClr val="FF0000"/>
                </a:solidFill>
              </a:rPr>
              <a:t>评定：强烈爆震</a:t>
            </a:r>
          </a:p>
        </p:txBody>
      </p:sp>
      <p:pic>
        <p:nvPicPr>
          <p:cNvPr id="29" name="图片 28">
            <a:extLst>
              <a:ext uri="{FF2B5EF4-FFF2-40B4-BE49-F238E27FC236}">
                <a16:creationId xmlns:a16="http://schemas.microsoft.com/office/drawing/2014/main" id="{BFB1C817-6D31-C07D-76D1-FF6A145A3ED0}"/>
              </a:ext>
            </a:extLst>
          </p:cNvPr>
          <p:cNvPicPr>
            <a:picLocks noChangeAspect="1"/>
          </p:cNvPicPr>
          <p:nvPr/>
        </p:nvPicPr>
        <p:blipFill>
          <a:blip r:embed="rId5"/>
          <a:stretch>
            <a:fillRect/>
          </a:stretch>
        </p:blipFill>
        <p:spPr>
          <a:xfrm>
            <a:off x="5937626" y="4384893"/>
            <a:ext cx="2780749" cy="1824947"/>
          </a:xfrm>
          <a:prstGeom prst="rect">
            <a:avLst/>
          </a:prstGeom>
        </p:spPr>
      </p:pic>
      <p:sp>
        <p:nvSpPr>
          <p:cNvPr id="30" name="矩形 29">
            <a:extLst>
              <a:ext uri="{FF2B5EF4-FFF2-40B4-BE49-F238E27FC236}">
                <a16:creationId xmlns:a16="http://schemas.microsoft.com/office/drawing/2014/main" id="{C8F75E3C-7C11-F31D-47B4-64A282486AC6}"/>
              </a:ext>
            </a:extLst>
          </p:cNvPr>
          <p:cNvSpPr/>
          <p:nvPr/>
        </p:nvSpPr>
        <p:spPr>
          <a:xfrm>
            <a:off x="5841499" y="4854721"/>
            <a:ext cx="1429519" cy="629844"/>
          </a:xfrm>
          <a:prstGeom prst="rect">
            <a:avLst/>
          </a:prstGeom>
          <a:solidFill>
            <a:srgbClr val="FFFFFF"/>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a:solidFill>
                  <a:schemeClr val="accent2"/>
                </a:solidFill>
              </a:rPr>
              <a:t>爆震发生：</a:t>
            </a:r>
            <a:r>
              <a:rPr lang="en-US" altLang="zh-CN" sz="1100" b="1">
                <a:solidFill>
                  <a:schemeClr val="accent2"/>
                </a:solidFill>
              </a:rPr>
              <a:t>-0.6°CA</a:t>
            </a:r>
          </a:p>
          <a:p>
            <a:pPr algn="ctr"/>
            <a:r>
              <a:rPr lang="zh-CN" altLang="en-US" sz="1100" b="1">
                <a:solidFill>
                  <a:schemeClr val="accent2"/>
                </a:solidFill>
              </a:rPr>
              <a:t>峰峰值：</a:t>
            </a:r>
            <a:r>
              <a:rPr lang="en-US" altLang="zh-CN" sz="1100" b="1">
                <a:solidFill>
                  <a:schemeClr val="accent2"/>
                </a:solidFill>
              </a:rPr>
              <a:t>5.80bar</a:t>
            </a:r>
          </a:p>
          <a:p>
            <a:pPr algn="ctr"/>
            <a:r>
              <a:rPr lang="zh-CN" altLang="en-US" sz="1100" b="1">
                <a:solidFill>
                  <a:schemeClr val="accent2"/>
                </a:solidFill>
              </a:rPr>
              <a:t>评定：中度爆震</a:t>
            </a:r>
          </a:p>
        </p:txBody>
      </p:sp>
      <p:sp>
        <p:nvSpPr>
          <p:cNvPr id="33" name="矩形 32">
            <a:extLst>
              <a:ext uri="{FF2B5EF4-FFF2-40B4-BE49-F238E27FC236}">
                <a16:creationId xmlns:a16="http://schemas.microsoft.com/office/drawing/2014/main" id="{A1688953-D8F9-4D4B-D5D4-F1EF98789A6F}"/>
              </a:ext>
            </a:extLst>
          </p:cNvPr>
          <p:cNvSpPr/>
          <p:nvPr/>
        </p:nvSpPr>
        <p:spPr>
          <a:xfrm>
            <a:off x="10684104" y="2883856"/>
            <a:ext cx="1429519" cy="629844"/>
          </a:xfrm>
          <a:prstGeom prst="rect">
            <a:avLst/>
          </a:prstGeom>
          <a:solidFill>
            <a:srgbClr val="FFFFFF"/>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a:solidFill>
                  <a:srgbClr val="00B050"/>
                </a:solidFill>
              </a:rPr>
              <a:t>爆震发生：</a:t>
            </a:r>
            <a:r>
              <a:rPr lang="en-US" altLang="zh-CN" sz="1100" b="1">
                <a:solidFill>
                  <a:srgbClr val="00B050"/>
                </a:solidFill>
              </a:rPr>
              <a:t>4.2°CA</a:t>
            </a:r>
          </a:p>
          <a:p>
            <a:pPr algn="ctr"/>
            <a:r>
              <a:rPr lang="zh-CN" altLang="en-US" sz="1100" b="1">
                <a:solidFill>
                  <a:srgbClr val="00B050"/>
                </a:solidFill>
              </a:rPr>
              <a:t>峰峰值：</a:t>
            </a:r>
            <a:r>
              <a:rPr lang="en-US" altLang="zh-CN" sz="1100" b="1">
                <a:solidFill>
                  <a:srgbClr val="00B050"/>
                </a:solidFill>
              </a:rPr>
              <a:t>4.16bar</a:t>
            </a:r>
          </a:p>
          <a:p>
            <a:pPr algn="ctr"/>
            <a:r>
              <a:rPr lang="zh-CN" altLang="en-US" sz="1100" b="1">
                <a:solidFill>
                  <a:srgbClr val="00B050"/>
                </a:solidFill>
              </a:rPr>
              <a:t>评定：轻微爆震</a:t>
            </a:r>
          </a:p>
        </p:txBody>
      </p:sp>
      <p:pic>
        <p:nvPicPr>
          <p:cNvPr id="35" name="图片 34">
            <a:extLst>
              <a:ext uri="{FF2B5EF4-FFF2-40B4-BE49-F238E27FC236}">
                <a16:creationId xmlns:a16="http://schemas.microsoft.com/office/drawing/2014/main" id="{A6D21B21-1C61-6B4C-0F6A-12D2D3A8B8CC}"/>
              </a:ext>
            </a:extLst>
          </p:cNvPr>
          <p:cNvPicPr>
            <a:picLocks noChangeAspect="1"/>
          </p:cNvPicPr>
          <p:nvPr/>
        </p:nvPicPr>
        <p:blipFill>
          <a:blip r:embed="rId6"/>
          <a:stretch>
            <a:fillRect/>
          </a:stretch>
        </p:blipFill>
        <p:spPr>
          <a:xfrm>
            <a:off x="5991347" y="2529568"/>
            <a:ext cx="2737623" cy="1798864"/>
          </a:xfrm>
          <a:prstGeom prst="rect">
            <a:avLst/>
          </a:prstGeom>
        </p:spPr>
      </p:pic>
      <p:sp>
        <p:nvSpPr>
          <p:cNvPr id="38" name="矩形 37">
            <a:extLst>
              <a:ext uri="{FF2B5EF4-FFF2-40B4-BE49-F238E27FC236}">
                <a16:creationId xmlns:a16="http://schemas.microsoft.com/office/drawing/2014/main" id="{E90819BA-33C3-4B47-DF92-41BDE9A0E873}"/>
              </a:ext>
            </a:extLst>
          </p:cNvPr>
          <p:cNvSpPr/>
          <p:nvPr/>
        </p:nvSpPr>
        <p:spPr>
          <a:xfrm>
            <a:off x="5991347" y="3063161"/>
            <a:ext cx="1087879" cy="470208"/>
          </a:xfrm>
          <a:prstGeom prst="rect">
            <a:avLst/>
          </a:prstGeom>
          <a:solidFill>
            <a:srgbClr val="FFFFFF"/>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b="1">
                <a:solidFill>
                  <a:srgbClr val="2F5597"/>
                </a:solidFill>
              </a:rPr>
              <a:t>评定：无爆震</a:t>
            </a:r>
            <a:endParaRPr lang="en-US" altLang="zh-CN" sz="1100" b="1">
              <a:solidFill>
                <a:srgbClr val="2F5597"/>
              </a:solidFill>
            </a:endParaRPr>
          </a:p>
          <a:p>
            <a:pPr algn="ctr"/>
            <a:r>
              <a:rPr lang="zh-CN" altLang="en-US" sz="1100" b="1">
                <a:solidFill>
                  <a:srgbClr val="2F5597"/>
                </a:solidFill>
              </a:rPr>
              <a:t>（常规燃烧）</a:t>
            </a:r>
          </a:p>
        </p:txBody>
      </p:sp>
      <p:graphicFrame>
        <p:nvGraphicFramePr>
          <p:cNvPr id="40" name="表格 39">
            <a:extLst>
              <a:ext uri="{FF2B5EF4-FFF2-40B4-BE49-F238E27FC236}">
                <a16:creationId xmlns:a16="http://schemas.microsoft.com/office/drawing/2014/main" id="{87227B01-E32B-E18A-B856-55926153F2A6}"/>
              </a:ext>
            </a:extLst>
          </p:cNvPr>
          <p:cNvGraphicFramePr>
            <a:graphicFrameLocks noGrp="1"/>
          </p:cNvGraphicFramePr>
          <p:nvPr>
            <p:extLst>
              <p:ext uri="{D42A27DB-BD31-4B8C-83A1-F6EECF244321}">
                <p14:modId xmlns:p14="http://schemas.microsoft.com/office/powerpoint/2010/main" val="269377378"/>
              </p:ext>
            </p:extLst>
          </p:nvPr>
        </p:nvGraphicFramePr>
        <p:xfrm>
          <a:off x="391972" y="4276621"/>
          <a:ext cx="5401463" cy="2059457"/>
        </p:xfrm>
        <a:graphic>
          <a:graphicData uri="http://schemas.openxmlformats.org/drawingml/2006/table">
            <a:tbl>
              <a:tblPr firstRow="1" bandRow="1">
                <a:tableStyleId>{5C22544A-7EE6-4342-B048-85BDC9FD1C3A}</a:tableStyleId>
              </a:tblPr>
              <a:tblGrid>
                <a:gridCol w="740609">
                  <a:extLst>
                    <a:ext uri="{9D8B030D-6E8A-4147-A177-3AD203B41FA5}">
                      <a16:colId xmlns:a16="http://schemas.microsoft.com/office/drawing/2014/main" val="3316436127"/>
                    </a:ext>
                  </a:extLst>
                </a:gridCol>
                <a:gridCol w="770231">
                  <a:extLst>
                    <a:ext uri="{9D8B030D-6E8A-4147-A177-3AD203B41FA5}">
                      <a16:colId xmlns:a16="http://schemas.microsoft.com/office/drawing/2014/main" val="2971393109"/>
                    </a:ext>
                  </a:extLst>
                </a:gridCol>
                <a:gridCol w="718391">
                  <a:extLst>
                    <a:ext uri="{9D8B030D-6E8A-4147-A177-3AD203B41FA5}">
                      <a16:colId xmlns:a16="http://schemas.microsoft.com/office/drawing/2014/main" val="918448070"/>
                    </a:ext>
                  </a:extLst>
                </a:gridCol>
                <a:gridCol w="770231">
                  <a:extLst>
                    <a:ext uri="{9D8B030D-6E8A-4147-A177-3AD203B41FA5}">
                      <a16:colId xmlns:a16="http://schemas.microsoft.com/office/drawing/2014/main" val="561344468"/>
                    </a:ext>
                  </a:extLst>
                </a:gridCol>
                <a:gridCol w="733202">
                  <a:extLst>
                    <a:ext uri="{9D8B030D-6E8A-4147-A177-3AD203B41FA5}">
                      <a16:colId xmlns:a16="http://schemas.microsoft.com/office/drawing/2014/main" val="1544458114"/>
                    </a:ext>
                  </a:extLst>
                </a:gridCol>
                <a:gridCol w="925762">
                  <a:extLst>
                    <a:ext uri="{9D8B030D-6E8A-4147-A177-3AD203B41FA5}">
                      <a16:colId xmlns:a16="http://schemas.microsoft.com/office/drawing/2014/main" val="593505487"/>
                    </a:ext>
                  </a:extLst>
                </a:gridCol>
                <a:gridCol w="743037">
                  <a:extLst>
                    <a:ext uri="{9D8B030D-6E8A-4147-A177-3AD203B41FA5}">
                      <a16:colId xmlns:a16="http://schemas.microsoft.com/office/drawing/2014/main" val="3688606634"/>
                    </a:ext>
                  </a:extLst>
                </a:gridCol>
              </a:tblGrid>
              <a:tr h="470377">
                <a:tc>
                  <a:txBody>
                    <a:bodyPr/>
                    <a:lstStyle/>
                    <a:p>
                      <a:pPr algn="ctr">
                        <a:buNone/>
                      </a:pPr>
                      <a:r>
                        <a:rPr lang="zh-CN" altLang="en-US" sz="1050" b="0">
                          <a:solidFill>
                            <a:schemeClr val="tx1"/>
                          </a:solidFill>
                          <a:effectLst/>
                          <a:latin typeface="+mn-ea"/>
                          <a:ea typeface="+mn-ea"/>
                        </a:rPr>
                        <a:t>工况编号</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b="0">
                          <a:solidFill>
                            <a:schemeClr val="tx1"/>
                          </a:solidFill>
                          <a:effectLst/>
                          <a:latin typeface="+mn-ea"/>
                          <a:ea typeface="+mn-ea"/>
                        </a:rPr>
                        <a:t>验证目标</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b="0">
                          <a:solidFill>
                            <a:schemeClr val="tx1"/>
                          </a:solidFill>
                          <a:effectLst/>
                          <a:latin typeface="+mn-ea"/>
                          <a:ea typeface="+mn-ea"/>
                        </a:rPr>
                        <a:t>转速 </a:t>
                      </a:r>
                      <a:r>
                        <a:rPr lang="en-US" altLang="zh-CN" sz="1050" b="0">
                          <a:solidFill>
                            <a:schemeClr val="tx1"/>
                          </a:solidFill>
                          <a:effectLst/>
                          <a:latin typeface="+mn-ea"/>
                          <a:ea typeface="+mn-ea"/>
                        </a:rPr>
                        <a:t>(</a:t>
                      </a:r>
                      <a:r>
                        <a:rPr lang="en-US" sz="1050" b="0">
                          <a:solidFill>
                            <a:schemeClr val="tx1"/>
                          </a:solidFill>
                          <a:effectLst/>
                          <a:latin typeface="+mn-ea"/>
                          <a:ea typeface="+mn-ea"/>
                        </a:rPr>
                        <a:t>r/min)</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b="0">
                          <a:solidFill>
                            <a:schemeClr val="tx1"/>
                          </a:solidFill>
                          <a:effectLst/>
                          <a:latin typeface="+mn-ea"/>
                          <a:ea typeface="+mn-ea"/>
                        </a:rPr>
                        <a:t>进气压力 </a:t>
                      </a:r>
                      <a:r>
                        <a:rPr lang="en-US" altLang="zh-CN" sz="1050" b="0">
                          <a:solidFill>
                            <a:schemeClr val="tx1"/>
                          </a:solidFill>
                          <a:effectLst/>
                          <a:latin typeface="+mn-ea"/>
                          <a:ea typeface="+mn-ea"/>
                        </a:rPr>
                        <a:t>(</a:t>
                      </a:r>
                      <a:r>
                        <a:rPr lang="en-US" sz="1050" b="0">
                          <a:solidFill>
                            <a:schemeClr val="tx1"/>
                          </a:solidFill>
                          <a:effectLst/>
                          <a:latin typeface="+mn-ea"/>
                          <a:ea typeface="+mn-ea"/>
                        </a:rPr>
                        <a:t>bar)</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b="0">
                          <a:solidFill>
                            <a:schemeClr val="tx1"/>
                          </a:solidFill>
                          <a:effectLst/>
                          <a:latin typeface="+mn-ea"/>
                          <a:ea typeface="+mn-ea"/>
                        </a:rPr>
                        <a:t>过量空气系数 </a:t>
                      </a:r>
                      <a:endParaRPr lang="en-US" altLang="zh-CN" sz="1050" b="0">
                        <a:solidFill>
                          <a:schemeClr val="tx1"/>
                        </a:solidFill>
                        <a:effectLst/>
                        <a:latin typeface="+mn-ea"/>
                        <a:ea typeface="+mn-ea"/>
                      </a:endParaRP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b="0">
                          <a:solidFill>
                            <a:schemeClr val="tx1"/>
                          </a:solidFill>
                          <a:effectLst/>
                          <a:latin typeface="+mn-ea"/>
                          <a:ea typeface="+mn-ea"/>
                        </a:rPr>
                        <a:t>氢气质量流量 </a:t>
                      </a:r>
                      <a:r>
                        <a:rPr lang="en-US" altLang="zh-CN" sz="1050" b="0">
                          <a:solidFill>
                            <a:schemeClr val="tx1"/>
                          </a:solidFill>
                          <a:effectLst/>
                          <a:latin typeface="+mn-ea"/>
                          <a:ea typeface="+mn-ea"/>
                        </a:rPr>
                        <a:t>(</a:t>
                      </a:r>
                      <a:r>
                        <a:rPr lang="en-US" sz="1050" b="0">
                          <a:solidFill>
                            <a:schemeClr val="tx1"/>
                          </a:solidFill>
                          <a:effectLst/>
                          <a:latin typeface="+mn-ea"/>
                          <a:ea typeface="+mn-ea"/>
                        </a:rPr>
                        <a:t>kg/h)</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b="0">
                          <a:solidFill>
                            <a:schemeClr val="tx1"/>
                          </a:solidFill>
                          <a:effectLst/>
                          <a:latin typeface="+mn-ea"/>
                          <a:ea typeface="+mn-ea"/>
                        </a:rPr>
                        <a:t>点火提前角 </a:t>
                      </a:r>
                      <a:r>
                        <a:rPr lang="en-US" altLang="zh-CN" sz="1050" b="0">
                          <a:solidFill>
                            <a:schemeClr val="tx1"/>
                          </a:solidFill>
                          <a:effectLst/>
                          <a:latin typeface="+mn-ea"/>
                          <a:ea typeface="+mn-ea"/>
                        </a:rPr>
                        <a:t>(°</a:t>
                      </a:r>
                      <a:r>
                        <a:rPr lang="en-US" sz="1050" b="0">
                          <a:solidFill>
                            <a:schemeClr val="tx1"/>
                          </a:solidFill>
                          <a:effectLst/>
                          <a:latin typeface="+mn-ea"/>
                          <a:ea typeface="+mn-ea"/>
                        </a:rPr>
                        <a:t>CA)</a:t>
                      </a:r>
                    </a:p>
                  </a:txBody>
                  <a:tcPr marL="50800" marR="50800" marT="50800" marB="508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7450337"/>
                  </a:ext>
                </a:extLst>
              </a:tr>
              <a:tr h="291860">
                <a:tc>
                  <a:txBody>
                    <a:bodyPr/>
                    <a:lstStyle/>
                    <a:p>
                      <a:pPr algn="ctr">
                        <a:buNone/>
                      </a:pPr>
                      <a:r>
                        <a:rPr lang="en-US" sz="1050" b="0">
                          <a:solidFill>
                            <a:schemeClr val="tx1"/>
                          </a:solidFill>
                          <a:effectLst/>
                          <a:latin typeface="+mn-ea"/>
                          <a:ea typeface="+mn-ea"/>
                        </a:rPr>
                        <a:t>Case 1</a:t>
                      </a:r>
                    </a:p>
                  </a:txBody>
                  <a:tcPr marL="50800" marR="50800" marT="50800" marB="50800" anchor="ctr">
                    <a:lnT w="12700" cap="flat" cmpd="sng" algn="ctr">
                      <a:solidFill>
                        <a:schemeClr val="tx1"/>
                      </a:solidFill>
                      <a:prstDash val="solid"/>
                      <a:round/>
                      <a:headEnd type="none" w="med" len="med"/>
                      <a:tailEnd type="none" w="med" len="med"/>
                    </a:lnT>
                    <a:noFill/>
                  </a:tcPr>
                </a:tc>
                <a:tc>
                  <a:txBody>
                    <a:bodyPr/>
                    <a:lstStyle/>
                    <a:p>
                      <a:pPr algn="ctr">
                        <a:buNone/>
                      </a:pPr>
                      <a:r>
                        <a:rPr lang="zh-CN" altLang="en-US" sz="1050" b="0">
                          <a:solidFill>
                            <a:schemeClr val="tx1"/>
                          </a:solidFill>
                          <a:effectLst/>
                          <a:latin typeface="+mn-ea"/>
                          <a:ea typeface="+mn-ea"/>
                        </a:rPr>
                        <a:t>无爆震（常规燃烧）</a:t>
                      </a:r>
                    </a:p>
                  </a:txBody>
                  <a:tcPr marL="50800" marR="50800" marT="50800" marB="50800" anchor="ctr">
                    <a:lnT w="12700" cap="flat" cmpd="sng" algn="ctr">
                      <a:solidFill>
                        <a:schemeClr val="tx1"/>
                      </a:solidFill>
                      <a:prstDash val="solid"/>
                      <a:round/>
                      <a:headEnd type="none" w="med" len="med"/>
                      <a:tailEnd type="none" w="med" len="med"/>
                    </a:lnT>
                    <a:noFill/>
                  </a:tcPr>
                </a:tc>
                <a:tc>
                  <a:txBody>
                    <a:bodyPr/>
                    <a:lstStyle/>
                    <a:p>
                      <a:pPr algn="ctr">
                        <a:buNone/>
                      </a:pPr>
                      <a:r>
                        <a:rPr lang="en-US" altLang="zh-CN" sz="1050" b="0">
                          <a:solidFill>
                            <a:schemeClr val="tx1"/>
                          </a:solidFill>
                          <a:effectLst/>
                          <a:latin typeface="+mn-ea"/>
                          <a:ea typeface="+mn-ea"/>
                        </a:rPr>
                        <a:t>1000</a:t>
                      </a:r>
                    </a:p>
                  </a:txBody>
                  <a:tcPr marL="50800" marR="50800" marT="50800" marB="50800" anchor="ctr">
                    <a:lnT w="12700" cap="flat" cmpd="sng" algn="ctr">
                      <a:solidFill>
                        <a:schemeClr val="tx1"/>
                      </a:solidFill>
                      <a:prstDash val="solid"/>
                      <a:round/>
                      <a:headEnd type="none" w="med" len="med"/>
                      <a:tailEnd type="none" w="med" len="med"/>
                    </a:lnT>
                    <a:noFill/>
                  </a:tcPr>
                </a:tc>
                <a:tc>
                  <a:txBody>
                    <a:bodyPr/>
                    <a:lstStyle/>
                    <a:p>
                      <a:pPr algn="ctr">
                        <a:buNone/>
                      </a:pPr>
                      <a:r>
                        <a:rPr lang="en-US" sz="1050" b="0">
                          <a:solidFill>
                            <a:schemeClr val="tx1"/>
                          </a:solidFill>
                          <a:effectLst/>
                          <a:latin typeface="+mn-ea"/>
                          <a:ea typeface="+mn-ea"/>
                        </a:rPr>
                        <a:t>2.6e5</a:t>
                      </a:r>
                    </a:p>
                  </a:txBody>
                  <a:tcPr marL="50800" marR="50800" marT="50800" marB="50800" anchor="ctr">
                    <a:lnT w="12700" cap="flat" cmpd="sng" algn="ctr">
                      <a:solidFill>
                        <a:schemeClr val="tx1"/>
                      </a:solidFill>
                      <a:prstDash val="solid"/>
                      <a:round/>
                      <a:headEnd type="none" w="med" len="med"/>
                      <a:tailEnd type="none" w="med" len="med"/>
                    </a:lnT>
                    <a:noFill/>
                  </a:tcPr>
                </a:tc>
                <a:tc>
                  <a:txBody>
                    <a:bodyPr/>
                    <a:lstStyle/>
                    <a:p>
                      <a:pPr algn="ctr">
                        <a:buNone/>
                      </a:pPr>
                      <a:r>
                        <a:rPr lang="en-US" altLang="zh-CN" sz="1050" b="0">
                          <a:solidFill>
                            <a:schemeClr val="tx1"/>
                          </a:solidFill>
                          <a:effectLst/>
                          <a:latin typeface="+mn-ea"/>
                          <a:ea typeface="+mn-ea"/>
                        </a:rPr>
                        <a:t>2.5</a:t>
                      </a:r>
                    </a:p>
                  </a:txBody>
                  <a:tcPr marL="50800" marR="50800" marT="50800" marB="50800" anchor="ctr">
                    <a:lnT w="12700" cap="flat" cmpd="sng" algn="ctr">
                      <a:solidFill>
                        <a:schemeClr val="tx1"/>
                      </a:solidFill>
                      <a:prstDash val="solid"/>
                      <a:round/>
                      <a:headEnd type="none" w="med" len="med"/>
                      <a:tailEnd type="none" w="med" len="med"/>
                    </a:lnT>
                    <a:noFill/>
                  </a:tcPr>
                </a:tc>
                <a:tc>
                  <a:txBody>
                    <a:bodyPr/>
                    <a:lstStyle/>
                    <a:p>
                      <a:pPr algn="ctr">
                        <a:buNone/>
                      </a:pPr>
                      <a:r>
                        <a:rPr lang="en-US" altLang="zh-CN" sz="1050" b="0">
                          <a:solidFill>
                            <a:schemeClr val="tx1"/>
                          </a:solidFill>
                          <a:effectLst/>
                          <a:latin typeface="+mn-ea"/>
                          <a:ea typeface="+mn-ea"/>
                        </a:rPr>
                        <a:t>1.33</a:t>
                      </a:r>
                    </a:p>
                  </a:txBody>
                  <a:tcPr marL="50800" marR="50800" marT="50800" marB="50800" anchor="ctr">
                    <a:lnT w="12700" cap="flat" cmpd="sng" algn="ctr">
                      <a:solidFill>
                        <a:schemeClr val="tx1"/>
                      </a:solidFill>
                      <a:prstDash val="solid"/>
                      <a:round/>
                      <a:headEnd type="none" w="med" len="med"/>
                      <a:tailEnd type="none" w="med" len="med"/>
                    </a:lnT>
                    <a:noFill/>
                  </a:tcPr>
                </a:tc>
                <a:tc>
                  <a:txBody>
                    <a:bodyPr/>
                    <a:lstStyle/>
                    <a:p>
                      <a:pPr algn="ctr">
                        <a:buNone/>
                      </a:pPr>
                      <a:r>
                        <a:rPr lang="en-US" altLang="zh-CN" sz="1050" b="0">
                          <a:solidFill>
                            <a:schemeClr val="tx1"/>
                          </a:solidFill>
                          <a:effectLst/>
                          <a:latin typeface="+mn-ea"/>
                          <a:ea typeface="+mn-ea"/>
                        </a:rPr>
                        <a:t>-10</a:t>
                      </a:r>
                    </a:p>
                  </a:txBody>
                  <a:tcPr marL="50800" marR="50800" marT="50800" marB="5080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223666383"/>
                  </a:ext>
                </a:extLst>
              </a:tr>
              <a:tr h="291860">
                <a:tc>
                  <a:txBody>
                    <a:bodyPr/>
                    <a:lstStyle/>
                    <a:p>
                      <a:pPr algn="ctr">
                        <a:buNone/>
                      </a:pPr>
                      <a:r>
                        <a:rPr lang="en-US" sz="1050" b="0">
                          <a:solidFill>
                            <a:schemeClr val="tx1"/>
                          </a:solidFill>
                          <a:effectLst/>
                          <a:latin typeface="+mn-ea"/>
                          <a:ea typeface="+mn-ea"/>
                        </a:rPr>
                        <a:t>Case 2</a:t>
                      </a:r>
                    </a:p>
                  </a:txBody>
                  <a:tcPr marL="50800" marR="50800" marT="50800" marB="50800" anchor="ctr">
                    <a:noFill/>
                  </a:tcPr>
                </a:tc>
                <a:tc>
                  <a:txBody>
                    <a:bodyPr/>
                    <a:lstStyle/>
                    <a:p>
                      <a:pPr algn="ctr">
                        <a:buNone/>
                      </a:pPr>
                      <a:r>
                        <a:rPr lang="zh-CN" altLang="en-US" sz="1050" b="0">
                          <a:solidFill>
                            <a:schemeClr val="tx1"/>
                          </a:solidFill>
                          <a:effectLst/>
                          <a:latin typeface="+mn-ea"/>
                          <a:ea typeface="+mn-ea"/>
                        </a:rPr>
                        <a:t>轻微爆震</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1000</a:t>
                      </a:r>
                    </a:p>
                  </a:txBody>
                  <a:tcPr marL="50800" marR="50800" marT="50800" marB="50800" anchor="ctr">
                    <a:noFill/>
                  </a:tcPr>
                </a:tc>
                <a:tc>
                  <a:txBody>
                    <a:bodyPr/>
                    <a:lstStyle/>
                    <a:p>
                      <a:pPr algn="ctr">
                        <a:buNone/>
                      </a:pPr>
                      <a:r>
                        <a:rPr lang="en-US" sz="1050" b="0">
                          <a:solidFill>
                            <a:schemeClr val="tx1"/>
                          </a:solidFill>
                          <a:effectLst/>
                          <a:latin typeface="+mn-ea"/>
                          <a:ea typeface="+mn-ea"/>
                        </a:rPr>
                        <a:t>1.397e5</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1.75</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0.90</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-10</a:t>
                      </a:r>
                    </a:p>
                  </a:txBody>
                  <a:tcPr marL="50800" marR="50800" marT="50800" marB="50800" anchor="ctr">
                    <a:noFill/>
                  </a:tcPr>
                </a:tc>
                <a:extLst>
                  <a:ext uri="{0D108BD9-81ED-4DB2-BD59-A6C34878D82A}">
                    <a16:rowId xmlns:a16="http://schemas.microsoft.com/office/drawing/2014/main" val="2578257926"/>
                  </a:ext>
                </a:extLst>
              </a:tr>
              <a:tr h="291860">
                <a:tc>
                  <a:txBody>
                    <a:bodyPr/>
                    <a:lstStyle/>
                    <a:p>
                      <a:pPr algn="ctr">
                        <a:buNone/>
                      </a:pPr>
                      <a:r>
                        <a:rPr lang="en-US" sz="1050" b="0">
                          <a:solidFill>
                            <a:schemeClr val="tx1"/>
                          </a:solidFill>
                          <a:effectLst/>
                          <a:latin typeface="+mn-ea"/>
                          <a:ea typeface="+mn-ea"/>
                        </a:rPr>
                        <a:t>Case 3</a:t>
                      </a:r>
                    </a:p>
                  </a:txBody>
                  <a:tcPr marL="50800" marR="50800" marT="50800" marB="50800" anchor="ctr">
                    <a:noFill/>
                  </a:tcPr>
                </a:tc>
                <a:tc>
                  <a:txBody>
                    <a:bodyPr/>
                    <a:lstStyle/>
                    <a:p>
                      <a:pPr algn="ctr">
                        <a:buNone/>
                      </a:pPr>
                      <a:r>
                        <a:rPr lang="zh-CN" altLang="en-US" sz="1050" b="0">
                          <a:solidFill>
                            <a:schemeClr val="tx1"/>
                          </a:solidFill>
                          <a:effectLst/>
                          <a:latin typeface="+mn-ea"/>
                          <a:ea typeface="+mn-ea"/>
                        </a:rPr>
                        <a:t>中度爆震</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1000</a:t>
                      </a:r>
                    </a:p>
                  </a:txBody>
                  <a:tcPr marL="50800" marR="50800" marT="50800" marB="50800" anchor="ctr">
                    <a:noFill/>
                  </a:tcPr>
                </a:tc>
                <a:tc>
                  <a:txBody>
                    <a:bodyPr/>
                    <a:lstStyle/>
                    <a:p>
                      <a:pPr algn="ctr">
                        <a:buNone/>
                      </a:pPr>
                      <a:r>
                        <a:rPr lang="en-US" sz="1050" b="0">
                          <a:solidFill>
                            <a:schemeClr val="tx1"/>
                          </a:solidFill>
                          <a:effectLst/>
                          <a:latin typeface="+mn-ea"/>
                          <a:ea typeface="+mn-ea"/>
                        </a:rPr>
                        <a:t>0.859e5</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1.40</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0.59</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-6</a:t>
                      </a:r>
                    </a:p>
                  </a:txBody>
                  <a:tcPr marL="50800" marR="50800" marT="50800" marB="50800" anchor="ctr">
                    <a:noFill/>
                  </a:tcPr>
                </a:tc>
                <a:extLst>
                  <a:ext uri="{0D108BD9-81ED-4DB2-BD59-A6C34878D82A}">
                    <a16:rowId xmlns:a16="http://schemas.microsoft.com/office/drawing/2014/main" val="525268568"/>
                  </a:ext>
                </a:extLst>
              </a:tr>
              <a:tr h="291860">
                <a:tc>
                  <a:txBody>
                    <a:bodyPr/>
                    <a:lstStyle/>
                    <a:p>
                      <a:pPr algn="ctr">
                        <a:buNone/>
                      </a:pPr>
                      <a:r>
                        <a:rPr lang="en-US" sz="1050" b="0">
                          <a:solidFill>
                            <a:schemeClr val="tx1"/>
                          </a:solidFill>
                          <a:effectLst/>
                          <a:latin typeface="+mn-ea"/>
                          <a:ea typeface="+mn-ea"/>
                        </a:rPr>
                        <a:t>Case 4</a:t>
                      </a:r>
                    </a:p>
                  </a:txBody>
                  <a:tcPr marL="50800" marR="50800" marT="50800" marB="50800" anchor="ctr">
                    <a:noFill/>
                  </a:tcPr>
                </a:tc>
                <a:tc>
                  <a:txBody>
                    <a:bodyPr/>
                    <a:lstStyle/>
                    <a:p>
                      <a:pPr algn="ctr">
                        <a:buNone/>
                      </a:pPr>
                      <a:r>
                        <a:rPr lang="zh-CN" altLang="en-US" sz="1050" b="0">
                          <a:solidFill>
                            <a:schemeClr val="tx1"/>
                          </a:solidFill>
                          <a:effectLst/>
                          <a:latin typeface="+mn-ea"/>
                          <a:ea typeface="+mn-ea"/>
                        </a:rPr>
                        <a:t>强烈爆震</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1000</a:t>
                      </a:r>
                    </a:p>
                  </a:txBody>
                  <a:tcPr marL="50800" marR="50800" marT="50800" marB="50800" anchor="ctr">
                    <a:noFill/>
                  </a:tcPr>
                </a:tc>
                <a:tc>
                  <a:txBody>
                    <a:bodyPr/>
                    <a:lstStyle/>
                    <a:p>
                      <a:pPr algn="ctr">
                        <a:buNone/>
                      </a:pPr>
                      <a:r>
                        <a:rPr lang="en-US" sz="1050" b="0">
                          <a:solidFill>
                            <a:schemeClr val="tx1"/>
                          </a:solidFill>
                          <a:effectLst/>
                          <a:latin typeface="+mn-ea"/>
                          <a:ea typeface="+mn-ea"/>
                        </a:rPr>
                        <a:t>1.450e5</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1.55</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0.90</a:t>
                      </a:r>
                    </a:p>
                  </a:txBody>
                  <a:tcPr marL="50800" marR="50800" marT="50800" marB="50800" anchor="ctr">
                    <a:noFill/>
                  </a:tcPr>
                </a:tc>
                <a:tc>
                  <a:txBody>
                    <a:bodyPr/>
                    <a:lstStyle/>
                    <a:p>
                      <a:pPr algn="ctr">
                        <a:buNone/>
                      </a:pPr>
                      <a:r>
                        <a:rPr lang="en-US" altLang="zh-CN" sz="1050" b="0">
                          <a:solidFill>
                            <a:schemeClr val="tx1"/>
                          </a:solidFill>
                          <a:effectLst/>
                          <a:latin typeface="+mn-ea"/>
                          <a:ea typeface="+mn-ea"/>
                        </a:rPr>
                        <a:t>-4</a:t>
                      </a:r>
                    </a:p>
                  </a:txBody>
                  <a:tcPr marL="50800" marR="50800" marT="50800" marB="50800" anchor="ctr">
                    <a:noFill/>
                  </a:tcPr>
                </a:tc>
                <a:extLst>
                  <a:ext uri="{0D108BD9-81ED-4DB2-BD59-A6C34878D82A}">
                    <a16:rowId xmlns:a16="http://schemas.microsoft.com/office/drawing/2014/main" val="3660105413"/>
                  </a:ext>
                </a:extLst>
              </a:tr>
              <a:tr h="291860">
                <a:tc>
                  <a:txBody>
                    <a:bodyPr/>
                    <a:lstStyle/>
                    <a:p>
                      <a:pPr algn="ctr">
                        <a:buNone/>
                      </a:pPr>
                      <a:r>
                        <a:rPr lang="en-US" sz="1050" b="0">
                          <a:solidFill>
                            <a:schemeClr val="tx1"/>
                          </a:solidFill>
                          <a:effectLst/>
                          <a:latin typeface="+mn-ea"/>
                          <a:ea typeface="+mn-ea"/>
                        </a:rPr>
                        <a:t>Case 5</a:t>
                      </a:r>
                    </a:p>
                  </a:txBody>
                  <a:tcPr marL="50800" marR="50800" marT="50800" marB="50800" anchor="ctr">
                    <a:lnB w="12700" cap="flat" cmpd="sng" algn="ctr">
                      <a:solidFill>
                        <a:schemeClr val="tx1"/>
                      </a:solidFill>
                      <a:prstDash val="solid"/>
                      <a:round/>
                      <a:headEnd type="none" w="med" len="med"/>
                      <a:tailEnd type="none" w="med" len="med"/>
                    </a:lnB>
                    <a:noFill/>
                  </a:tcPr>
                </a:tc>
                <a:tc>
                  <a:txBody>
                    <a:bodyPr/>
                    <a:lstStyle/>
                    <a:p>
                      <a:pPr algn="ctr">
                        <a:buNone/>
                      </a:pPr>
                      <a:r>
                        <a:rPr lang="zh-CN" altLang="en-US" sz="1050" b="0">
                          <a:solidFill>
                            <a:schemeClr val="tx1"/>
                          </a:solidFill>
                          <a:effectLst/>
                          <a:latin typeface="+mn-ea"/>
                          <a:ea typeface="+mn-ea"/>
                        </a:rPr>
                        <a:t>温度标定</a:t>
                      </a:r>
                    </a:p>
                  </a:txBody>
                  <a:tcPr marL="50800" marR="50800" marT="50800" marB="50800" anchor="ctr">
                    <a:lnB w="12700" cap="flat" cmpd="sng" algn="ctr">
                      <a:solidFill>
                        <a:schemeClr val="tx1"/>
                      </a:solidFill>
                      <a:prstDash val="solid"/>
                      <a:round/>
                      <a:headEnd type="none" w="med" len="med"/>
                      <a:tailEnd type="none" w="med" len="med"/>
                    </a:lnB>
                    <a:noFill/>
                  </a:tcPr>
                </a:tc>
                <a:tc>
                  <a:txBody>
                    <a:bodyPr/>
                    <a:lstStyle/>
                    <a:p>
                      <a:pPr algn="ctr">
                        <a:buNone/>
                      </a:pPr>
                      <a:r>
                        <a:rPr lang="en-US" altLang="zh-CN" sz="1050" b="0">
                          <a:solidFill>
                            <a:schemeClr val="tx1"/>
                          </a:solidFill>
                          <a:effectLst/>
                          <a:latin typeface="+mn-ea"/>
                          <a:ea typeface="+mn-ea"/>
                        </a:rPr>
                        <a:t>1000</a:t>
                      </a:r>
                    </a:p>
                  </a:txBody>
                  <a:tcPr marL="50800" marR="50800" marT="50800" marB="50800" anchor="ctr">
                    <a:lnB w="12700" cap="flat" cmpd="sng" algn="ctr">
                      <a:solidFill>
                        <a:schemeClr val="tx1"/>
                      </a:solidFill>
                      <a:prstDash val="solid"/>
                      <a:round/>
                      <a:headEnd type="none" w="med" len="med"/>
                      <a:tailEnd type="none" w="med" len="med"/>
                    </a:lnB>
                    <a:noFill/>
                  </a:tcPr>
                </a:tc>
                <a:tc>
                  <a:txBody>
                    <a:bodyPr/>
                    <a:lstStyle/>
                    <a:p>
                      <a:pPr algn="ctr">
                        <a:buNone/>
                      </a:pPr>
                      <a:r>
                        <a:rPr lang="en-US" sz="1050" b="0">
                          <a:solidFill>
                            <a:schemeClr val="tx1"/>
                          </a:solidFill>
                          <a:effectLst/>
                          <a:latin typeface="+mn-ea"/>
                          <a:ea typeface="+mn-ea"/>
                        </a:rPr>
                        <a:t>1.515e5</a:t>
                      </a:r>
                    </a:p>
                  </a:txBody>
                  <a:tcPr marL="50800" marR="50800" marT="50800" marB="50800" anchor="ctr">
                    <a:lnB w="12700" cap="flat" cmpd="sng" algn="ctr">
                      <a:solidFill>
                        <a:schemeClr val="tx1"/>
                      </a:solidFill>
                      <a:prstDash val="solid"/>
                      <a:round/>
                      <a:headEnd type="none" w="med" len="med"/>
                      <a:tailEnd type="none" w="med" len="med"/>
                    </a:lnB>
                    <a:noFill/>
                  </a:tcPr>
                </a:tc>
                <a:tc>
                  <a:txBody>
                    <a:bodyPr/>
                    <a:lstStyle/>
                    <a:p>
                      <a:pPr algn="ctr">
                        <a:buNone/>
                      </a:pPr>
                      <a:r>
                        <a:rPr lang="en-US" altLang="zh-CN" sz="1050" b="0">
                          <a:solidFill>
                            <a:schemeClr val="tx1"/>
                          </a:solidFill>
                          <a:effectLst/>
                          <a:latin typeface="+mn-ea"/>
                          <a:ea typeface="+mn-ea"/>
                        </a:rPr>
                        <a:t>1.85</a:t>
                      </a:r>
                    </a:p>
                  </a:txBody>
                  <a:tcPr marL="50800" marR="50800" marT="50800" marB="50800" anchor="ctr">
                    <a:lnB w="12700" cap="flat" cmpd="sng" algn="ctr">
                      <a:solidFill>
                        <a:schemeClr val="tx1"/>
                      </a:solidFill>
                      <a:prstDash val="solid"/>
                      <a:round/>
                      <a:headEnd type="none" w="med" len="med"/>
                      <a:tailEnd type="none" w="med" len="med"/>
                    </a:lnB>
                    <a:noFill/>
                  </a:tcPr>
                </a:tc>
                <a:tc>
                  <a:txBody>
                    <a:bodyPr/>
                    <a:lstStyle/>
                    <a:p>
                      <a:pPr algn="ctr">
                        <a:buNone/>
                      </a:pPr>
                      <a:r>
                        <a:rPr lang="en-US" altLang="zh-CN" sz="1050" b="0">
                          <a:solidFill>
                            <a:schemeClr val="tx1"/>
                          </a:solidFill>
                          <a:effectLst/>
                          <a:latin typeface="+mn-ea"/>
                          <a:ea typeface="+mn-ea"/>
                        </a:rPr>
                        <a:t>0.86</a:t>
                      </a:r>
                    </a:p>
                  </a:txBody>
                  <a:tcPr marL="50800" marR="50800" marT="50800" marB="50800" anchor="ctr">
                    <a:lnB w="12700" cap="flat" cmpd="sng" algn="ctr">
                      <a:solidFill>
                        <a:schemeClr val="tx1"/>
                      </a:solidFill>
                      <a:prstDash val="solid"/>
                      <a:round/>
                      <a:headEnd type="none" w="med" len="med"/>
                      <a:tailEnd type="none" w="med" len="med"/>
                    </a:lnB>
                    <a:noFill/>
                  </a:tcPr>
                </a:tc>
                <a:tc>
                  <a:txBody>
                    <a:bodyPr/>
                    <a:lstStyle/>
                    <a:p>
                      <a:pPr algn="ctr">
                        <a:buNone/>
                      </a:pPr>
                      <a:r>
                        <a:rPr lang="en-US" altLang="zh-CN" sz="1050" b="0">
                          <a:solidFill>
                            <a:schemeClr val="tx1"/>
                          </a:solidFill>
                          <a:effectLst/>
                          <a:latin typeface="+mn-ea"/>
                          <a:ea typeface="+mn-ea"/>
                        </a:rPr>
                        <a:t>-14</a:t>
                      </a:r>
                    </a:p>
                  </a:txBody>
                  <a:tcPr marL="50800" marR="50800" marT="50800" marB="5080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9738109"/>
                  </a:ext>
                </a:extLst>
              </a:tr>
            </a:tbl>
          </a:graphicData>
        </a:graphic>
      </p:graphicFrame>
      <p:sp>
        <p:nvSpPr>
          <p:cNvPr id="41" name="文本框 40">
            <a:extLst>
              <a:ext uri="{FF2B5EF4-FFF2-40B4-BE49-F238E27FC236}">
                <a16:creationId xmlns:a16="http://schemas.microsoft.com/office/drawing/2014/main" id="{0E0EFBFB-3EA5-8C5F-8936-ACACAC96A516}"/>
              </a:ext>
            </a:extLst>
          </p:cNvPr>
          <p:cNvSpPr txBox="1"/>
          <p:nvPr/>
        </p:nvSpPr>
        <p:spPr>
          <a:xfrm>
            <a:off x="7462404" y="6238000"/>
            <a:ext cx="3041220" cy="276999"/>
          </a:xfrm>
          <a:prstGeom prst="rect">
            <a:avLst/>
          </a:prstGeom>
          <a:noFill/>
        </p:spPr>
        <p:txBody>
          <a:bodyPr wrap="square">
            <a:spAutoFit/>
          </a:bodyPr>
          <a:lstStyle/>
          <a:p>
            <a:pPr algn="ctr"/>
            <a:r>
              <a:rPr lang="zh-CN" altLang="en-US" sz="1200"/>
              <a:t>图</a:t>
            </a:r>
            <a:r>
              <a:rPr lang="en-US" altLang="zh-CN" sz="1200"/>
              <a:t>4-1 case1-case4</a:t>
            </a:r>
            <a:r>
              <a:rPr lang="zh-CN" altLang="en-US" sz="1200"/>
              <a:t>工况缸压曲线</a:t>
            </a:r>
          </a:p>
        </p:txBody>
      </p:sp>
      <p:graphicFrame>
        <p:nvGraphicFramePr>
          <p:cNvPr id="51" name="表格 50">
            <a:extLst>
              <a:ext uri="{FF2B5EF4-FFF2-40B4-BE49-F238E27FC236}">
                <a16:creationId xmlns:a16="http://schemas.microsoft.com/office/drawing/2014/main" id="{F0CC80BD-A86E-9983-66FA-805A8887D199}"/>
              </a:ext>
            </a:extLst>
          </p:cNvPr>
          <p:cNvGraphicFramePr>
            <a:graphicFrameLocks noGrp="1"/>
          </p:cNvGraphicFramePr>
          <p:nvPr>
            <p:extLst>
              <p:ext uri="{D42A27DB-BD31-4B8C-83A1-F6EECF244321}">
                <p14:modId xmlns:p14="http://schemas.microsoft.com/office/powerpoint/2010/main" val="3513649698"/>
              </p:ext>
            </p:extLst>
          </p:nvPr>
        </p:nvGraphicFramePr>
        <p:xfrm>
          <a:off x="6658805" y="1305382"/>
          <a:ext cx="4520152" cy="929244"/>
        </p:xfrm>
        <a:graphic>
          <a:graphicData uri="http://schemas.openxmlformats.org/drawingml/2006/table">
            <a:tbl>
              <a:tblPr firstRow="1" bandRow="1">
                <a:tableStyleId>{5C22544A-7EE6-4342-B048-85BDC9FD1C3A}</a:tableStyleId>
              </a:tblPr>
              <a:tblGrid>
                <a:gridCol w="1130038">
                  <a:extLst>
                    <a:ext uri="{9D8B030D-6E8A-4147-A177-3AD203B41FA5}">
                      <a16:colId xmlns:a16="http://schemas.microsoft.com/office/drawing/2014/main" val="2860460606"/>
                    </a:ext>
                  </a:extLst>
                </a:gridCol>
                <a:gridCol w="1130038">
                  <a:extLst>
                    <a:ext uri="{9D8B030D-6E8A-4147-A177-3AD203B41FA5}">
                      <a16:colId xmlns:a16="http://schemas.microsoft.com/office/drawing/2014/main" val="2233606527"/>
                    </a:ext>
                  </a:extLst>
                </a:gridCol>
                <a:gridCol w="1130038">
                  <a:extLst>
                    <a:ext uri="{9D8B030D-6E8A-4147-A177-3AD203B41FA5}">
                      <a16:colId xmlns:a16="http://schemas.microsoft.com/office/drawing/2014/main" val="2460164554"/>
                    </a:ext>
                  </a:extLst>
                </a:gridCol>
                <a:gridCol w="1130038">
                  <a:extLst>
                    <a:ext uri="{9D8B030D-6E8A-4147-A177-3AD203B41FA5}">
                      <a16:colId xmlns:a16="http://schemas.microsoft.com/office/drawing/2014/main" val="1744967997"/>
                    </a:ext>
                  </a:extLst>
                </a:gridCol>
              </a:tblGrid>
              <a:tr h="309748">
                <a:tc gridSpan="4">
                  <a:txBody>
                    <a:bodyPr/>
                    <a:lstStyle/>
                    <a:p>
                      <a:pPr algn="ctr"/>
                      <a:r>
                        <a:rPr lang="zh-CN" altLang="en-US" sz="1200">
                          <a:solidFill>
                            <a:schemeClr val="tx1"/>
                          </a:solidFill>
                          <a:latin typeface="+mn-ea"/>
                          <a:ea typeface="+mn-ea"/>
                        </a:rPr>
                        <a:t>高频峰峰值（</a:t>
                      </a:r>
                      <a:r>
                        <a:rPr lang="en-US" altLang="zh-CN" sz="1200">
                          <a:solidFill>
                            <a:schemeClr val="tx1"/>
                          </a:solidFill>
                          <a:latin typeface="+mn-ea"/>
                          <a:ea typeface="+mn-ea"/>
                        </a:rPr>
                        <a:t>MAPO</a:t>
                      </a:r>
                      <a:r>
                        <a:rPr lang="zh-CN" altLang="en-US" sz="1200">
                          <a:solidFill>
                            <a:schemeClr val="tx1"/>
                          </a:solidFill>
                          <a:latin typeface="+mn-ea"/>
                          <a:ea typeface="+mn-ea"/>
                        </a:rPr>
                        <a:t>）</a:t>
                      </a:r>
                    </a:p>
                  </a:txBody>
                  <a:tcPr anchor="ctr">
                    <a:lnB w="1270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932707943"/>
                  </a:ext>
                </a:extLst>
              </a:tr>
              <a:tr h="309748">
                <a:tc>
                  <a:txBody>
                    <a:bodyPr/>
                    <a:lstStyle/>
                    <a:p>
                      <a:pPr algn="ctr"/>
                      <a:r>
                        <a:rPr lang="zh-CN" altLang="en-US" sz="1200">
                          <a:latin typeface="+mn-ea"/>
                          <a:ea typeface="+mn-ea"/>
                        </a:rPr>
                        <a:t>无震荡</a:t>
                      </a:r>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CN" sz="1200">
                          <a:latin typeface="+mn-ea"/>
                          <a:ea typeface="+mn-ea"/>
                        </a:rPr>
                        <a:t>0~5bar</a:t>
                      </a:r>
                      <a:endParaRPr lang="zh-CN" altLang="en-US" sz="1200">
                        <a:latin typeface="+mn-ea"/>
                        <a:ea typeface="+mn-ea"/>
                      </a:endParaRPr>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CN" sz="1200">
                          <a:latin typeface="+mn-ea"/>
                          <a:ea typeface="+mn-ea"/>
                        </a:rPr>
                        <a:t>5~10bar</a:t>
                      </a:r>
                      <a:endParaRPr lang="zh-CN" altLang="en-US" sz="1200">
                        <a:latin typeface="+mn-ea"/>
                        <a:ea typeface="+mn-ea"/>
                      </a:endParaRPr>
                    </a:p>
                  </a:txBody>
                  <a:tcPr anchor="ctr">
                    <a:lnT w="12700" cap="flat" cmpd="sng" algn="ctr">
                      <a:solidFill>
                        <a:schemeClr val="tx1"/>
                      </a:solidFill>
                      <a:prstDash val="solid"/>
                      <a:round/>
                      <a:headEnd type="none" w="med" len="med"/>
                      <a:tailEnd type="none" w="med" len="med"/>
                    </a:lnT>
                    <a:noFill/>
                  </a:tcPr>
                </a:tc>
                <a:tc>
                  <a:txBody>
                    <a:bodyPr/>
                    <a:lstStyle/>
                    <a:p>
                      <a:pPr algn="ctr"/>
                      <a:r>
                        <a:rPr lang="en-US" altLang="zh-CN" sz="1200">
                          <a:latin typeface="+mn-ea"/>
                          <a:ea typeface="+mn-ea"/>
                        </a:rPr>
                        <a:t>&gt;10bar</a:t>
                      </a:r>
                      <a:endParaRPr lang="zh-CN" altLang="en-US" sz="1200">
                        <a:latin typeface="+mn-ea"/>
                        <a:ea typeface="+mn-ea"/>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270388051"/>
                  </a:ext>
                </a:extLst>
              </a:tr>
              <a:tr h="309748">
                <a:tc>
                  <a:txBody>
                    <a:bodyPr/>
                    <a:lstStyle/>
                    <a:p>
                      <a:pPr algn="ctr"/>
                      <a:r>
                        <a:rPr lang="zh-CN" altLang="en-US" sz="1200">
                          <a:latin typeface="+mn-ea"/>
                          <a:ea typeface="+mn-ea"/>
                        </a:rPr>
                        <a:t>无爆震</a:t>
                      </a:r>
                    </a:p>
                  </a:txBody>
                  <a:tcPr anchor="ctr">
                    <a:noFill/>
                  </a:tcPr>
                </a:tc>
                <a:tc>
                  <a:txBody>
                    <a:bodyPr/>
                    <a:lstStyle/>
                    <a:p>
                      <a:pPr algn="ctr"/>
                      <a:r>
                        <a:rPr lang="zh-CN" altLang="en-US" sz="1200">
                          <a:latin typeface="+mn-ea"/>
                          <a:ea typeface="+mn-ea"/>
                        </a:rPr>
                        <a:t>轻微爆震</a:t>
                      </a:r>
                    </a:p>
                  </a:txBody>
                  <a:tcPr anchor="ctr">
                    <a:noFill/>
                  </a:tcPr>
                </a:tc>
                <a:tc>
                  <a:txBody>
                    <a:bodyPr/>
                    <a:lstStyle/>
                    <a:p>
                      <a:pPr algn="ctr"/>
                      <a:r>
                        <a:rPr lang="zh-CN" altLang="en-US" sz="1200">
                          <a:latin typeface="+mn-ea"/>
                          <a:ea typeface="+mn-ea"/>
                        </a:rPr>
                        <a:t>中度爆震</a:t>
                      </a:r>
                    </a:p>
                  </a:txBody>
                  <a:tcPr anchor="ctr">
                    <a:noFill/>
                  </a:tcPr>
                </a:tc>
                <a:tc>
                  <a:txBody>
                    <a:bodyPr/>
                    <a:lstStyle/>
                    <a:p>
                      <a:pPr algn="ctr"/>
                      <a:r>
                        <a:rPr lang="zh-CN" altLang="en-US" sz="1200">
                          <a:latin typeface="+mn-ea"/>
                          <a:ea typeface="+mn-ea"/>
                        </a:rPr>
                        <a:t>强烈爆震</a:t>
                      </a:r>
                    </a:p>
                  </a:txBody>
                  <a:tcPr anchor="ctr">
                    <a:noFill/>
                  </a:tcPr>
                </a:tc>
                <a:extLst>
                  <a:ext uri="{0D108BD9-81ED-4DB2-BD59-A6C34878D82A}">
                    <a16:rowId xmlns:a16="http://schemas.microsoft.com/office/drawing/2014/main" val="3950438814"/>
                  </a:ext>
                </a:extLst>
              </a:tr>
            </a:tbl>
          </a:graphicData>
        </a:graphic>
      </p:graphicFrame>
      <p:sp>
        <p:nvSpPr>
          <p:cNvPr id="52" name="矩形: 圆角 51">
            <a:extLst>
              <a:ext uri="{FF2B5EF4-FFF2-40B4-BE49-F238E27FC236}">
                <a16:creationId xmlns:a16="http://schemas.microsoft.com/office/drawing/2014/main" id="{E4BE0314-FB14-DF2A-5C3B-2534480B67D7}"/>
              </a:ext>
            </a:extLst>
          </p:cNvPr>
          <p:cNvSpPr/>
          <p:nvPr/>
        </p:nvSpPr>
        <p:spPr>
          <a:xfrm>
            <a:off x="6508032" y="1305382"/>
            <a:ext cx="4809549" cy="1035010"/>
          </a:xfrm>
          <a:prstGeom prst="round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27233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42EC-E66A-7997-0B8F-C1788E88574E}"/>
            </a:ext>
          </a:extLst>
        </p:cNvPr>
        <p:cNvGrpSpPr/>
        <p:nvPr/>
      </p:nvGrpSpPr>
      <p:grpSpPr>
        <a:xfrm>
          <a:off x="0" y="0"/>
          <a:ext cx="0" cy="0"/>
          <a:chOff x="0" y="0"/>
          <a:chExt cx="0" cy="0"/>
        </a:xfrm>
      </p:grpSpPr>
      <p:sp>
        <p:nvSpPr>
          <p:cNvPr id="156" name="文本框 155">
            <a:extLst>
              <a:ext uri="{FF2B5EF4-FFF2-40B4-BE49-F238E27FC236}">
                <a16:creationId xmlns:a16="http://schemas.microsoft.com/office/drawing/2014/main" id="{BDACCA78-A31B-85B8-D8A8-71B3B2488AFF}"/>
              </a:ext>
            </a:extLst>
          </p:cNvPr>
          <p:cNvSpPr txBox="1"/>
          <p:nvPr/>
        </p:nvSpPr>
        <p:spPr>
          <a:xfrm>
            <a:off x="9657657" y="6077696"/>
            <a:ext cx="2018501" cy="307777"/>
          </a:xfrm>
          <a:prstGeom prst="rect">
            <a:avLst/>
          </a:prstGeom>
          <a:noFill/>
        </p:spPr>
        <p:txBody>
          <a:bodyPr wrap="none" rtlCol="0">
            <a:spAutoFit/>
          </a:bodyPr>
          <a:lstStyle/>
          <a:p>
            <a:pPr algn="ctr"/>
            <a:r>
              <a:rPr lang="zh-CN" altLang="en-US" sz="1400" b="1"/>
              <a:t>准维模型拟合精度足够</a:t>
            </a:r>
          </a:p>
        </p:txBody>
      </p:sp>
      <p:sp>
        <p:nvSpPr>
          <p:cNvPr id="7" name="矩形 6">
            <a:extLst>
              <a:ext uri="{FF2B5EF4-FFF2-40B4-BE49-F238E27FC236}">
                <a16:creationId xmlns:a16="http://schemas.microsoft.com/office/drawing/2014/main" id="{E63E7237-888C-DEDD-05D5-1CDF19813677}"/>
              </a:ext>
            </a:extLst>
          </p:cNvPr>
          <p:cNvSpPr/>
          <p:nvPr/>
        </p:nvSpPr>
        <p:spPr>
          <a:xfrm>
            <a:off x="6203038" y="2736577"/>
            <a:ext cx="2941659" cy="3703618"/>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540AF6BA-16DC-AC65-245B-FFD041AAA230}"/>
              </a:ext>
            </a:extLst>
          </p:cNvPr>
          <p:cNvSpPr/>
          <p:nvPr/>
        </p:nvSpPr>
        <p:spPr>
          <a:xfrm>
            <a:off x="2835928" y="2744752"/>
            <a:ext cx="3254586" cy="3695443"/>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3E79EA2F-5A53-0B6E-8FF7-6B054D4FA67B}"/>
              </a:ext>
            </a:extLst>
          </p:cNvPr>
          <p:cNvSpPr>
            <a:spLocks noGrp="1"/>
          </p:cNvSpPr>
          <p:nvPr>
            <p:ph type="title"/>
          </p:nvPr>
        </p:nvSpPr>
        <p:spPr/>
        <p:txBody>
          <a:bodyPr/>
          <a:lstStyle/>
          <a:p>
            <a:r>
              <a:rPr lang="zh-CN" altLang="en-US"/>
              <a:t>第四章：氢内燃机燃烧与爆震模型的标定与验证</a:t>
            </a:r>
            <a:endParaRPr lang="zh-CN" altLang="en-US" dirty="0"/>
          </a:p>
        </p:txBody>
      </p:sp>
      <p:sp>
        <p:nvSpPr>
          <p:cNvPr id="2" name="矩形 1">
            <a:extLst>
              <a:ext uri="{FF2B5EF4-FFF2-40B4-BE49-F238E27FC236}">
                <a16:creationId xmlns:a16="http://schemas.microsoft.com/office/drawing/2014/main" id="{DF1A6361-E36D-4CD6-D9DF-226B09AC3965}"/>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第二节：准维模型常规燃烧工况标定与仿真准确性验证</a:t>
            </a:r>
          </a:p>
        </p:txBody>
      </p:sp>
      <p:graphicFrame>
        <p:nvGraphicFramePr>
          <p:cNvPr id="4" name="表格 3">
            <a:extLst>
              <a:ext uri="{FF2B5EF4-FFF2-40B4-BE49-F238E27FC236}">
                <a16:creationId xmlns:a16="http://schemas.microsoft.com/office/drawing/2014/main" id="{A42BDDF0-5C57-BF9F-FA0D-16134092308F}"/>
              </a:ext>
            </a:extLst>
          </p:cNvPr>
          <p:cNvGraphicFramePr>
            <a:graphicFrameLocks noGrp="1"/>
          </p:cNvGraphicFramePr>
          <p:nvPr>
            <p:extLst>
              <p:ext uri="{D42A27DB-BD31-4B8C-83A1-F6EECF244321}">
                <p14:modId xmlns:p14="http://schemas.microsoft.com/office/powerpoint/2010/main" val="1306732102"/>
              </p:ext>
            </p:extLst>
          </p:nvPr>
        </p:nvGraphicFramePr>
        <p:xfrm>
          <a:off x="1681316" y="1620522"/>
          <a:ext cx="8442419" cy="548640"/>
        </p:xfrm>
        <a:graphic>
          <a:graphicData uri="http://schemas.openxmlformats.org/drawingml/2006/table">
            <a:tbl>
              <a:tblPr firstRow="1" bandRow="1">
                <a:tableStyleId>{5C22544A-7EE6-4342-B048-85BDC9FD1C3A}</a:tableStyleId>
              </a:tblPr>
              <a:tblGrid>
                <a:gridCol w="1032085">
                  <a:extLst>
                    <a:ext uri="{9D8B030D-6E8A-4147-A177-3AD203B41FA5}">
                      <a16:colId xmlns:a16="http://schemas.microsoft.com/office/drawing/2014/main" val="3710453411"/>
                    </a:ext>
                  </a:extLst>
                </a:gridCol>
                <a:gridCol w="1220285">
                  <a:extLst>
                    <a:ext uri="{9D8B030D-6E8A-4147-A177-3AD203B41FA5}">
                      <a16:colId xmlns:a16="http://schemas.microsoft.com/office/drawing/2014/main" val="1501717427"/>
                    </a:ext>
                  </a:extLst>
                </a:gridCol>
                <a:gridCol w="1272370">
                  <a:extLst>
                    <a:ext uri="{9D8B030D-6E8A-4147-A177-3AD203B41FA5}">
                      <a16:colId xmlns:a16="http://schemas.microsoft.com/office/drawing/2014/main" val="275251220"/>
                    </a:ext>
                  </a:extLst>
                </a:gridCol>
                <a:gridCol w="1763460">
                  <a:extLst>
                    <a:ext uri="{9D8B030D-6E8A-4147-A177-3AD203B41FA5}">
                      <a16:colId xmlns:a16="http://schemas.microsoft.com/office/drawing/2014/main" val="2184532551"/>
                    </a:ext>
                  </a:extLst>
                </a:gridCol>
                <a:gridCol w="1354219">
                  <a:extLst>
                    <a:ext uri="{9D8B030D-6E8A-4147-A177-3AD203B41FA5}">
                      <a16:colId xmlns:a16="http://schemas.microsoft.com/office/drawing/2014/main" val="1086447067"/>
                    </a:ext>
                  </a:extLst>
                </a:gridCol>
                <a:gridCol w="1800000">
                  <a:extLst>
                    <a:ext uri="{9D8B030D-6E8A-4147-A177-3AD203B41FA5}">
                      <a16:colId xmlns:a16="http://schemas.microsoft.com/office/drawing/2014/main" val="2676082523"/>
                    </a:ext>
                  </a:extLst>
                </a:gridCol>
              </a:tblGrid>
              <a:tr h="243840">
                <a:tc>
                  <a:txBody>
                    <a:bodyPr/>
                    <a:lstStyle/>
                    <a:p>
                      <a:pPr algn="ctr"/>
                      <a:r>
                        <a:rPr lang="zh-CN" altLang="en-US" sz="1200" b="0">
                          <a:solidFill>
                            <a:schemeClr val="tx1"/>
                          </a:solidFill>
                        </a:rPr>
                        <a:t>工况编号</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a:solidFill>
                            <a:schemeClr val="tx1"/>
                          </a:solidFill>
                        </a:rPr>
                        <a:t>转速（</a:t>
                      </a:r>
                      <a:r>
                        <a:rPr lang="en-US" altLang="zh-CN" sz="1200" b="0">
                          <a:solidFill>
                            <a:schemeClr val="tx1"/>
                          </a:solidFill>
                        </a:rPr>
                        <a:t>rpm</a:t>
                      </a:r>
                      <a:r>
                        <a:rPr lang="zh-CN" altLang="en-US" sz="1200" b="0">
                          <a:solidFill>
                            <a:schemeClr val="tx1"/>
                          </a:solidFill>
                        </a:rPr>
                        <a: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a:solidFill>
                            <a:schemeClr val="tx1"/>
                          </a:solidFill>
                        </a:rPr>
                        <a:t>过量空气系数</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i="0">
                          <a:solidFill>
                            <a:schemeClr val="tx1"/>
                          </a:solidFill>
                        </a:rPr>
                        <a:t>点火提前角（</a:t>
                      </a:r>
                      <a:r>
                        <a:rPr lang="en-US" altLang="zh-CN" sz="1200" b="0" i="0">
                          <a:solidFill>
                            <a:schemeClr val="tx1"/>
                          </a:solidFill>
                        </a:rPr>
                        <a:t>°CA</a:t>
                      </a:r>
                      <a:r>
                        <a:rPr lang="zh-CN" altLang="en-US" sz="1200" b="0" i="0">
                          <a:solidFill>
                            <a:schemeClr val="tx1"/>
                          </a:solidFill>
                        </a:rPr>
                        <a: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a:solidFill>
                            <a:schemeClr val="tx1"/>
                          </a:solidFill>
                        </a:rPr>
                        <a:t>进气缸压（</a:t>
                      </a:r>
                      <a:r>
                        <a:rPr lang="en-US" altLang="zh-CN" sz="1200" b="0">
                          <a:solidFill>
                            <a:schemeClr val="tx1"/>
                          </a:solidFill>
                        </a:rPr>
                        <a:t>bar</a:t>
                      </a:r>
                      <a:r>
                        <a:rPr lang="zh-CN" altLang="en-US" sz="1200" b="0">
                          <a:solidFill>
                            <a:schemeClr val="tx1"/>
                          </a:solidFill>
                        </a:rPr>
                        <a: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a:solidFill>
                            <a:schemeClr val="tx1"/>
                          </a:solidFill>
                        </a:rPr>
                        <a:t>氢气质量流量</a:t>
                      </a:r>
                      <a:r>
                        <a:rPr lang="en-US" altLang="zh-CN" sz="1200" b="0">
                          <a:solidFill>
                            <a:schemeClr val="tx1"/>
                          </a:solidFill>
                        </a:rPr>
                        <a:t>(kg/h)</a:t>
                      </a:r>
                      <a:endParaRPr lang="zh-CN" altLang="en-US" sz="1200" b="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6920176"/>
                  </a:ext>
                </a:extLst>
              </a:tr>
              <a:tr h="243840">
                <a:tc>
                  <a:txBody>
                    <a:bodyPr/>
                    <a:lstStyle/>
                    <a:p>
                      <a:pPr algn="ctr"/>
                      <a:r>
                        <a:rPr lang="en-US" altLang="zh-CN" sz="1200" b="1"/>
                        <a:t>case1</a:t>
                      </a:r>
                      <a:endParaRPr lang="zh-CN" altLang="en-US" sz="1200" b="1"/>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a:t>1000</a:t>
                      </a:r>
                      <a:endParaRPr lang="zh-CN" altLang="en-US" sz="120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a:t>2.5</a:t>
                      </a:r>
                      <a:endParaRPr lang="zh-CN" altLang="en-US" sz="120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a:t>-10</a:t>
                      </a:r>
                      <a:endParaRPr lang="zh-CN" altLang="en-US" sz="120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a:t>2.6</a:t>
                      </a:r>
                      <a:endParaRPr lang="zh-CN" altLang="en-US" sz="120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a:t>1.33</a:t>
                      </a:r>
                      <a:endParaRPr lang="zh-CN" altLang="en-US" sz="120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4803101"/>
                  </a:ext>
                </a:extLst>
              </a:tr>
            </a:tbl>
          </a:graphicData>
        </a:graphic>
      </p:graphicFrame>
      <p:sp>
        <p:nvSpPr>
          <p:cNvPr id="53" name="箭头: V 形 52">
            <a:extLst>
              <a:ext uri="{FF2B5EF4-FFF2-40B4-BE49-F238E27FC236}">
                <a16:creationId xmlns:a16="http://schemas.microsoft.com/office/drawing/2014/main" id="{1B94A0B7-6EF4-5ACA-1A0B-974E71DB2635}"/>
              </a:ext>
            </a:extLst>
          </p:cNvPr>
          <p:cNvSpPr/>
          <p:nvPr/>
        </p:nvSpPr>
        <p:spPr>
          <a:xfrm>
            <a:off x="327102" y="2204940"/>
            <a:ext cx="2408665" cy="443299"/>
          </a:xfrm>
          <a:prstGeom prst="chevron">
            <a:avLst/>
          </a:prstGeom>
          <a:solidFill>
            <a:schemeClr val="bg1"/>
          </a:solidFill>
          <a:ln>
            <a:solidFill>
              <a:schemeClr val="tx1">
                <a:lumMod val="65000"/>
                <a:lumOff val="3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需标定参数</a:t>
            </a:r>
          </a:p>
        </p:txBody>
      </p:sp>
      <p:grpSp>
        <p:nvGrpSpPr>
          <p:cNvPr id="70" name="组合 69">
            <a:extLst>
              <a:ext uri="{FF2B5EF4-FFF2-40B4-BE49-F238E27FC236}">
                <a16:creationId xmlns:a16="http://schemas.microsoft.com/office/drawing/2014/main" id="{3691D663-162C-34B7-7149-CC3607515FEB}"/>
              </a:ext>
            </a:extLst>
          </p:cNvPr>
          <p:cNvGrpSpPr/>
          <p:nvPr/>
        </p:nvGrpSpPr>
        <p:grpSpPr>
          <a:xfrm>
            <a:off x="2883008" y="2824914"/>
            <a:ext cx="3157229" cy="3590754"/>
            <a:chOff x="2883008" y="2824914"/>
            <a:chExt cx="3157229" cy="3590754"/>
          </a:xfrm>
        </p:grpSpPr>
        <p:sp>
          <p:nvSpPr>
            <p:cNvPr id="50" name="文本框 49">
              <a:extLst>
                <a:ext uri="{FF2B5EF4-FFF2-40B4-BE49-F238E27FC236}">
                  <a16:creationId xmlns:a16="http://schemas.microsoft.com/office/drawing/2014/main" id="{06C1027C-4459-465D-8FCE-C26203BA87BE}"/>
                </a:ext>
              </a:extLst>
            </p:cNvPr>
            <p:cNvSpPr txBox="1"/>
            <p:nvPr/>
          </p:nvSpPr>
          <p:spPr>
            <a:xfrm>
              <a:off x="2941012" y="6138669"/>
              <a:ext cx="3041220" cy="276999"/>
            </a:xfrm>
            <a:prstGeom prst="rect">
              <a:avLst/>
            </a:prstGeom>
            <a:noFill/>
          </p:spPr>
          <p:txBody>
            <a:bodyPr wrap="square">
              <a:spAutoFit/>
            </a:bodyPr>
            <a:lstStyle/>
            <a:p>
              <a:pPr algn="ctr"/>
              <a:r>
                <a:rPr lang="zh-CN" altLang="en-US" sz="1200"/>
                <a:t>图</a:t>
              </a:r>
              <a:r>
                <a:rPr lang="en-US" altLang="zh-CN" sz="1200"/>
                <a:t>4-2 </a:t>
              </a:r>
              <a:r>
                <a:rPr lang="zh-CN" altLang="en-US" sz="1200"/>
                <a:t>遗传算法标定流程</a:t>
              </a:r>
            </a:p>
          </p:txBody>
        </p:sp>
        <p:pic>
          <p:nvPicPr>
            <p:cNvPr id="52" name="图片 51">
              <a:extLst>
                <a:ext uri="{FF2B5EF4-FFF2-40B4-BE49-F238E27FC236}">
                  <a16:creationId xmlns:a16="http://schemas.microsoft.com/office/drawing/2014/main" id="{6F3AE114-1ACE-7AC4-1674-748C2DF4AC91}"/>
                </a:ext>
              </a:extLst>
            </p:cNvPr>
            <p:cNvPicPr>
              <a:picLocks noChangeAspect="1"/>
            </p:cNvPicPr>
            <p:nvPr/>
          </p:nvPicPr>
          <p:blipFill>
            <a:blip r:embed="rId3"/>
            <a:stretch>
              <a:fillRect/>
            </a:stretch>
          </p:blipFill>
          <p:spPr>
            <a:xfrm>
              <a:off x="2883008" y="2824914"/>
              <a:ext cx="3157229" cy="3252903"/>
            </a:xfrm>
            <a:prstGeom prst="rect">
              <a:avLst/>
            </a:prstGeom>
          </p:spPr>
        </p:pic>
      </p:grpSp>
      <p:sp>
        <p:nvSpPr>
          <p:cNvPr id="63" name="箭头: V 形 62">
            <a:extLst>
              <a:ext uri="{FF2B5EF4-FFF2-40B4-BE49-F238E27FC236}">
                <a16:creationId xmlns:a16="http://schemas.microsoft.com/office/drawing/2014/main" id="{BF0B57C6-7EBF-46A6-E9BD-7D4FD63C35A0}"/>
              </a:ext>
            </a:extLst>
          </p:cNvPr>
          <p:cNvSpPr/>
          <p:nvPr/>
        </p:nvSpPr>
        <p:spPr>
          <a:xfrm>
            <a:off x="2883008" y="2204939"/>
            <a:ext cx="3157229" cy="443299"/>
          </a:xfrm>
          <a:prstGeom prst="chevron">
            <a:avLst/>
          </a:prstGeom>
          <a:solidFill>
            <a:srgbClr val="FFFFFF"/>
          </a:solidFill>
          <a:ln>
            <a:solidFill>
              <a:schemeClr val="tx1">
                <a:lumMod val="65000"/>
                <a:lumOff val="3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遗传算法（</a:t>
            </a:r>
            <a:r>
              <a:rPr lang="en-US" altLang="zh-CN" sz="1400" b="1">
                <a:solidFill>
                  <a:schemeClr val="tx1"/>
                </a:solidFill>
              </a:rPr>
              <a:t>GA</a:t>
            </a:r>
            <a:r>
              <a:rPr lang="zh-CN" altLang="en-US" sz="1400" b="1">
                <a:solidFill>
                  <a:schemeClr val="tx1"/>
                </a:solidFill>
              </a:rPr>
              <a:t>）模型标定</a:t>
            </a:r>
          </a:p>
        </p:txBody>
      </p:sp>
      <p:sp>
        <p:nvSpPr>
          <p:cNvPr id="64" name="箭头: V 形 63">
            <a:extLst>
              <a:ext uri="{FF2B5EF4-FFF2-40B4-BE49-F238E27FC236}">
                <a16:creationId xmlns:a16="http://schemas.microsoft.com/office/drawing/2014/main" id="{1107BCA7-B7C1-36B8-AFFF-A0C682DABAD6}"/>
              </a:ext>
            </a:extLst>
          </p:cNvPr>
          <p:cNvSpPr/>
          <p:nvPr/>
        </p:nvSpPr>
        <p:spPr>
          <a:xfrm>
            <a:off x="6211538" y="2204939"/>
            <a:ext cx="2925013" cy="443299"/>
          </a:xfrm>
          <a:prstGeom prst="chevron">
            <a:avLst/>
          </a:prstGeom>
          <a:solidFill>
            <a:srgbClr val="FFFFFF"/>
          </a:solidFill>
          <a:ln>
            <a:solidFill>
              <a:schemeClr val="tx1">
                <a:lumMod val="65000"/>
                <a:lumOff val="3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准维模型仿真</a:t>
            </a:r>
          </a:p>
        </p:txBody>
      </p:sp>
      <p:sp>
        <p:nvSpPr>
          <p:cNvPr id="65" name="箭头: V 形 64">
            <a:extLst>
              <a:ext uri="{FF2B5EF4-FFF2-40B4-BE49-F238E27FC236}">
                <a16:creationId xmlns:a16="http://schemas.microsoft.com/office/drawing/2014/main" id="{052B9C87-1F2A-2043-B0EE-B5F5B55C80F4}"/>
              </a:ext>
            </a:extLst>
          </p:cNvPr>
          <p:cNvSpPr/>
          <p:nvPr/>
        </p:nvSpPr>
        <p:spPr>
          <a:xfrm>
            <a:off x="9257221" y="2204939"/>
            <a:ext cx="2607677" cy="443299"/>
          </a:xfrm>
          <a:prstGeom prst="chevron">
            <a:avLst/>
          </a:prstGeom>
          <a:solidFill>
            <a:srgbClr val="FFFFFF"/>
          </a:solidFill>
          <a:ln>
            <a:solidFill>
              <a:schemeClr val="tx1">
                <a:lumMod val="65000"/>
                <a:lumOff val="3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准维模型误差分析</a:t>
            </a:r>
          </a:p>
        </p:txBody>
      </p:sp>
      <p:grpSp>
        <p:nvGrpSpPr>
          <p:cNvPr id="88" name="组合 87">
            <a:extLst>
              <a:ext uri="{FF2B5EF4-FFF2-40B4-BE49-F238E27FC236}">
                <a16:creationId xmlns:a16="http://schemas.microsoft.com/office/drawing/2014/main" id="{93B66CCC-3EE9-AC57-9B04-2026249B7F00}"/>
              </a:ext>
            </a:extLst>
          </p:cNvPr>
          <p:cNvGrpSpPr/>
          <p:nvPr/>
        </p:nvGrpSpPr>
        <p:grpSpPr>
          <a:xfrm>
            <a:off x="228687" y="3545425"/>
            <a:ext cx="2351185" cy="1460800"/>
            <a:chOff x="284772" y="3331283"/>
            <a:chExt cx="2351185" cy="1460800"/>
          </a:xfrm>
        </p:grpSpPr>
        <p:grpSp>
          <p:nvGrpSpPr>
            <p:cNvPr id="77" name="组合 76">
              <a:extLst>
                <a:ext uri="{FF2B5EF4-FFF2-40B4-BE49-F238E27FC236}">
                  <a16:creationId xmlns:a16="http://schemas.microsoft.com/office/drawing/2014/main" id="{B8AAA9CB-8180-F245-60B2-1881082AB4A6}"/>
                </a:ext>
              </a:extLst>
            </p:cNvPr>
            <p:cNvGrpSpPr/>
            <p:nvPr/>
          </p:nvGrpSpPr>
          <p:grpSpPr>
            <a:xfrm>
              <a:off x="284772" y="3331283"/>
              <a:ext cx="2351185" cy="720132"/>
              <a:chOff x="109516" y="2981485"/>
              <a:chExt cx="2351185" cy="720132"/>
            </a:xfrm>
          </p:grpSpPr>
          <p:sp>
            <p:nvSpPr>
              <p:cNvPr id="72" name="矩形 71">
                <a:extLst>
                  <a:ext uri="{FF2B5EF4-FFF2-40B4-BE49-F238E27FC236}">
                    <a16:creationId xmlns:a16="http://schemas.microsoft.com/office/drawing/2014/main" id="{BF98367D-443A-19E8-7EE6-BA2CDD9F74BD}"/>
                  </a:ext>
                </a:extLst>
              </p:cNvPr>
              <p:cNvSpPr/>
              <p:nvPr/>
            </p:nvSpPr>
            <p:spPr>
              <a:xfrm>
                <a:off x="109516" y="2981485"/>
                <a:ext cx="565551" cy="34979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t>C_τ</a:t>
                </a:r>
                <a:endParaRPr lang="zh-CN" altLang="en-US" sz="1400"/>
              </a:p>
            </p:txBody>
          </p:sp>
          <p:sp>
            <p:nvSpPr>
              <p:cNvPr id="73" name="矩形 72">
                <a:extLst>
                  <a:ext uri="{FF2B5EF4-FFF2-40B4-BE49-F238E27FC236}">
                    <a16:creationId xmlns:a16="http://schemas.microsoft.com/office/drawing/2014/main" id="{38BBDB14-C1E2-0DD4-CDA4-45F8689EB5D8}"/>
                  </a:ext>
                </a:extLst>
              </p:cNvPr>
              <p:cNvSpPr/>
              <p:nvPr/>
            </p:nvSpPr>
            <p:spPr>
              <a:xfrm>
                <a:off x="675067" y="2981485"/>
                <a:ext cx="1785634" cy="349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燃烧延迟时长比例系数</a:t>
                </a:r>
              </a:p>
            </p:txBody>
          </p:sp>
          <p:grpSp>
            <p:nvGrpSpPr>
              <p:cNvPr id="76" name="组合 75">
                <a:extLst>
                  <a:ext uri="{FF2B5EF4-FFF2-40B4-BE49-F238E27FC236}">
                    <a16:creationId xmlns:a16="http://schemas.microsoft.com/office/drawing/2014/main" id="{D3F25F38-1DF3-3118-A4C1-D42138DACB09}"/>
                  </a:ext>
                </a:extLst>
              </p:cNvPr>
              <p:cNvGrpSpPr/>
              <p:nvPr/>
            </p:nvGrpSpPr>
            <p:grpSpPr>
              <a:xfrm>
                <a:off x="109517" y="3351819"/>
                <a:ext cx="2351184" cy="349798"/>
                <a:chOff x="103738" y="3351819"/>
                <a:chExt cx="2351184" cy="349798"/>
              </a:xfrm>
            </p:grpSpPr>
            <p:sp>
              <p:nvSpPr>
                <p:cNvPr id="74" name="矩形 73">
                  <a:extLst>
                    <a:ext uri="{FF2B5EF4-FFF2-40B4-BE49-F238E27FC236}">
                      <a16:creationId xmlns:a16="http://schemas.microsoft.com/office/drawing/2014/main" id="{BBFFF2E0-4D12-6824-3D55-6853F5B504C3}"/>
                    </a:ext>
                  </a:extLst>
                </p:cNvPr>
                <p:cNvSpPr/>
                <p:nvPr/>
              </p:nvSpPr>
              <p:spPr>
                <a:xfrm>
                  <a:off x="103738" y="3351819"/>
                  <a:ext cx="565550" cy="34979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t>C_u</a:t>
                  </a:r>
                  <a:endParaRPr lang="zh-CN" altLang="en-US" sz="1400"/>
                </a:p>
              </p:txBody>
            </p:sp>
            <p:sp>
              <p:nvSpPr>
                <p:cNvPr id="75" name="矩形 74">
                  <a:extLst>
                    <a:ext uri="{FF2B5EF4-FFF2-40B4-BE49-F238E27FC236}">
                      <a16:creationId xmlns:a16="http://schemas.microsoft.com/office/drawing/2014/main" id="{1FF63A9A-63E7-A551-5A3F-8DC840FACBC9}"/>
                    </a:ext>
                  </a:extLst>
                </p:cNvPr>
                <p:cNvSpPr/>
                <p:nvPr/>
              </p:nvSpPr>
              <p:spPr>
                <a:xfrm>
                  <a:off x="669288" y="3351819"/>
                  <a:ext cx="1785634" cy="349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湍流强度映射系数</a:t>
                  </a:r>
                </a:p>
              </p:txBody>
            </p:sp>
          </p:grpSp>
        </p:grpSp>
        <p:grpSp>
          <p:nvGrpSpPr>
            <p:cNvPr id="78" name="组合 77">
              <a:extLst>
                <a:ext uri="{FF2B5EF4-FFF2-40B4-BE49-F238E27FC236}">
                  <a16:creationId xmlns:a16="http://schemas.microsoft.com/office/drawing/2014/main" id="{BB14682A-BAB6-CB39-919A-F2F50E6B063A}"/>
                </a:ext>
              </a:extLst>
            </p:cNvPr>
            <p:cNvGrpSpPr/>
            <p:nvPr/>
          </p:nvGrpSpPr>
          <p:grpSpPr>
            <a:xfrm>
              <a:off x="284773" y="4071951"/>
              <a:ext cx="2351184" cy="720132"/>
              <a:chOff x="109517" y="2981485"/>
              <a:chExt cx="2351184" cy="720132"/>
            </a:xfrm>
          </p:grpSpPr>
          <p:sp>
            <p:nvSpPr>
              <p:cNvPr id="79" name="矩形 78">
                <a:extLst>
                  <a:ext uri="{FF2B5EF4-FFF2-40B4-BE49-F238E27FC236}">
                    <a16:creationId xmlns:a16="http://schemas.microsoft.com/office/drawing/2014/main" id="{690B243F-772E-1478-4DDA-EF80128E0272}"/>
                  </a:ext>
                </a:extLst>
              </p:cNvPr>
              <p:cNvSpPr/>
              <p:nvPr/>
            </p:nvSpPr>
            <p:spPr>
              <a:xfrm>
                <a:off x="109517" y="2981485"/>
                <a:ext cx="565550" cy="34979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t>C_L</a:t>
                </a:r>
                <a:endParaRPr lang="zh-CN" altLang="en-US" sz="1400"/>
              </a:p>
            </p:txBody>
          </p:sp>
          <p:sp>
            <p:nvSpPr>
              <p:cNvPr id="80" name="矩形 79">
                <a:extLst>
                  <a:ext uri="{FF2B5EF4-FFF2-40B4-BE49-F238E27FC236}">
                    <a16:creationId xmlns:a16="http://schemas.microsoft.com/office/drawing/2014/main" id="{82CA344A-B605-4A18-A723-ACDA5B2262D1}"/>
                  </a:ext>
                </a:extLst>
              </p:cNvPr>
              <p:cNvSpPr/>
              <p:nvPr/>
            </p:nvSpPr>
            <p:spPr>
              <a:xfrm>
                <a:off x="675067" y="2981485"/>
                <a:ext cx="1785634" cy="349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层流火焰速度修正系数</a:t>
                </a:r>
              </a:p>
            </p:txBody>
          </p:sp>
          <p:grpSp>
            <p:nvGrpSpPr>
              <p:cNvPr id="81" name="组合 80">
                <a:extLst>
                  <a:ext uri="{FF2B5EF4-FFF2-40B4-BE49-F238E27FC236}">
                    <a16:creationId xmlns:a16="http://schemas.microsoft.com/office/drawing/2014/main" id="{8ADDE65F-2571-AFC1-B3CC-208085C2BB41}"/>
                  </a:ext>
                </a:extLst>
              </p:cNvPr>
              <p:cNvGrpSpPr/>
              <p:nvPr/>
            </p:nvGrpSpPr>
            <p:grpSpPr>
              <a:xfrm>
                <a:off x="109517" y="3351819"/>
                <a:ext cx="2351184" cy="349798"/>
                <a:chOff x="103738" y="3351819"/>
                <a:chExt cx="2351184" cy="349798"/>
              </a:xfrm>
            </p:grpSpPr>
            <p:sp>
              <p:nvSpPr>
                <p:cNvPr id="82" name="矩形 81">
                  <a:extLst>
                    <a:ext uri="{FF2B5EF4-FFF2-40B4-BE49-F238E27FC236}">
                      <a16:creationId xmlns:a16="http://schemas.microsoft.com/office/drawing/2014/main" id="{7A429890-A874-9D95-D2D4-F087560E52E9}"/>
                    </a:ext>
                  </a:extLst>
                </p:cNvPr>
                <p:cNvSpPr/>
                <p:nvPr/>
              </p:nvSpPr>
              <p:spPr>
                <a:xfrm>
                  <a:off x="103738" y="3351819"/>
                  <a:ext cx="565550" cy="34979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t>C_LT</a:t>
                  </a:r>
                  <a:endParaRPr lang="zh-CN" altLang="en-US" sz="1400"/>
                </a:p>
              </p:txBody>
            </p:sp>
            <p:sp>
              <p:nvSpPr>
                <p:cNvPr id="83" name="矩形 82">
                  <a:extLst>
                    <a:ext uri="{FF2B5EF4-FFF2-40B4-BE49-F238E27FC236}">
                      <a16:creationId xmlns:a16="http://schemas.microsoft.com/office/drawing/2014/main" id="{F49F3427-667E-315B-CD83-50A3EA401DD5}"/>
                    </a:ext>
                  </a:extLst>
                </p:cNvPr>
                <p:cNvSpPr/>
                <p:nvPr/>
              </p:nvSpPr>
              <p:spPr>
                <a:xfrm>
                  <a:off x="669288" y="3351819"/>
                  <a:ext cx="1785634" cy="349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rPr>
                    <a:t>湍流积分尺度特征系数</a:t>
                  </a:r>
                </a:p>
              </p:txBody>
            </p:sp>
          </p:grpSp>
        </p:grpSp>
      </p:grpSp>
      <p:sp>
        <p:nvSpPr>
          <p:cNvPr id="84" name="矩形 83">
            <a:extLst>
              <a:ext uri="{FF2B5EF4-FFF2-40B4-BE49-F238E27FC236}">
                <a16:creationId xmlns:a16="http://schemas.microsoft.com/office/drawing/2014/main" id="{A29E1753-941F-902E-FE50-90A13DF2A763}"/>
              </a:ext>
            </a:extLst>
          </p:cNvPr>
          <p:cNvSpPr/>
          <p:nvPr/>
        </p:nvSpPr>
        <p:spPr>
          <a:xfrm>
            <a:off x="936800" y="2921861"/>
            <a:ext cx="964997" cy="34979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湍流模型</a:t>
            </a:r>
          </a:p>
        </p:txBody>
      </p:sp>
      <p:sp>
        <p:nvSpPr>
          <p:cNvPr id="85" name="箭头: V 形 84">
            <a:extLst>
              <a:ext uri="{FF2B5EF4-FFF2-40B4-BE49-F238E27FC236}">
                <a16:creationId xmlns:a16="http://schemas.microsoft.com/office/drawing/2014/main" id="{5A4AB43F-6432-1491-C2D5-BA7EBB07959D}"/>
              </a:ext>
            </a:extLst>
          </p:cNvPr>
          <p:cNvSpPr/>
          <p:nvPr/>
        </p:nvSpPr>
        <p:spPr>
          <a:xfrm rot="5400000">
            <a:off x="1342954" y="3252954"/>
            <a:ext cx="152687" cy="304559"/>
          </a:xfrm>
          <a:prstGeom prst="chevron">
            <a:avLst>
              <a:gd name="adj" fmla="val 5324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90" name="组合 89">
            <a:extLst>
              <a:ext uri="{FF2B5EF4-FFF2-40B4-BE49-F238E27FC236}">
                <a16:creationId xmlns:a16="http://schemas.microsoft.com/office/drawing/2014/main" id="{DAED62DF-DA2C-9338-488E-43A230EE0238}"/>
              </a:ext>
            </a:extLst>
          </p:cNvPr>
          <p:cNvGrpSpPr/>
          <p:nvPr/>
        </p:nvGrpSpPr>
        <p:grpSpPr>
          <a:xfrm>
            <a:off x="156226" y="5506632"/>
            <a:ext cx="1242170" cy="720132"/>
            <a:chOff x="109516" y="2981485"/>
            <a:chExt cx="1242170" cy="720132"/>
          </a:xfrm>
        </p:grpSpPr>
        <p:sp>
          <p:nvSpPr>
            <p:cNvPr id="97" name="矩形 96">
              <a:extLst>
                <a:ext uri="{FF2B5EF4-FFF2-40B4-BE49-F238E27FC236}">
                  <a16:creationId xmlns:a16="http://schemas.microsoft.com/office/drawing/2014/main" id="{8CE95F5D-CC2A-B3C7-C939-407123028042}"/>
                </a:ext>
              </a:extLst>
            </p:cNvPr>
            <p:cNvSpPr/>
            <p:nvPr/>
          </p:nvSpPr>
          <p:spPr>
            <a:xfrm>
              <a:off x="109516" y="2981485"/>
              <a:ext cx="565551" cy="34979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t>C_τ</a:t>
              </a:r>
              <a:endParaRPr lang="zh-CN" altLang="en-US" sz="1400"/>
            </a:p>
          </p:txBody>
        </p:sp>
        <p:sp>
          <p:nvSpPr>
            <p:cNvPr id="98" name="矩形 97">
              <a:extLst>
                <a:ext uri="{FF2B5EF4-FFF2-40B4-BE49-F238E27FC236}">
                  <a16:creationId xmlns:a16="http://schemas.microsoft.com/office/drawing/2014/main" id="{77898B80-FD82-2FCC-7FE0-BB00C44AB290}"/>
                </a:ext>
              </a:extLst>
            </p:cNvPr>
            <p:cNvSpPr/>
            <p:nvPr/>
          </p:nvSpPr>
          <p:spPr>
            <a:xfrm>
              <a:off x="675067" y="2981485"/>
              <a:ext cx="676619" cy="349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b="1">
                  <a:solidFill>
                    <a:schemeClr val="tx1"/>
                  </a:solidFill>
                </a:rPr>
                <a:t>1.3803</a:t>
              </a:r>
              <a:endParaRPr lang="zh-CN" altLang="en-US" sz="1200" b="1">
                <a:solidFill>
                  <a:schemeClr val="tx1"/>
                </a:solidFill>
              </a:endParaRPr>
            </a:p>
          </p:txBody>
        </p:sp>
        <p:grpSp>
          <p:nvGrpSpPr>
            <p:cNvPr id="99" name="组合 98">
              <a:extLst>
                <a:ext uri="{FF2B5EF4-FFF2-40B4-BE49-F238E27FC236}">
                  <a16:creationId xmlns:a16="http://schemas.microsoft.com/office/drawing/2014/main" id="{E942DAA3-85B0-B4D8-F176-26887FF81D14}"/>
                </a:ext>
              </a:extLst>
            </p:cNvPr>
            <p:cNvGrpSpPr/>
            <p:nvPr/>
          </p:nvGrpSpPr>
          <p:grpSpPr>
            <a:xfrm>
              <a:off x="109517" y="3351819"/>
              <a:ext cx="1242168" cy="349798"/>
              <a:chOff x="103738" y="3351819"/>
              <a:chExt cx="1242168" cy="349798"/>
            </a:xfrm>
          </p:grpSpPr>
          <p:sp>
            <p:nvSpPr>
              <p:cNvPr id="100" name="矩形 99">
                <a:extLst>
                  <a:ext uri="{FF2B5EF4-FFF2-40B4-BE49-F238E27FC236}">
                    <a16:creationId xmlns:a16="http://schemas.microsoft.com/office/drawing/2014/main" id="{D9BE0B9B-C1BB-9EE7-3E28-73F52CE13142}"/>
                  </a:ext>
                </a:extLst>
              </p:cNvPr>
              <p:cNvSpPr/>
              <p:nvPr/>
            </p:nvSpPr>
            <p:spPr>
              <a:xfrm>
                <a:off x="103738" y="3351819"/>
                <a:ext cx="565550" cy="34979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t>C_u</a:t>
                </a:r>
                <a:endParaRPr lang="zh-CN" altLang="en-US" sz="1400"/>
              </a:p>
            </p:txBody>
          </p:sp>
          <p:sp>
            <p:nvSpPr>
              <p:cNvPr id="101" name="矩形 100">
                <a:extLst>
                  <a:ext uri="{FF2B5EF4-FFF2-40B4-BE49-F238E27FC236}">
                    <a16:creationId xmlns:a16="http://schemas.microsoft.com/office/drawing/2014/main" id="{238B037A-C059-D66F-4147-5A8D36B1B86F}"/>
                  </a:ext>
                </a:extLst>
              </p:cNvPr>
              <p:cNvSpPr/>
              <p:nvPr/>
            </p:nvSpPr>
            <p:spPr>
              <a:xfrm>
                <a:off x="669288" y="3351819"/>
                <a:ext cx="676618" cy="349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b="1">
                    <a:solidFill>
                      <a:schemeClr val="tx1"/>
                    </a:solidFill>
                  </a:rPr>
                  <a:t>2.7547</a:t>
                </a:r>
                <a:endParaRPr lang="zh-CN" altLang="en-US" sz="1200" b="1">
                  <a:solidFill>
                    <a:schemeClr val="tx1"/>
                  </a:solidFill>
                </a:endParaRPr>
              </a:p>
            </p:txBody>
          </p:sp>
        </p:grpSp>
      </p:grpSp>
      <p:grpSp>
        <p:nvGrpSpPr>
          <p:cNvPr id="91" name="组合 90">
            <a:extLst>
              <a:ext uri="{FF2B5EF4-FFF2-40B4-BE49-F238E27FC236}">
                <a16:creationId xmlns:a16="http://schemas.microsoft.com/office/drawing/2014/main" id="{DFF202A5-2A39-E234-3186-54909E8E3965}"/>
              </a:ext>
            </a:extLst>
          </p:cNvPr>
          <p:cNvGrpSpPr/>
          <p:nvPr/>
        </p:nvGrpSpPr>
        <p:grpSpPr>
          <a:xfrm>
            <a:off x="1425587" y="5506632"/>
            <a:ext cx="1242168" cy="720132"/>
            <a:chOff x="109517" y="2981485"/>
            <a:chExt cx="1242168" cy="720132"/>
          </a:xfrm>
        </p:grpSpPr>
        <p:sp>
          <p:nvSpPr>
            <p:cNvPr id="92" name="矩形 91">
              <a:extLst>
                <a:ext uri="{FF2B5EF4-FFF2-40B4-BE49-F238E27FC236}">
                  <a16:creationId xmlns:a16="http://schemas.microsoft.com/office/drawing/2014/main" id="{7F220086-93B5-4B0F-5B83-4FE0F9A7C154}"/>
                </a:ext>
              </a:extLst>
            </p:cNvPr>
            <p:cNvSpPr/>
            <p:nvPr/>
          </p:nvSpPr>
          <p:spPr>
            <a:xfrm>
              <a:off x="109517" y="2981485"/>
              <a:ext cx="565550" cy="34979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t>C_L</a:t>
              </a:r>
              <a:endParaRPr lang="zh-CN" altLang="en-US" sz="1400"/>
            </a:p>
          </p:txBody>
        </p:sp>
        <p:sp>
          <p:nvSpPr>
            <p:cNvPr id="93" name="矩形 92">
              <a:extLst>
                <a:ext uri="{FF2B5EF4-FFF2-40B4-BE49-F238E27FC236}">
                  <a16:creationId xmlns:a16="http://schemas.microsoft.com/office/drawing/2014/main" id="{890549F8-F6F1-8C69-1208-4AB5D2DF9DC7}"/>
                </a:ext>
              </a:extLst>
            </p:cNvPr>
            <p:cNvSpPr/>
            <p:nvPr/>
          </p:nvSpPr>
          <p:spPr>
            <a:xfrm>
              <a:off x="675067" y="2981485"/>
              <a:ext cx="676618" cy="349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b="1">
                  <a:solidFill>
                    <a:schemeClr val="tx1"/>
                  </a:solidFill>
                </a:rPr>
                <a:t>0.2828</a:t>
              </a:r>
              <a:endParaRPr lang="zh-CN" altLang="en-US" sz="1200" b="1">
                <a:solidFill>
                  <a:schemeClr val="tx1"/>
                </a:solidFill>
              </a:endParaRPr>
            </a:p>
          </p:txBody>
        </p:sp>
        <p:grpSp>
          <p:nvGrpSpPr>
            <p:cNvPr id="94" name="组合 93">
              <a:extLst>
                <a:ext uri="{FF2B5EF4-FFF2-40B4-BE49-F238E27FC236}">
                  <a16:creationId xmlns:a16="http://schemas.microsoft.com/office/drawing/2014/main" id="{059ABDC2-839B-FEA2-8D41-6B4BA890AAF2}"/>
                </a:ext>
              </a:extLst>
            </p:cNvPr>
            <p:cNvGrpSpPr/>
            <p:nvPr/>
          </p:nvGrpSpPr>
          <p:grpSpPr>
            <a:xfrm>
              <a:off x="109517" y="3351819"/>
              <a:ext cx="1242166" cy="349798"/>
              <a:chOff x="103738" y="3351819"/>
              <a:chExt cx="1242166" cy="349798"/>
            </a:xfrm>
          </p:grpSpPr>
          <p:sp>
            <p:nvSpPr>
              <p:cNvPr id="95" name="矩形 94">
                <a:extLst>
                  <a:ext uri="{FF2B5EF4-FFF2-40B4-BE49-F238E27FC236}">
                    <a16:creationId xmlns:a16="http://schemas.microsoft.com/office/drawing/2014/main" id="{F6EEFD81-1734-430B-2184-219BD56C9462}"/>
                  </a:ext>
                </a:extLst>
              </p:cNvPr>
              <p:cNvSpPr/>
              <p:nvPr/>
            </p:nvSpPr>
            <p:spPr>
              <a:xfrm>
                <a:off x="103738" y="3351819"/>
                <a:ext cx="565550" cy="34979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t>C_LT</a:t>
                </a:r>
                <a:endParaRPr lang="zh-CN" altLang="en-US" sz="1400"/>
              </a:p>
            </p:txBody>
          </p:sp>
          <p:sp>
            <p:nvSpPr>
              <p:cNvPr id="96" name="矩形 95">
                <a:extLst>
                  <a:ext uri="{FF2B5EF4-FFF2-40B4-BE49-F238E27FC236}">
                    <a16:creationId xmlns:a16="http://schemas.microsoft.com/office/drawing/2014/main" id="{01035650-B3AC-578C-D7D3-401955CD7B79}"/>
                  </a:ext>
                </a:extLst>
              </p:cNvPr>
              <p:cNvSpPr/>
              <p:nvPr/>
            </p:nvSpPr>
            <p:spPr>
              <a:xfrm>
                <a:off x="669288" y="3351819"/>
                <a:ext cx="676616" cy="349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b="1">
                    <a:solidFill>
                      <a:schemeClr val="tx1"/>
                    </a:solidFill>
                  </a:rPr>
                  <a:t>2.7188</a:t>
                </a:r>
                <a:endParaRPr lang="zh-CN" altLang="en-US" sz="1200" b="1">
                  <a:solidFill>
                    <a:schemeClr val="tx1"/>
                  </a:solidFill>
                </a:endParaRPr>
              </a:p>
            </p:txBody>
          </p:sp>
        </p:grpSp>
      </p:grpSp>
      <p:sp>
        <p:nvSpPr>
          <p:cNvPr id="103" name="文本框 102">
            <a:extLst>
              <a:ext uri="{FF2B5EF4-FFF2-40B4-BE49-F238E27FC236}">
                <a16:creationId xmlns:a16="http://schemas.microsoft.com/office/drawing/2014/main" id="{0AB8412C-6C0B-3842-E8B2-361E90EF7300}"/>
              </a:ext>
            </a:extLst>
          </p:cNvPr>
          <p:cNvSpPr txBox="1"/>
          <p:nvPr/>
        </p:nvSpPr>
        <p:spPr>
          <a:xfrm>
            <a:off x="969105" y="5216143"/>
            <a:ext cx="902811" cy="307777"/>
          </a:xfrm>
          <a:prstGeom prst="rect">
            <a:avLst/>
          </a:prstGeom>
          <a:noFill/>
        </p:spPr>
        <p:txBody>
          <a:bodyPr wrap="none" rtlCol="0">
            <a:spAutoFit/>
          </a:bodyPr>
          <a:lstStyle/>
          <a:p>
            <a:r>
              <a:rPr lang="zh-CN" altLang="en-US" sz="1400" b="1"/>
              <a:t>标定结果</a:t>
            </a:r>
          </a:p>
        </p:txBody>
      </p:sp>
      <p:pic>
        <p:nvPicPr>
          <p:cNvPr id="105" name="图片 104">
            <a:extLst>
              <a:ext uri="{FF2B5EF4-FFF2-40B4-BE49-F238E27FC236}">
                <a16:creationId xmlns:a16="http://schemas.microsoft.com/office/drawing/2014/main" id="{8E881EED-D8EC-0A8F-CA74-38990ACB748A}"/>
              </a:ext>
            </a:extLst>
          </p:cNvPr>
          <p:cNvPicPr>
            <a:picLocks noChangeAspect="1"/>
          </p:cNvPicPr>
          <p:nvPr/>
        </p:nvPicPr>
        <p:blipFill>
          <a:blip r:embed="rId4"/>
          <a:stretch>
            <a:fillRect/>
          </a:stretch>
        </p:blipFill>
        <p:spPr>
          <a:xfrm>
            <a:off x="6273465" y="2850925"/>
            <a:ext cx="2784512" cy="2068599"/>
          </a:xfrm>
          <a:prstGeom prst="rect">
            <a:avLst/>
          </a:prstGeom>
          <a:ln>
            <a:noFill/>
          </a:ln>
          <a:effectLst>
            <a:outerShdw blurRad="57785" dist="33020" dir="3180000" algn="ctr">
              <a:srgbClr val="000000">
                <a:alpha val="30000"/>
              </a:srgbClr>
            </a:outerShdw>
          </a:effectLst>
        </p:spPr>
      </p:pic>
      <p:sp>
        <p:nvSpPr>
          <p:cNvPr id="106" name="文本框 105">
            <a:extLst>
              <a:ext uri="{FF2B5EF4-FFF2-40B4-BE49-F238E27FC236}">
                <a16:creationId xmlns:a16="http://schemas.microsoft.com/office/drawing/2014/main" id="{8206FF2D-5BE8-D471-2C80-274A0284DBE7}"/>
              </a:ext>
            </a:extLst>
          </p:cNvPr>
          <p:cNvSpPr txBox="1"/>
          <p:nvPr/>
        </p:nvSpPr>
        <p:spPr>
          <a:xfrm>
            <a:off x="6149570" y="4975364"/>
            <a:ext cx="3041220" cy="276999"/>
          </a:xfrm>
          <a:prstGeom prst="rect">
            <a:avLst/>
          </a:prstGeom>
          <a:noFill/>
        </p:spPr>
        <p:txBody>
          <a:bodyPr wrap="square">
            <a:spAutoFit/>
          </a:bodyPr>
          <a:lstStyle/>
          <a:p>
            <a:pPr algn="ctr"/>
            <a:r>
              <a:rPr lang="zh-CN" altLang="en-US" sz="1200"/>
              <a:t>图</a:t>
            </a:r>
            <a:r>
              <a:rPr lang="en-US" altLang="zh-CN" sz="1200"/>
              <a:t>4-3 </a:t>
            </a:r>
            <a:r>
              <a:rPr lang="zh-CN" altLang="en-US" sz="1200"/>
              <a:t>准维模型仿真结果图</a:t>
            </a:r>
          </a:p>
        </p:txBody>
      </p:sp>
      <p:sp>
        <p:nvSpPr>
          <p:cNvPr id="111" name="文本框 110">
            <a:extLst>
              <a:ext uri="{FF2B5EF4-FFF2-40B4-BE49-F238E27FC236}">
                <a16:creationId xmlns:a16="http://schemas.microsoft.com/office/drawing/2014/main" id="{522F5B32-A56B-754E-1BE9-1FF3874BCEBA}"/>
              </a:ext>
            </a:extLst>
          </p:cNvPr>
          <p:cNvSpPr txBox="1"/>
          <p:nvPr/>
        </p:nvSpPr>
        <p:spPr>
          <a:xfrm>
            <a:off x="6429152" y="5753948"/>
            <a:ext cx="2489784" cy="523220"/>
          </a:xfrm>
          <a:prstGeom prst="rect">
            <a:avLst/>
          </a:prstGeom>
          <a:noFill/>
        </p:spPr>
        <p:txBody>
          <a:bodyPr wrap="none" rtlCol="0">
            <a:spAutoFit/>
          </a:bodyPr>
          <a:lstStyle/>
          <a:p>
            <a:pPr algn="ctr"/>
            <a:r>
              <a:rPr lang="zh-CN" altLang="en-US" sz="1400"/>
              <a:t>燃烧时刻相位差值：</a:t>
            </a:r>
            <a:r>
              <a:rPr lang="en-US" altLang="zh-CN" sz="1400" b="1"/>
              <a:t>3.43°CA</a:t>
            </a:r>
          </a:p>
          <a:p>
            <a:pPr algn="ctr"/>
            <a:r>
              <a:rPr lang="zh-CN" altLang="en-US" sz="1400"/>
              <a:t>峰值压力相位差值：</a:t>
            </a:r>
            <a:r>
              <a:rPr lang="en-US" altLang="zh-CN" sz="1400" b="1"/>
              <a:t>3.2°CA</a:t>
            </a:r>
            <a:endParaRPr lang="zh-CN" altLang="en-US" sz="1400" b="1"/>
          </a:p>
        </p:txBody>
      </p:sp>
      <p:grpSp>
        <p:nvGrpSpPr>
          <p:cNvPr id="127" name="组合 126">
            <a:extLst>
              <a:ext uri="{FF2B5EF4-FFF2-40B4-BE49-F238E27FC236}">
                <a16:creationId xmlns:a16="http://schemas.microsoft.com/office/drawing/2014/main" id="{25B6C29B-62D6-FBB4-0A92-4B7DD15695BF}"/>
              </a:ext>
            </a:extLst>
          </p:cNvPr>
          <p:cNvGrpSpPr/>
          <p:nvPr/>
        </p:nvGrpSpPr>
        <p:grpSpPr>
          <a:xfrm>
            <a:off x="9238150" y="2831604"/>
            <a:ext cx="2851758" cy="954107"/>
            <a:chOff x="9190790" y="2831249"/>
            <a:chExt cx="2851758" cy="954107"/>
          </a:xfrm>
        </p:grpSpPr>
        <p:sp>
          <p:nvSpPr>
            <p:cNvPr id="114" name="文本框 113">
              <a:extLst>
                <a:ext uri="{FF2B5EF4-FFF2-40B4-BE49-F238E27FC236}">
                  <a16:creationId xmlns:a16="http://schemas.microsoft.com/office/drawing/2014/main" id="{049F4B35-5C54-BE28-9FAA-E8486BA0CFBB}"/>
                </a:ext>
              </a:extLst>
            </p:cNvPr>
            <p:cNvSpPr txBox="1"/>
            <p:nvPr/>
          </p:nvSpPr>
          <p:spPr>
            <a:xfrm>
              <a:off x="9190790" y="2831249"/>
              <a:ext cx="326802" cy="954107"/>
            </a:xfrm>
            <a:prstGeom prst="rect">
              <a:avLst/>
            </a:prstGeom>
            <a:noFill/>
          </p:spPr>
          <p:txBody>
            <a:bodyPr wrap="square" rtlCol="0">
              <a:spAutoFit/>
            </a:bodyPr>
            <a:lstStyle/>
            <a:p>
              <a:r>
                <a:rPr lang="zh-CN" altLang="en-US" sz="1400" b="1"/>
                <a:t>峰值压力</a:t>
              </a:r>
            </a:p>
          </p:txBody>
        </p:sp>
        <p:sp>
          <p:nvSpPr>
            <p:cNvPr id="119" name="矩形 118">
              <a:extLst>
                <a:ext uri="{FF2B5EF4-FFF2-40B4-BE49-F238E27FC236}">
                  <a16:creationId xmlns:a16="http://schemas.microsoft.com/office/drawing/2014/main" id="{E24EE7B0-24AD-B7D7-E1E7-5AE6B8A1FDFB}"/>
                </a:ext>
              </a:extLst>
            </p:cNvPr>
            <p:cNvSpPr/>
            <p:nvPr/>
          </p:nvSpPr>
          <p:spPr>
            <a:xfrm>
              <a:off x="11215048" y="3039374"/>
              <a:ext cx="827500" cy="5790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a:solidFill>
                    <a:schemeClr val="tx1"/>
                  </a:solidFill>
                </a:rPr>
                <a:t>相对误差</a:t>
              </a:r>
              <a:r>
                <a:rPr lang="en-US" altLang="zh-CN" sz="1200" b="1">
                  <a:solidFill>
                    <a:schemeClr val="tx1"/>
                  </a:solidFill>
                </a:rPr>
                <a:t>1.89%</a:t>
              </a:r>
              <a:r>
                <a:rPr lang="en-US" altLang="zh-CN" sz="1200"/>
                <a:t>%</a:t>
              </a:r>
              <a:endParaRPr lang="zh-CN" altLang="en-US" sz="1200"/>
            </a:p>
          </p:txBody>
        </p:sp>
        <p:grpSp>
          <p:nvGrpSpPr>
            <p:cNvPr id="126" name="组合 125">
              <a:extLst>
                <a:ext uri="{FF2B5EF4-FFF2-40B4-BE49-F238E27FC236}">
                  <a16:creationId xmlns:a16="http://schemas.microsoft.com/office/drawing/2014/main" id="{3A49D2EF-0C15-27FC-F57E-EF45F7B596CA}"/>
                </a:ext>
              </a:extLst>
            </p:cNvPr>
            <p:cNvGrpSpPr/>
            <p:nvPr/>
          </p:nvGrpSpPr>
          <p:grpSpPr>
            <a:xfrm>
              <a:off x="9528192" y="2922416"/>
              <a:ext cx="1476655" cy="750643"/>
              <a:chOff x="9528192" y="2922416"/>
              <a:chExt cx="1476655" cy="750643"/>
            </a:xfrm>
          </p:grpSpPr>
          <p:grpSp>
            <p:nvGrpSpPr>
              <p:cNvPr id="125" name="组合 124">
                <a:extLst>
                  <a:ext uri="{FF2B5EF4-FFF2-40B4-BE49-F238E27FC236}">
                    <a16:creationId xmlns:a16="http://schemas.microsoft.com/office/drawing/2014/main" id="{1101E99A-95CB-60D7-5A8C-04DCC9CB0414}"/>
                  </a:ext>
                </a:extLst>
              </p:cNvPr>
              <p:cNvGrpSpPr/>
              <p:nvPr/>
            </p:nvGrpSpPr>
            <p:grpSpPr>
              <a:xfrm>
                <a:off x="9528192" y="2922416"/>
                <a:ext cx="1466049" cy="345921"/>
                <a:chOff x="9556066" y="2825696"/>
                <a:chExt cx="1546255" cy="345921"/>
              </a:xfrm>
            </p:grpSpPr>
            <p:sp>
              <p:nvSpPr>
                <p:cNvPr id="115" name="矩形 114">
                  <a:extLst>
                    <a:ext uri="{FF2B5EF4-FFF2-40B4-BE49-F238E27FC236}">
                      <a16:creationId xmlns:a16="http://schemas.microsoft.com/office/drawing/2014/main" id="{14DE81A8-307D-9AFC-3405-1CC06B086FE4}"/>
                    </a:ext>
                  </a:extLst>
                </p:cNvPr>
                <p:cNvSpPr/>
                <p:nvPr/>
              </p:nvSpPr>
              <p:spPr>
                <a:xfrm>
                  <a:off x="9556066" y="2827510"/>
                  <a:ext cx="750849" cy="34410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t>实验值</a:t>
                  </a:r>
                </a:p>
              </p:txBody>
            </p:sp>
            <p:sp>
              <p:nvSpPr>
                <p:cNvPr id="120" name="矩形 119">
                  <a:extLst>
                    <a:ext uri="{FF2B5EF4-FFF2-40B4-BE49-F238E27FC236}">
                      <a16:creationId xmlns:a16="http://schemas.microsoft.com/office/drawing/2014/main" id="{DC35CEB8-4C74-CAD0-F7DC-0F56475EDB23}"/>
                    </a:ext>
                  </a:extLst>
                </p:cNvPr>
                <p:cNvSpPr/>
                <p:nvPr/>
              </p:nvSpPr>
              <p:spPr>
                <a:xfrm>
                  <a:off x="10274820" y="2825696"/>
                  <a:ext cx="827501" cy="345921"/>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t>78.41bar</a:t>
                  </a:r>
                  <a:endParaRPr lang="zh-CN" altLang="en-US" sz="1200"/>
                </a:p>
              </p:txBody>
            </p:sp>
          </p:grpSp>
          <p:grpSp>
            <p:nvGrpSpPr>
              <p:cNvPr id="124" name="组合 123">
                <a:extLst>
                  <a:ext uri="{FF2B5EF4-FFF2-40B4-BE49-F238E27FC236}">
                    <a16:creationId xmlns:a16="http://schemas.microsoft.com/office/drawing/2014/main" id="{40EAC89B-B843-B590-B6DE-44209AF94FE5}"/>
                  </a:ext>
                </a:extLst>
              </p:cNvPr>
              <p:cNvGrpSpPr/>
              <p:nvPr/>
            </p:nvGrpSpPr>
            <p:grpSpPr>
              <a:xfrm>
                <a:off x="9528198" y="3323816"/>
                <a:ext cx="1476649" cy="349243"/>
                <a:chOff x="9556066" y="3353837"/>
                <a:chExt cx="1557434" cy="349243"/>
              </a:xfrm>
            </p:grpSpPr>
            <p:sp>
              <p:nvSpPr>
                <p:cNvPr id="116" name="矩形 115">
                  <a:extLst>
                    <a:ext uri="{FF2B5EF4-FFF2-40B4-BE49-F238E27FC236}">
                      <a16:creationId xmlns:a16="http://schemas.microsoft.com/office/drawing/2014/main" id="{F2259164-23BB-45B3-EFAD-3C9AC120E349}"/>
                    </a:ext>
                  </a:extLst>
                </p:cNvPr>
                <p:cNvSpPr/>
                <p:nvPr/>
              </p:nvSpPr>
              <p:spPr>
                <a:xfrm>
                  <a:off x="9556066" y="3353837"/>
                  <a:ext cx="750849" cy="3492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t>仿真值</a:t>
                  </a:r>
                </a:p>
              </p:txBody>
            </p:sp>
            <p:sp>
              <p:nvSpPr>
                <p:cNvPr id="122" name="矩形 121">
                  <a:extLst>
                    <a:ext uri="{FF2B5EF4-FFF2-40B4-BE49-F238E27FC236}">
                      <a16:creationId xmlns:a16="http://schemas.microsoft.com/office/drawing/2014/main" id="{F1E690BC-F695-0A26-C74B-92B2A129FEEB}"/>
                    </a:ext>
                  </a:extLst>
                </p:cNvPr>
                <p:cNvSpPr/>
                <p:nvPr/>
              </p:nvSpPr>
              <p:spPr>
                <a:xfrm>
                  <a:off x="10285999" y="3353837"/>
                  <a:ext cx="827501" cy="349243"/>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200"/>
                    <a:t>79.89bar</a:t>
                  </a:r>
                  <a:endParaRPr lang="zh-CN" altLang="en-US" sz="1200"/>
                </a:p>
              </p:txBody>
            </p:sp>
          </p:grpSp>
        </p:grpSp>
        <p:sp>
          <p:nvSpPr>
            <p:cNvPr id="123" name="箭头: V 形 122">
              <a:extLst>
                <a:ext uri="{FF2B5EF4-FFF2-40B4-BE49-F238E27FC236}">
                  <a16:creationId xmlns:a16="http://schemas.microsoft.com/office/drawing/2014/main" id="{2AF7B782-DB9F-CCB7-7EAA-A8C4BB59F74E}"/>
                </a:ext>
              </a:extLst>
            </p:cNvPr>
            <p:cNvSpPr/>
            <p:nvPr/>
          </p:nvSpPr>
          <p:spPr>
            <a:xfrm>
              <a:off x="11072967" y="3143564"/>
              <a:ext cx="152687" cy="304559"/>
            </a:xfrm>
            <a:prstGeom prst="chevron">
              <a:avLst>
                <a:gd name="adj" fmla="val 5324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9" name="文本框 128">
            <a:extLst>
              <a:ext uri="{FF2B5EF4-FFF2-40B4-BE49-F238E27FC236}">
                <a16:creationId xmlns:a16="http://schemas.microsoft.com/office/drawing/2014/main" id="{5F0819C1-7E08-B35A-3AFB-89DBDD70EFD5}"/>
              </a:ext>
            </a:extLst>
          </p:cNvPr>
          <p:cNvSpPr txBox="1"/>
          <p:nvPr/>
        </p:nvSpPr>
        <p:spPr>
          <a:xfrm>
            <a:off x="9974362" y="4774379"/>
            <a:ext cx="1452583" cy="307777"/>
          </a:xfrm>
          <a:prstGeom prst="rect">
            <a:avLst/>
          </a:prstGeom>
          <a:noFill/>
        </p:spPr>
        <p:txBody>
          <a:bodyPr wrap="square" rtlCol="0">
            <a:spAutoFit/>
          </a:bodyPr>
          <a:lstStyle/>
          <a:p>
            <a:r>
              <a:rPr lang="zh-CN" altLang="en-US" sz="1400" b="1"/>
              <a:t>全局压力拟合度</a:t>
            </a:r>
          </a:p>
        </p:txBody>
      </p:sp>
      <p:grpSp>
        <p:nvGrpSpPr>
          <p:cNvPr id="139" name="组合 138">
            <a:extLst>
              <a:ext uri="{FF2B5EF4-FFF2-40B4-BE49-F238E27FC236}">
                <a16:creationId xmlns:a16="http://schemas.microsoft.com/office/drawing/2014/main" id="{4D5121C5-C2D8-0F9E-CC49-F305BDF12CAF}"/>
              </a:ext>
            </a:extLst>
          </p:cNvPr>
          <p:cNvGrpSpPr/>
          <p:nvPr/>
        </p:nvGrpSpPr>
        <p:grpSpPr>
          <a:xfrm>
            <a:off x="9238150" y="3770151"/>
            <a:ext cx="2862365" cy="954107"/>
            <a:chOff x="9190789" y="2831249"/>
            <a:chExt cx="2862365" cy="954107"/>
          </a:xfrm>
        </p:grpSpPr>
        <p:sp>
          <p:nvSpPr>
            <p:cNvPr id="140" name="文本框 139">
              <a:extLst>
                <a:ext uri="{FF2B5EF4-FFF2-40B4-BE49-F238E27FC236}">
                  <a16:creationId xmlns:a16="http://schemas.microsoft.com/office/drawing/2014/main" id="{8BBEA835-A912-AABF-EA97-5B46312AFA28}"/>
                </a:ext>
              </a:extLst>
            </p:cNvPr>
            <p:cNvSpPr txBox="1"/>
            <p:nvPr/>
          </p:nvSpPr>
          <p:spPr>
            <a:xfrm>
              <a:off x="9190789" y="2831249"/>
              <a:ext cx="513944" cy="954107"/>
            </a:xfrm>
            <a:prstGeom prst="rect">
              <a:avLst/>
            </a:prstGeom>
            <a:noFill/>
          </p:spPr>
          <p:txBody>
            <a:bodyPr wrap="square" rtlCol="0">
              <a:spAutoFit/>
            </a:bodyPr>
            <a:lstStyle/>
            <a:p>
              <a:r>
                <a:rPr lang="zh-CN" altLang="en-US" sz="1400" b="1"/>
                <a:t>峰压相位</a:t>
              </a:r>
            </a:p>
          </p:txBody>
        </p:sp>
        <p:sp>
          <p:nvSpPr>
            <p:cNvPr id="141" name="矩形 140">
              <a:extLst>
                <a:ext uri="{FF2B5EF4-FFF2-40B4-BE49-F238E27FC236}">
                  <a16:creationId xmlns:a16="http://schemas.microsoft.com/office/drawing/2014/main" id="{0117E535-5309-669C-0204-93442BEF43E7}"/>
                </a:ext>
              </a:extLst>
            </p:cNvPr>
            <p:cNvSpPr/>
            <p:nvPr/>
          </p:nvSpPr>
          <p:spPr>
            <a:xfrm>
              <a:off x="11225654" y="3018786"/>
              <a:ext cx="827500" cy="5790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a:solidFill>
                    <a:schemeClr val="tx1"/>
                  </a:solidFill>
                </a:rPr>
                <a:t>绝对误差</a:t>
              </a:r>
              <a:r>
                <a:rPr lang="en-US" altLang="zh-CN" sz="1200" b="1">
                  <a:solidFill>
                    <a:schemeClr val="tx1"/>
                  </a:solidFill>
                </a:rPr>
                <a:t>+3.2°CA</a:t>
              </a:r>
              <a:endParaRPr lang="zh-CN" altLang="en-US" sz="1200"/>
            </a:p>
          </p:txBody>
        </p:sp>
        <p:grpSp>
          <p:nvGrpSpPr>
            <p:cNvPr id="142" name="组合 141">
              <a:extLst>
                <a:ext uri="{FF2B5EF4-FFF2-40B4-BE49-F238E27FC236}">
                  <a16:creationId xmlns:a16="http://schemas.microsoft.com/office/drawing/2014/main" id="{B25FCCF0-022E-1266-081F-BD2620A5D007}"/>
                </a:ext>
              </a:extLst>
            </p:cNvPr>
            <p:cNvGrpSpPr/>
            <p:nvPr/>
          </p:nvGrpSpPr>
          <p:grpSpPr>
            <a:xfrm>
              <a:off x="9528198" y="2924230"/>
              <a:ext cx="1476649" cy="748829"/>
              <a:chOff x="9528198" y="2924230"/>
              <a:chExt cx="1476649" cy="748829"/>
            </a:xfrm>
          </p:grpSpPr>
          <p:grpSp>
            <p:nvGrpSpPr>
              <p:cNvPr id="144" name="组合 143">
                <a:extLst>
                  <a:ext uri="{FF2B5EF4-FFF2-40B4-BE49-F238E27FC236}">
                    <a16:creationId xmlns:a16="http://schemas.microsoft.com/office/drawing/2014/main" id="{960DE7CF-48E2-1723-CA9D-6C349247F8C4}"/>
                  </a:ext>
                </a:extLst>
              </p:cNvPr>
              <p:cNvGrpSpPr/>
              <p:nvPr/>
            </p:nvGrpSpPr>
            <p:grpSpPr>
              <a:xfrm>
                <a:off x="9528198" y="2924230"/>
                <a:ext cx="1476649" cy="349243"/>
                <a:chOff x="9556066" y="2827510"/>
                <a:chExt cx="1557434" cy="349243"/>
              </a:xfrm>
            </p:grpSpPr>
            <p:sp>
              <p:nvSpPr>
                <p:cNvPr id="148" name="矩形 147">
                  <a:extLst>
                    <a:ext uri="{FF2B5EF4-FFF2-40B4-BE49-F238E27FC236}">
                      <a16:creationId xmlns:a16="http://schemas.microsoft.com/office/drawing/2014/main" id="{1AA3C52A-8428-913E-4468-80973043C829}"/>
                    </a:ext>
                  </a:extLst>
                </p:cNvPr>
                <p:cNvSpPr/>
                <p:nvPr/>
              </p:nvSpPr>
              <p:spPr>
                <a:xfrm>
                  <a:off x="9556066" y="2827510"/>
                  <a:ext cx="750849" cy="3492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t>实验值</a:t>
                  </a:r>
                </a:p>
              </p:txBody>
            </p:sp>
            <p:sp>
              <p:nvSpPr>
                <p:cNvPr id="149" name="矩形 148">
                  <a:extLst>
                    <a:ext uri="{FF2B5EF4-FFF2-40B4-BE49-F238E27FC236}">
                      <a16:creationId xmlns:a16="http://schemas.microsoft.com/office/drawing/2014/main" id="{31503A1C-8FE2-4378-1C5F-D994CA4BC1DE}"/>
                    </a:ext>
                  </a:extLst>
                </p:cNvPr>
                <p:cNvSpPr/>
                <p:nvPr/>
              </p:nvSpPr>
              <p:spPr>
                <a:xfrm>
                  <a:off x="10285999" y="2827510"/>
                  <a:ext cx="827501" cy="349243"/>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t>13.5°CA</a:t>
                  </a:r>
                  <a:endParaRPr lang="zh-CN" altLang="en-US" sz="1200"/>
                </a:p>
              </p:txBody>
            </p:sp>
          </p:grpSp>
          <p:grpSp>
            <p:nvGrpSpPr>
              <p:cNvPr id="145" name="组合 144">
                <a:extLst>
                  <a:ext uri="{FF2B5EF4-FFF2-40B4-BE49-F238E27FC236}">
                    <a16:creationId xmlns:a16="http://schemas.microsoft.com/office/drawing/2014/main" id="{3CC77ACD-81EE-DF04-1AD5-36B922909993}"/>
                  </a:ext>
                </a:extLst>
              </p:cNvPr>
              <p:cNvGrpSpPr/>
              <p:nvPr/>
            </p:nvGrpSpPr>
            <p:grpSpPr>
              <a:xfrm>
                <a:off x="9528198" y="3323816"/>
                <a:ext cx="1476649" cy="349243"/>
                <a:chOff x="9556066" y="3353837"/>
                <a:chExt cx="1557434" cy="349243"/>
              </a:xfrm>
            </p:grpSpPr>
            <p:sp>
              <p:nvSpPr>
                <p:cNvPr id="146" name="矩形 145">
                  <a:extLst>
                    <a:ext uri="{FF2B5EF4-FFF2-40B4-BE49-F238E27FC236}">
                      <a16:creationId xmlns:a16="http://schemas.microsoft.com/office/drawing/2014/main" id="{9AE44AED-D442-ADA8-AB1D-570010AC92CB}"/>
                    </a:ext>
                  </a:extLst>
                </p:cNvPr>
                <p:cNvSpPr/>
                <p:nvPr/>
              </p:nvSpPr>
              <p:spPr>
                <a:xfrm>
                  <a:off x="9556066" y="3353837"/>
                  <a:ext cx="750849" cy="3492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t>仿真值</a:t>
                  </a:r>
                </a:p>
              </p:txBody>
            </p:sp>
            <p:sp>
              <p:nvSpPr>
                <p:cNvPr id="147" name="矩形 146">
                  <a:extLst>
                    <a:ext uri="{FF2B5EF4-FFF2-40B4-BE49-F238E27FC236}">
                      <a16:creationId xmlns:a16="http://schemas.microsoft.com/office/drawing/2014/main" id="{D210248E-5EF1-3C3A-CF4C-B9AC4C8BBAC7}"/>
                    </a:ext>
                  </a:extLst>
                </p:cNvPr>
                <p:cNvSpPr/>
                <p:nvPr/>
              </p:nvSpPr>
              <p:spPr>
                <a:xfrm>
                  <a:off x="10285999" y="3353837"/>
                  <a:ext cx="827501" cy="349243"/>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a:t>16.7°CA</a:t>
                  </a:r>
                  <a:endParaRPr lang="zh-CN" altLang="en-US" sz="1200"/>
                </a:p>
              </p:txBody>
            </p:sp>
          </p:grpSp>
        </p:grpSp>
        <p:sp>
          <p:nvSpPr>
            <p:cNvPr id="143" name="箭头: V 形 142">
              <a:extLst>
                <a:ext uri="{FF2B5EF4-FFF2-40B4-BE49-F238E27FC236}">
                  <a16:creationId xmlns:a16="http://schemas.microsoft.com/office/drawing/2014/main" id="{268D7AF8-5214-4E1D-244D-02F090E91FB7}"/>
                </a:ext>
              </a:extLst>
            </p:cNvPr>
            <p:cNvSpPr/>
            <p:nvPr/>
          </p:nvSpPr>
          <p:spPr>
            <a:xfrm>
              <a:off x="11072967" y="3143564"/>
              <a:ext cx="152687" cy="304559"/>
            </a:xfrm>
            <a:prstGeom prst="chevron">
              <a:avLst>
                <a:gd name="adj" fmla="val 5324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cxnSp>
        <p:nvCxnSpPr>
          <p:cNvPr id="151" name="直接连接符 150">
            <a:extLst>
              <a:ext uri="{FF2B5EF4-FFF2-40B4-BE49-F238E27FC236}">
                <a16:creationId xmlns:a16="http://schemas.microsoft.com/office/drawing/2014/main" id="{8BE88A79-CED8-0772-1606-E4926134BFFA}"/>
              </a:ext>
            </a:extLst>
          </p:cNvPr>
          <p:cNvCxnSpPr>
            <a:cxnSpLocks/>
            <a:stCxn id="114" idx="2"/>
          </p:cNvCxnSpPr>
          <p:nvPr/>
        </p:nvCxnSpPr>
        <p:spPr>
          <a:xfrm flipV="1">
            <a:off x="9401551" y="3778838"/>
            <a:ext cx="2622809" cy="0"/>
          </a:xfrm>
          <a:prstGeom prst="line">
            <a:avLst/>
          </a:prstGeom>
          <a:ln>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53" name="表格 152">
            <a:extLst>
              <a:ext uri="{FF2B5EF4-FFF2-40B4-BE49-F238E27FC236}">
                <a16:creationId xmlns:a16="http://schemas.microsoft.com/office/drawing/2014/main" id="{FDB5AD72-42B7-776A-E8DB-6CCEB9B5D50B}"/>
              </a:ext>
            </a:extLst>
          </p:cNvPr>
          <p:cNvGraphicFramePr>
            <a:graphicFrameLocks noGrp="1"/>
          </p:cNvGraphicFramePr>
          <p:nvPr>
            <p:extLst>
              <p:ext uri="{D42A27DB-BD31-4B8C-83A1-F6EECF244321}">
                <p14:modId xmlns:p14="http://schemas.microsoft.com/office/powerpoint/2010/main" val="3994322432"/>
              </p:ext>
            </p:extLst>
          </p:nvPr>
        </p:nvGraphicFramePr>
        <p:xfrm>
          <a:off x="9307852" y="5084817"/>
          <a:ext cx="2785605" cy="782555"/>
        </p:xfrm>
        <a:graphic>
          <a:graphicData uri="http://schemas.openxmlformats.org/drawingml/2006/table">
            <a:tbl>
              <a:tblPr firstRow="1" bandRow="1">
                <a:tableStyleId>{5C22544A-7EE6-4342-B048-85BDC9FD1C3A}</a:tableStyleId>
              </a:tblPr>
              <a:tblGrid>
                <a:gridCol w="683641">
                  <a:extLst>
                    <a:ext uri="{9D8B030D-6E8A-4147-A177-3AD203B41FA5}">
                      <a16:colId xmlns:a16="http://schemas.microsoft.com/office/drawing/2014/main" val="3229840766"/>
                    </a:ext>
                  </a:extLst>
                </a:gridCol>
                <a:gridCol w="1308409">
                  <a:extLst>
                    <a:ext uri="{9D8B030D-6E8A-4147-A177-3AD203B41FA5}">
                      <a16:colId xmlns:a16="http://schemas.microsoft.com/office/drawing/2014/main" val="890880223"/>
                    </a:ext>
                  </a:extLst>
                </a:gridCol>
                <a:gridCol w="793555">
                  <a:extLst>
                    <a:ext uri="{9D8B030D-6E8A-4147-A177-3AD203B41FA5}">
                      <a16:colId xmlns:a16="http://schemas.microsoft.com/office/drawing/2014/main" val="3222587662"/>
                    </a:ext>
                  </a:extLst>
                </a:gridCol>
              </a:tblGrid>
              <a:tr h="325355">
                <a:tc>
                  <a:txBody>
                    <a:bodyPr/>
                    <a:lstStyle/>
                    <a:p>
                      <a:r>
                        <a:rPr lang="en-US" altLang="zh-CN" sz="1200">
                          <a:solidFill>
                            <a:schemeClr val="tx1"/>
                          </a:solidFill>
                        </a:rPr>
                        <a:t>RMSE</a:t>
                      </a:r>
                      <a:endParaRPr lang="zh-CN" altLang="en-US" sz="1200">
                        <a:solidFill>
                          <a:schemeClr val="tx1"/>
                        </a:solidFill>
                      </a:endParaRPr>
                    </a:p>
                  </a:txBody>
                  <a:tcPr anchor="ct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a:solidFill>
                            <a:schemeClr val="tx1"/>
                          </a:solidFill>
                        </a:rPr>
                        <a:t>均方根误差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b="1">
                          <a:solidFill>
                            <a:srgbClr val="C00000"/>
                          </a:solidFill>
                        </a:rPr>
                        <a:t>1.76bar</a:t>
                      </a:r>
                      <a:endParaRPr lang="zh-CN" altLang="en-US" sz="1200" b="1">
                        <a:solidFill>
                          <a:srgbClr val="C00000"/>
                        </a:solidFill>
                      </a:endParaRPr>
                    </a:p>
                  </a:txBody>
                  <a:tcPr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8736180"/>
                  </a:ext>
                </a:extLst>
              </a:tr>
              <a:tr h="325355">
                <a:tc>
                  <a:txBody>
                    <a:bodyPr/>
                    <a:lstStyle/>
                    <a:p>
                      <a:r>
                        <a:rPr lang="en-US" altLang="zh-CN" sz="1200" b="1"/>
                        <a:t>MAPE</a:t>
                      </a:r>
                      <a:endParaRPr lang="zh-CN" altLang="en-US" sz="1200" b="1"/>
                    </a:p>
                  </a:txBody>
                  <a:tcPr anchor="ct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a:t>平均绝对百分比误差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b="1">
                          <a:solidFill>
                            <a:srgbClr val="C00000"/>
                          </a:solidFill>
                        </a:rPr>
                        <a:t>2.93%</a:t>
                      </a:r>
                      <a:endParaRPr lang="zh-CN" altLang="en-US" sz="1200" b="1">
                        <a:solidFill>
                          <a:srgbClr val="C00000"/>
                        </a:solidFill>
                      </a:endParaRPr>
                    </a:p>
                  </a:txBody>
                  <a:tcPr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3572717"/>
                  </a:ext>
                </a:extLst>
              </a:tr>
            </a:tbl>
          </a:graphicData>
        </a:graphic>
      </p:graphicFrame>
      <p:sp>
        <p:nvSpPr>
          <p:cNvPr id="154" name="箭头: V 形 153">
            <a:extLst>
              <a:ext uri="{FF2B5EF4-FFF2-40B4-BE49-F238E27FC236}">
                <a16:creationId xmlns:a16="http://schemas.microsoft.com/office/drawing/2014/main" id="{51ECFB18-41E9-1F8A-A90A-20430E3A8CE1}"/>
              </a:ext>
            </a:extLst>
          </p:cNvPr>
          <p:cNvSpPr/>
          <p:nvPr/>
        </p:nvSpPr>
        <p:spPr>
          <a:xfrm>
            <a:off x="9529791" y="6110898"/>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55" name="箭头: V 形 154">
            <a:extLst>
              <a:ext uri="{FF2B5EF4-FFF2-40B4-BE49-F238E27FC236}">
                <a16:creationId xmlns:a16="http://schemas.microsoft.com/office/drawing/2014/main" id="{5AB14F37-9B55-8E83-E39D-F3AF370D81A0}"/>
              </a:ext>
            </a:extLst>
          </p:cNvPr>
          <p:cNvSpPr/>
          <p:nvPr/>
        </p:nvSpPr>
        <p:spPr>
          <a:xfrm rot="10800000">
            <a:off x="11612981" y="6123179"/>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 name="矩形 4">
            <a:extLst>
              <a:ext uri="{FF2B5EF4-FFF2-40B4-BE49-F238E27FC236}">
                <a16:creationId xmlns:a16="http://schemas.microsoft.com/office/drawing/2014/main" id="{EE88E15B-F95E-9CBE-CA3B-E3BF69472BDD}"/>
              </a:ext>
            </a:extLst>
          </p:cNvPr>
          <p:cNvSpPr/>
          <p:nvPr/>
        </p:nvSpPr>
        <p:spPr>
          <a:xfrm>
            <a:off x="98543" y="2736577"/>
            <a:ext cx="2643694" cy="3695443"/>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箭头: V 形 85">
            <a:extLst>
              <a:ext uri="{FF2B5EF4-FFF2-40B4-BE49-F238E27FC236}">
                <a16:creationId xmlns:a16="http://schemas.microsoft.com/office/drawing/2014/main" id="{17F4BF24-447E-4419-03BC-C98B794C8F32}"/>
              </a:ext>
            </a:extLst>
          </p:cNvPr>
          <p:cNvSpPr/>
          <p:nvPr/>
        </p:nvSpPr>
        <p:spPr>
          <a:xfrm>
            <a:off x="2710015" y="3899135"/>
            <a:ext cx="152687" cy="304559"/>
          </a:xfrm>
          <a:prstGeom prst="chevron">
            <a:avLst>
              <a:gd name="adj" fmla="val 5324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7" name="箭头: V 形 86">
            <a:extLst>
              <a:ext uri="{FF2B5EF4-FFF2-40B4-BE49-F238E27FC236}">
                <a16:creationId xmlns:a16="http://schemas.microsoft.com/office/drawing/2014/main" id="{523A9F7A-2D33-498E-402E-1A793F821B8B}"/>
              </a:ext>
            </a:extLst>
          </p:cNvPr>
          <p:cNvSpPr/>
          <p:nvPr/>
        </p:nvSpPr>
        <p:spPr>
          <a:xfrm rot="10800000">
            <a:off x="2720168" y="5454590"/>
            <a:ext cx="152687" cy="304559"/>
          </a:xfrm>
          <a:prstGeom prst="chevron">
            <a:avLst>
              <a:gd name="adj" fmla="val 5324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矩形 7">
            <a:extLst>
              <a:ext uri="{FF2B5EF4-FFF2-40B4-BE49-F238E27FC236}">
                <a16:creationId xmlns:a16="http://schemas.microsoft.com/office/drawing/2014/main" id="{C4596D80-5D80-A99F-AF2D-5BD9A3A7CC78}"/>
              </a:ext>
            </a:extLst>
          </p:cNvPr>
          <p:cNvSpPr/>
          <p:nvPr/>
        </p:nvSpPr>
        <p:spPr>
          <a:xfrm>
            <a:off x="9257221" y="2736577"/>
            <a:ext cx="2856399" cy="3695443"/>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7209CC6-53CC-00C4-0772-AEA8E19A62ED}"/>
              </a:ext>
            </a:extLst>
          </p:cNvPr>
          <p:cNvSpPr txBox="1"/>
          <p:nvPr/>
        </p:nvSpPr>
        <p:spPr>
          <a:xfrm>
            <a:off x="4045740" y="1388919"/>
            <a:ext cx="3713570" cy="276999"/>
          </a:xfrm>
          <a:prstGeom prst="rect">
            <a:avLst/>
          </a:prstGeom>
          <a:noFill/>
        </p:spPr>
        <p:txBody>
          <a:bodyPr wrap="square">
            <a:spAutoFit/>
          </a:bodyPr>
          <a:lstStyle/>
          <a:p>
            <a:pPr algn="ctr"/>
            <a:r>
              <a:rPr lang="zh-CN" altLang="en-US" sz="1200"/>
              <a:t>表 </a:t>
            </a:r>
            <a:r>
              <a:rPr lang="en-US" altLang="zh-CN" sz="1200"/>
              <a:t>4-3 </a:t>
            </a:r>
            <a:r>
              <a:rPr lang="zh-CN" altLang="en-US" sz="1200"/>
              <a:t>准维模型标定及验证工况</a:t>
            </a:r>
          </a:p>
        </p:txBody>
      </p:sp>
      <p:sp>
        <p:nvSpPr>
          <p:cNvPr id="10" name="文本框 9">
            <a:extLst>
              <a:ext uri="{FF2B5EF4-FFF2-40B4-BE49-F238E27FC236}">
                <a16:creationId xmlns:a16="http://schemas.microsoft.com/office/drawing/2014/main" id="{60375C2F-93D7-BF18-B197-FF1151CC99D1}"/>
              </a:ext>
            </a:extLst>
          </p:cNvPr>
          <p:cNvSpPr txBox="1"/>
          <p:nvPr/>
        </p:nvSpPr>
        <p:spPr>
          <a:xfrm>
            <a:off x="7031261" y="5249642"/>
            <a:ext cx="1415772" cy="276999"/>
          </a:xfrm>
          <a:prstGeom prst="rect">
            <a:avLst/>
          </a:prstGeom>
          <a:noFill/>
        </p:spPr>
        <p:txBody>
          <a:bodyPr wrap="none" rtlCol="0">
            <a:spAutoFit/>
          </a:bodyPr>
          <a:lstStyle/>
          <a:p>
            <a:r>
              <a:rPr lang="en-US" altLang="zh-CN" sz="1200" b="1">
                <a:solidFill>
                  <a:srgbClr val="C00000"/>
                </a:solidFill>
              </a:rPr>
              <a:t>——</a:t>
            </a:r>
            <a:r>
              <a:rPr lang="zh-CN" altLang="en-US" sz="1200" b="1">
                <a:solidFill>
                  <a:srgbClr val="C00000"/>
                </a:solidFill>
              </a:rPr>
              <a:t>试验缸压曲线</a:t>
            </a:r>
          </a:p>
        </p:txBody>
      </p:sp>
      <p:sp>
        <p:nvSpPr>
          <p:cNvPr id="11" name="文本框 10">
            <a:extLst>
              <a:ext uri="{FF2B5EF4-FFF2-40B4-BE49-F238E27FC236}">
                <a16:creationId xmlns:a16="http://schemas.microsoft.com/office/drawing/2014/main" id="{83CFC81C-D5EA-36B2-3BC6-265BC1A3E997}"/>
              </a:ext>
            </a:extLst>
          </p:cNvPr>
          <p:cNvSpPr txBox="1"/>
          <p:nvPr/>
        </p:nvSpPr>
        <p:spPr>
          <a:xfrm>
            <a:off x="7031261" y="5501795"/>
            <a:ext cx="1415772" cy="276999"/>
          </a:xfrm>
          <a:prstGeom prst="rect">
            <a:avLst/>
          </a:prstGeom>
          <a:noFill/>
        </p:spPr>
        <p:txBody>
          <a:bodyPr wrap="none" rtlCol="0">
            <a:spAutoFit/>
          </a:bodyPr>
          <a:lstStyle/>
          <a:p>
            <a:r>
              <a:rPr lang="en-US" altLang="zh-CN" sz="1200" b="1">
                <a:solidFill>
                  <a:srgbClr val="002060"/>
                </a:solidFill>
              </a:rPr>
              <a:t>——</a:t>
            </a:r>
            <a:r>
              <a:rPr lang="zh-CN" altLang="en-US" sz="1200" b="1">
                <a:solidFill>
                  <a:srgbClr val="002060"/>
                </a:solidFill>
              </a:rPr>
              <a:t>仿真缸压曲线</a:t>
            </a:r>
          </a:p>
        </p:txBody>
      </p:sp>
      <p:sp>
        <p:nvSpPr>
          <p:cNvPr id="12" name="矩形 11">
            <a:extLst>
              <a:ext uri="{FF2B5EF4-FFF2-40B4-BE49-F238E27FC236}">
                <a16:creationId xmlns:a16="http://schemas.microsoft.com/office/drawing/2014/main" id="{5032FF79-77CC-A17A-E786-AD9F8576C936}"/>
              </a:ext>
            </a:extLst>
          </p:cNvPr>
          <p:cNvSpPr/>
          <p:nvPr/>
        </p:nvSpPr>
        <p:spPr>
          <a:xfrm>
            <a:off x="7031261" y="5216143"/>
            <a:ext cx="1415772" cy="52322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93256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65F8F-362B-CD46-9638-BCABCDCE217C}"/>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794E0AC2-3AC8-6A5B-ADD2-1D3D9BA83C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8560" y="2554350"/>
            <a:ext cx="4745926" cy="3418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 21">
            <a:extLst>
              <a:ext uri="{FF2B5EF4-FFF2-40B4-BE49-F238E27FC236}">
                <a16:creationId xmlns:a16="http://schemas.microsoft.com/office/drawing/2014/main" id="{65305BAA-025F-05FF-F6F8-42A8176E069E}"/>
              </a:ext>
            </a:extLst>
          </p:cNvPr>
          <p:cNvSpPr/>
          <p:nvPr/>
        </p:nvSpPr>
        <p:spPr>
          <a:xfrm>
            <a:off x="360000" y="4550790"/>
            <a:ext cx="3251406" cy="1711732"/>
          </a:xfrm>
          <a:prstGeom prst="rect">
            <a:avLst/>
          </a:prstGeom>
          <a:solidFill>
            <a:schemeClr val="bg1"/>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1FEDC315-7C72-AFCE-C190-9F1F79B0E9EE}"/>
              </a:ext>
            </a:extLst>
          </p:cNvPr>
          <p:cNvSpPr>
            <a:spLocks noGrp="1"/>
          </p:cNvSpPr>
          <p:nvPr>
            <p:ph type="title"/>
          </p:nvPr>
        </p:nvSpPr>
        <p:spPr/>
        <p:txBody>
          <a:bodyPr/>
          <a:lstStyle/>
          <a:p>
            <a:r>
              <a:rPr lang="zh-CN" altLang="en-US"/>
              <a:t>第四章：氢内燃机燃烧与爆震模型的标定与验证</a:t>
            </a:r>
            <a:endParaRPr lang="zh-CN" altLang="en-US" dirty="0"/>
          </a:p>
        </p:txBody>
      </p:sp>
      <p:sp>
        <p:nvSpPr>
          <p:cNvPr id="2" name="矩形 1">
            <a:extLst>
              <a:ext uri="{FF2B5EF4-FFF2-40B4-BE49-F238E27FC236}">
                <a16:creationId xmlns:a16="http://schemas.microsoft.com/office/drawing/2014/main" id="{B9D8BA75-12FA-9910-8073-ADAE4C6A5625}"/>
              </a:ext>
            </a:extLst>
          </p:cNvPr>
          <p:cNvSpPr/>
          <p:nvPr/>
        </p:nvSpPr>
        <p:spPr>
          <a:xfrm>
            <a:off x="360000" y="106023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004A98"/>
                </a:solidFill>
                <a:latin typeface="Times New Roman" panose="02020603050405020304" pitchFamily="18" charset="0"/>
                <a:ea typeface="微软雅黑" panose="020B0503020204020204" pitchFamily="34" charset="-122"/>
                <a:cs typeface="+mn-ea"/>
              </a:rPr>
              <a:t>第三节：爆震唯象模型标定与准确度验证</a:t>
            </a:r>
          </a:p>
        </p:txBody>
      </p:sp>
      <p:pic>
        <p:nvPicPr>
          <p:cNvPr id="1026" name="Picture 2">
            <a:extLst>
              <a:ext uri="{FF2B5EF4-FFF2-40B4-BE49-F238E27FC236}">
                <a16:creationId xmlns:a16="http://schemas.microsoft.com/office/drawing/2014/main" id="{BF6044D8-D092-8986-2328-D50F925120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576" y="4388848"/>
            <a:ext cx="3338830" cy="18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表格 4">
            <a:extLst>
              <a:ext uri="{FF2B5EF4-FFF2-40B4-BE49-F238E27FC236}">
                <a16:creationId xmlns:a16="http://schemas.microsoft.com/office/drawing/2014/main" id="{71750692-E6E1-B24A-7413-689F0F3F2B30}"/>
              </a:ext>
            </a:extLst>
          </p:cNvPr>
          <p:cNvGraphicFramePr>
            <a:graphicFrameLocks noGrp="1"/>
          </p:cNvGraphicFramePr>
          <p:nvPr>
            <p:extLst>
              <p:ext uri="{D42A27DB-BD31-4B8C-83A1-F6EECF244321}">
                <p14:modId xmlns:p14="http://schemas.microsoft.com/office/powerpoint/2010/main" val="627102879"/>
              </p:ext>
            </p:extLst>
          </p:nvPr>
        </p:nvGraphicFramePr>
        <p:xfrm>
          <a:off x="4536025" y="1728099"/>
          <a:ext cx="7216614" cy="656646"/>
        </p:xfrm>
        <a:graphic>
          <a:graphicData uri="http://schemas.openxmlformats.org/drawingml/2006/table">
            <a:tbl>
              <a:tblPr/>
              <a:tblGrid>
                <a:gridCol w="922373">
                  <a:extLst>
                    <a:ext uri="{9D8B030D-6E8A-4147-A177-3AD203B41FA5}">
                      <a16:colId xmlns:a16="http://schemas.microsoft.com/office/drawing/2014/main" val="2188854799"/>
                    </a:ext>
                  </a:extLst>
                </a:gridCol>
                <a:gridCol w="782012">
                  <a:extLst>
                    <a:ext uri="{9D8B030D-6E8A-4147-A177-3AD203B41FA5}">
                      <a16:colId xmlns:a16="http://schemas.microsoft.com/office/drawing/2014/main" val="1242214160"/>
                    </a:ext>
                  </a:extLst>
                </a:gridCol>
                <a:gridCol w="1130729">
                  <a:extLst>
                    <a:ext uri="{9D8B030D-6E8A-4147-A177-3AD203B41FA5}">
                      <a16:colId xmlns:a16="http://schemas.microsoft.com/office/drawing/2014/main" val="1404778633"/>
                    </a:ext>
                  </a:extLst>
                </a:gridCol>
                <a:gridCol w="1341120">
                  <a:extLst>
                    <a:ext uri="{9D8B030D-6E8A-4147-A177-3AD203B41FA5}">
                      <a16:colId xmlns:a16="http://schemas.microsoft.com/office/drawing/2014/main" val="1937508589"/>
                    </a:ext>
                  </a:extLst>
                </a:gridCol>
                <a:gridCol w="1432560">
                  <a:extLst>
                    <a:ext uri="{9D8B030D-6E8A-4147-A177-3AD203B41FA5}">
                      <a16:colId xmlns:a16="http://schemas.microsoft.com/office/drawing/2014/main" val="2120117115"/>
                    </a:ext>
                  </a:extLst>
                </a:gridCol>
                <a:gridCol w="1607820">
                  <a:extLst>
                    <a:ext uri="{9D8B030D-6E8A-4147-A177-3AD203B41FA5}">
                      <a16:colId xmlns:a16="http://schemas.microsoft.com/office/drawing/2014/main" val="247862010"/>
                    </a:ext>
                  </a:extLst>
                </a:gridCol>
              </a:tblGrid>
              <a:tr h="327066">
                <a:tc>
                  <a:txBody>
                    <a:bodyPr/>
                    <a:lstStyle/>
                    <a:p>
                      <a:pPr marL="0" indent="0" algn="ctr">
                        <a:lnSpc>
                          <a:spcPct val="150000"/>
                        </a:lnSpc>
                        <a:buNone/>
                      </a:pPr>
                      <a:r>
                        <a:rPr lang="zh-CN" sz="1200" kern="100">
                          <a:effectLst/>
                          <a:latin typeface="+mn-ea"/>
                          <a:ea typeface="+mn-ea"/>
                        </a:rPr>
                        <a:t>工况编号</a:t>
                      </a: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50000"/>
                        </a:lnSpc>
                        <a:buNone/>
                      </a:pPr>
                      <a:r>
                        <a:rPr lang="zh-CN" sz="1200" kern="100">
                          <a:effectLst/>
                          <a:latin typeface="+mn-ea"/>
                          <a:ea typeface="+mn-ea"/>
                        </a:rPr>
                        <a:t>验证目标</a:t>
                      </a: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lnSpc>
                          <a:spcPct val="150000"/>
                        </a:lnSpc>
                        <a:buNone/>
                      </a:pPr>
                      <a:r>
                        <a:rPr lang="zh-CN" sz="1200" kern="100">
                          <a:effectLst/>
                          <a:latin typeface="+mn-ea"/>
                          <a:ea typeface="+mn-ea"/>
                        </a:rPr>
                        <a:t>爆震发生角</a:t>
                      </a: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lnSpc>
                          <a:spcPct val="150000"/>
                        </a:lnSpc>
                        <a:buNone/>
                      </a:pPr>
                      <a:r>
                        <a:rPr lang="zh-CN" sz="1200" kern="100">
                          <a:effectLst/>
                          <a:latin typeface="+mn-ea"/>
                          <a:ea typeface="+mn-ea"/>
                        </a:rPr>
                        <a:t>标定自燃发生角</a:t>
                      </a: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lnSpc>
                          <a:spcPct val="150000"/>
                        </a:lnSpc>
                        <a:buNone/>
                      </a:pPr>
                      <a:r>
                        <a:rPr lang="zh-CN" sz="1200" kern="100">
                          <a:effectLst/>
                          <a:latin typeface="+mn-ea"/>
                          <a:ea typeface="+mn-ea"/>
                        </a:rPr>
                        <a:t>绝对相位误差</a:t>
                      </a:r>
                      <a:r>
                        <a:rPr lang="en-US" sz="1200" kern="100">
                          <a:effectLst/>
                          <a:latin typeface="+mn-ea"/>
                          <a:ea typeface="+mn-ea"/>
                        </a:rPr>
                        <a:t>E</a:t>
                      </a:r>
                      <a:endParaRPr lang="zh-CN" sz="1200" kern="100">
                        <a:effectLst/>
                        <a:latin typeface="+mn-ea"/>
                        <a:ea typeface="+mn-ea"/>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a:lnSpc>
                          <a:spcPct val="150000"/>
                        </a:lnSpc>
                        <a:buNone/>
                      </a:pPr>
                      <a:r>
                        <a:rPr lang="zh-CN" sz="1200" kern="100">
                          <a:effectLst/>
                          <a:latin typeface="+mn-ea"/>
                          <a:ea typeface="+mn-ea"/>
                        </a:rPr>
                        <a:t>修正温度</a:t>
                      </a:r>
                      <a:r>
                        <a:rPr lang="en-US" sz="1200" kern="100">
                          <a:effectLst/>
                          <a:latin typeface="+mn-ea"/>
                          <a:ea typeface="+mn-ea"/>
                        </a:rPr>
                        <a:t>b_AI</a:t>
                      </a:r>
                      <a:endParaRPr lang="zh-CN" sz="1200" kern="100">
                        <a:effectLst/>
                        <a:latin typeface="+mn-ea"/>
                        <a:ea typeface="+mn-ea"/>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388866"/>
                  </a:ext>
                </a:extLst>
              </a:tr>
              <a:tr h="329580">
                <a:tc>
                  <a:txBody>
                    <a:bodyPr/>
                    <a:lstStyle/>
                    <a:p>
                      <a:pPr marL="0" indent="0" algn="ctr">
                        <a:lnSpc>
                          <a:spcPct val="150000"/>
                        </a:lnSpc>
                        <a:buNone/>
                      </a:pPr>
                      <a:r>
                        <a:rPr lang="en-US" altLang="zh-CN" sz="1200" b="1" kern="100">
                          <a:effectLst/>
                          <a:latin typeface="+mn-ea"/>
                          <a:ea typeface="+mn-ea"/>
                        </a:rPr>
                        <a:t>case</a:t>
                      </a:r>
                      <a:r>
                        <a:rPr lang="zh-CN" altLang="en-US" sz="1200" b="1" kern="100">
                          <a:effectLst/>
                          <a:latin typeface="+mn-ea"/>
                          <a:ea typeface="+mn-ea"/>
                        </a:rPr>
                        <a:t> </a:t>
                      </a:r>
                      <a:r>
                        <a:rPr lang="en-US" altLang="zh-CN" sz="1200" b="1" kern="100">
                          <a:effectLst/>
                          <a:latin typeface="+mn-ea"/>
                          <a:ea typeface="+mn-ea"/>
                        </a:rPr>
                        <a:t>5</a:t>
                      </a:r>
                      <a:endParaRPr lang="zh-CN" sz="1200" b="1" kern="100">
                        <a:effectLst/>
                        <a:latin typeface="+mn-ea"/>
                        <a:ea typeface="+mn-ea"/>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0" indent="0" algn="ctr">
                        <a:lnSpc>
                          <a:spcPct val="150000"/>
                        </a:lnSpc>
                        <a:buNone/>
                      </a:pPr>
                      <a:r>
                        <a:rPr lang="zh-CN" sz="1200" kern="100">
                          <a:effectLst/>
                          <a:latin typeface="+mn-ea"/>
                          <a:ea typeface="+mn-ea"/>
                        </a:rPr>
                        <a:t>温度标定</a:t>
                      </a: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indent="127000" algn="ctr">
                        <a:lnSpc>
                          <a:spcPct val="150000"/>
                        </a:lnSpc>
                        <a:buNone/>
                      </a:pPr>
                      <a:r>
                        <a:rPr lang="en-US" sz="1200" kern="100">
                          <a:effectLst/>
                          <a:latin typeface="+mn-ea"/>
                          <a:ea typeface="+mn-ea"/>
                        </a:rPr>
                        <a:t>-0.3</a:t>
                      </a:r>
                      <a:r>
                        <a:rPr lang="en-US" altLang="zh-CN" sz="1200" kern="100">
                          <a:effectLst/>
                          <a:latin typeface="+mn-ea"/>
                          <a:ea typeface="+mn-ea"/>
                        </a:rPr>
                        <a:t>°CA</a:t>
                      </a:r>
                      <a:endParaRPr lang="zh-CN" sz="1200" kern="100">
                        <a:effectLst/>
                        <a:latin typeface="+mn-ea"/>
                        <a:ea typeface="+mn-ea"/>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indent="127000" algn="ctr">
                        <a:lnSpc>
                          <a:spcPct val="150000"/>
                        </a:lnSpc>
                        <a:buNone/>
                      </a:pPr>
                      <a:r>
                        <a:rPr lang="en-US" sz="1200" kern="100">
                          <a:effectLst/>
                          <a:latin typeface="+mn-ea"/>
                          <a:ea typeface="+mn-ea"/>
                        </a:rPr>
                        <a:t>-4</a:t>
                      </a:r>
                      <a:r>
                        <a:rPr lang="en-US" altLang="zh-CN" sz="1200" kern="100">
                          <a:effectLst/>
                          <a:latin typeface="+mn-ea"/>
                          <a:ea typeface="+mn-ea"/>
                        </a:rPr>
                        <a:t>°CA</a:t>
                      </a:r>
                      <a:endParaRPr lang="zh-CN" sz="1200" kern="100">
                        <a:effectLst/>
                        <a:latin typeface="+mn-ea"/>
                        <a:ea typeface="+mn-ea"/>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indent="127000" algn="ctr">
                        <a:lnSpc>
                          <a:spcPct val="150000"/>
                        </a:lnSpc>
                        <a:buNone/>
                      </a:pPr>
                      <a:r>
                        <a:rPr lang="en-US" sz="1200" kern="100">
                          <a:effectLst/>
                          <a:latin typeface="+mn-ea"/>
                          <a:ea typeface="+mn-ea"/>
                        </a:rPr>
                        <a:t>3.7</a:t>
                      </a:r>
                      <a:r>
                        <a:rPr lang="en-US" altLang="zh-CN" sz="1200" kern="100">
                          <a:effectLst/>
                          <a:latin typeface="+mn-ea"/>
                          <a:ea typeface="+mn-ea"/>
                        </a:rPr>
                        <a:t>°CA</a:t>
                      </a:r>
                      <a:endParaRPr lang="zh-CN" sz="1200" kern="100">
                        <a:effectLst/>
                        <a:latin typeface="+mn-ea"/>
                        <a:ea typeface="+mn-ea"/>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indent="127000" algn="ctr">
                        <a:lnSpc>
                          <a:spcPct val="150000"/>
                        </a:lnSpc>
                        <a:buNone/>
                      </a:pPr>
                      <a:r>
                        <a:rPr lang="en-US" sz="1200" b="1" kern="100">
                          <a:solidFill>
                            <a:srgbClr val="FF0000"/>
                          </a:solidFill>
                          <a:effectLst/>
                          <a:latin typeface="+mn-ea"/>
                          <a:ea typeface="+mn-ea"/>
                        </a:rPr>
                        <a:t>-</a:t>
                      </a:r>
                      <a:r>
                        <a:rPr lang="en-US" sz="1200" b="1" kern="100">
                          <a:solidFill>
                            <a:srgbClr val="C00000"/>
                          </a:solidFill>
                          <a:effectLst/>
                          <a:latin typeface="+mn-ea"/>
                          <a:ea typeface="+mn-ea"/>
                        </a:rPr>
                        <a:t>220</a:t>
                      </a:r>
                      <a:r>
                        <a:rPr lang="en-US" altLang="zh-CN" sz="1200" b="1" kern="100">
                          <a:solidFill>
                            <a:srgbClr val="C00000"/>
                          </a:solidFill>
                          <a:effectLst/>
                          <a:latin typeface="+mn-ea"/>
                          <a:ea typeface="+mn-ea"/>
                        </a:rPr>
                        <a:t>K</a:t>
                      </a:r>
                      <a:endParaRPr lang="zh-CN" sz="1200" b="1" kern="100">
                        <a:solidFill>
                          <a:srgbClr val="C00000"/>
                        </a:solidFill>
                        <a:effectLst/>
                        <a:latin typeface="+mn-ea"/>
                        <a:ea typeface="+mn-ea"/>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5573497"/>
                  </a:ext>
                </a:extLst>
              </a:tr>
            </a:tbl>
          </a:graphicData>
        </a:graphic>
      </p:graphicFrame>
      <p:pic>
        <p:nvPicPr>
          <p:cNvPr id="11" name="图片 10">
            <a:extLst>
              <a:ext uri="{FF2B5EF4-FFF2-40B4-BE49-F238E27FC236}">
                <a16:creationId xmlns:a16="http://schemas.microsoft.com/office/drawing/2014/main" id="{14935911-4D5C-E2C5-54FD-DF616434D931}"/>
              </a:ext>
            </a:extLst>
          </p:cNvPr>
          <p:cNvPicPr>
            <a:picLocks noChangeAspect="1"/>
          </p:cNvPicPr>
          <p:nvPr/>
        </p:nvPicPr>
        <p:blipFill>
          <a:blip r:embed="rId5"/>
          <a:stretch>
            <a:fillRect/>
          </a:stretch>
        </p:blipFill>
        <p:spPr>
          <a:xfrm>
            <a:off x="956633" y="2762127"/>
            <a:ext cx="1970717" cy="496395"/>
          </a:xfrm>
          <a:prstGeom prst="rect">
            <a:avLst/>
          </a:prstGeom>
        </p:spPr>
      </p:pic>
      <p:sp>
        <p:nvSpPr>
          <p:cNvPr id="12" name="文本框 11">
            <a:extLst>
              <a:ext uri="{FF2B5EF4-FFF2-40B4-BE49-F238E27FC236}">
                <a16:creationId xmlns:a16="http://schemas.microsoft.com/office/drawing/2014/main" id="{1F1AD00C-59F1-44C3-EE06-B5BE6AA1410A}"/>
              </a:ext>
            </a:extLst>
          </p:cNvPr>
          <p:cNvSpPr txBox="1"/>
          <p:nvPr/>
        </p:nvSpPr>
        <p:spPr>
          <a:xfrm>
            <a:off x="439361" y="1636384"/>
            <a:ext cx="3124573" cy="954107"/>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u"/>
            </a:pPr>
            <a:r>
              <a:rPr lang="zh-CN" altLang="en-US" sz="1400" b="1">
                <a:solidFill>
                  <a:srgbClr val="2F5597"/>
                </a:solidFill>
              </a:rPr>
              <a:t>局部热点温度高</a:t>
            </a:r>
            <a:endParaRPr lang="en-US" altLang="zh-CN" sz="1400" b="1">
              <a:solidFill>
                <a:srgbClr val="2F5597"/>
              </a:solidFill>
            </a:endParaRPr>
          </a:p>
          <a:p>
            <a:pPr marL="285750" indent="-285750">
              <a:buClr>
                <a:schemeClr val="accent1">
                  <a:lumMod val="75000"/>
                </a:schemeClr>
              </a:buClr>
              <a:buFont typeface="Wingdings" panose="05000000000000000000" pitchFamily="2" charset="2"/>
              <a:buChar char="u"/>
            </a:pPr>
            <a:r>
              <a:rPr lang="zh-CN" altLang="en-US" sz="1400" b="1">
                <a:solidFill>
                  <a:srgbClr val="2F5597"/>
                </a:solidFill>
              </a:rPr>
              <a:t>上游准维模型有一定仿真偏差</a:t>
            </a:r>
            <a:endParaRPr lang="en-US" altLang="zh-CN" sz="1400" b="1">
              <a:solidFill>
                <a:srgbClr val="2F5597"/>
              </a:solidFill>
            </a:endParaRPr>
          </a:p>
          <a:p>
            <a:pPr marL="285750" indent="-285750">
              <a:buClr>
                <a:schemeClr val="accent1">
                  <a:lumMod val="75000"/>
                </a:schemeClr>
              </a:buClr>
              <a:buFont typeface="Wingdings" panose="05000000000000000000" pitchFamily="2" charset="2"/>
              <a:buChar char="u"/>
            </a:pPr>
            <a:r>
              <a:rPr lang="zh-CN" altLang="en-US" sz="1400" b="1">
                <a:solidFill>
                  <a:srgbClr val="2F5597"/>
                </a:solidFill>
              </a:rPr>
              <a:t>爆震工况无法做燃烧标定</a:t>
            </a:r>
            <a:endParaRPr lang="en-US" altLang="zh-CN" sz="1400" b="1">
              <a:solidFill>
                <a:srgbClr val="2F5597"/>
              </a:solidFill>
            </a:endParaRPr>
          </a:p>
          <a:p>
            <a:pPr marL="285750" indent="-285750">
              <a:buClr>
                <a:schemeClr val="accent1">
                  <a:lumMod val="75000"/>
                </a:schemeClr>
              </a:buClr>
              <a:buFont typeface="Wingdings" panose="05000000000000000000" pitchFamily="2" charset="2"/>
              <a:buChar char="u"/>
            </a:pPr>
            <a:r>
              <a:rPr lang="en-US" altLang="zh-CN" sz="1400" b="1">
                <a:solidFill>
                  <a:srgbClr val="2F5597"/>
                </a:solidFill>
              </a:rPr>
              <a:t>τ </a:t>
            </a:r>
            <a:r>
              <a:rPr lang="zh-CN" altLang="en-US" sz="1400" b="1">
                <a:solidFill>
                  <a:srgbClr val="2F5597"/>
                </a:solidFill>
              </a:rPr>
              <a:t>取值未考虑内燃机散热偏差较大</a:t>
            </a:r>
            <a:endParaRPr lang="zh-CN" altLang="en-US" sz="1400" b="1"/>
          </a:p>
        </p:txBody>
      </p:sp>
      <p:sp>
        <p:nvSpPr>
          <p:cNvPr id="13" name="文本框 12">
            <a:extLst>
              <a:ext uri="{FF2B5EF4-FFF2-40B4-BE49-F238E27FC236}">
                <a16:creationId xmlns:a16="http://schemas.microsoft.com/office/drawing/2014/main" id="{CD23A029-183D-1B5F-7681-7BCC857CE23A}"/>
              </a:ext>
            </a:extLst>
          </p:cNvPr>
          <p:cNvSpPr txBox="1"/>
          <p:nvPr/>
        </p:nvSpPr>
        <p:spPr>
          <a:xfrm>
            <a:off x="439361" y="2590948"/>
            <a:ext cx="1941557"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solidFill>
                  <a:srgbClr val="C00000"/>
                </a:solidFill>
              </a:rPr>
              <a:t>引入温度修正</a:t>
            </a:r>
            <a:r>
              <a:rPr lang="en-US" altLang="zh-CN" sz="1400" b="1" baseline="30000">
                <a:solidFill>
                  <a:srgbClr val="C00000"/>
                </a:solidFill>
              </a:rPr>
              <a:t>[42]</a:t>
            </a:r>
            <a:r>
              <a:rPr lang="zh-CN" altLang="en-US" sz="1400" b="1">
                <a:solidFill>
                  <a:srgbClr val="C00000"/>
                </a:solidFill>
              </a:rPr>
              <a:t>：</a:t>
            </a:r>
          </a:p>
        </p:txBody>
      </p:sp>
      <p:sp>
        <p:nvSpPr>
          <p:cNvPr id="15" name="文本框 14">
            <a:extLst>
              <a:ext uri="{FF2B5EF4-FFF2-40B4-BE49-F238E27FC236}">
                <a16:creationId xmlns:a16="http://schemas.microsoft.com/office/drawing/2014/main" id="{A1BF3564-6219-8484-D577-3E5AB0F02E2E}"/>
              </a:ext>
            </a:extLst>
          </p:cNvPr>
          <p:cNvSpPr txBox="1"/>
          <p:nvPr/>
        </p:nvSpPr>
        <p:spPr>
          <a:xfrm>
            <a:off x="2001647" y="3248387"/>
            <a:ext cx="902811" cy="307777"/>
          </a:xfrm>
          <a:prstGeom prst="rect">
            <a:avLst/>
          </a:prstGeom>
          <a:noFill/>
        </p:spPr>
        <p:txBody>
          <a:bodyPr wrap="none" rtlCol="0">
            <a:spAutoFit/>
          </a:bodyPr>
          <a:lstStyle/>
          <a:p>
            <a:r>
              <a:rPr lang="zh-CN" altLang="en-US" sz="1400"/>
              <a:t>降维处理</a:t>
            </a:r>
          </a:p>
        </p:txBody>
      </p:sp>
      <p:pic>
        <p:nvPicPr>
          <p:cNvPr id="17" name="图片 16">
            <a:extLst>
              <a:ext uri="{FF2B5EF4-FFF2-40B4-BE49-F238E27FC236}">
                <a16:creationId xmlns:a16="http://schemas.microsoft.com/office/drawing/2014/main" id="{344E75BA-A0C4-ED7A-E1C5-A0D39C8A99DF}"/>
              </a:ext>
            </a:extLst>
          </p:cNvPr>
          <p:cNvPicPr>
            <a:picLocks noChangeAspect="1"/>
          </p:cNvPicPr>
          <p:nvPr/>
        </p:nvPicPr>
        <p:blipFill>
          <a:blip r:embed="rId6"/>
          <a:stretch>
            <a:fillRect/>
          </a:stretch>
        </p:blipFill>
        <p:spPr>
          <a:xfrm>
            <a:off x="1117530" y="3566299"/>
            <a:ext cx="1115130" cy="438969"/>
          </a:xfrm>
          <a:prstGeom prst="rect">
            <a:avLst/>
          </a:prstGeom>
        </p:spPr>
      </p:pic>
      <p:sp>
        <p:nvSpPr>
          <p:cNvPr id="19" name="文本框 18">
            <a:extLst>
              <a:ext uri="{FF2B5EF4-FFF2-40B4-BE49-F238E27FC236}">
                <a16:creationId xmlns:a16="http://schemas.microsoft.com/office/drawing/2014/main" id="{8F35499D-BEC8-1CC6-939D-D07A04F6EDDF}"/>
              </a:ext>
            </a:extLst>
          </p:cNvPr>
          <p:cNvSpPr txBox="1"/>
          <p:nvPr/>
        </p:nvSpPr>
        <p:spPr>
          <a:xfrm>
            <a:off x="2001647" y="3995135"/>
            <a:ext cx="902811" cy="307777"/>
          </a:xfrm>
          <a:prstGeom prst="rect">
            <a:avLst/>
          </a:prstGeom>
          <a:noFill/>
        </p:spPr>
        <p:txBody>
          <a:bodyPr wrap="none" rtlCol="0">
            <a:spAutoFit/>
          </a:bodyPr>
          <a:lstStyle/>
          <a:p>
            <a:r>
              <a:rPr lang="zh-CN" altLang="en-US" sz="1400"/>
              <a:t>单点标定</a:t>
            </a:r>
          </a:p>
        </p:txBody>
      </p:sp>
      <p:pic>
        <p:nvPicPr>
          <p:cNvPr id="21" name="图片 20">
            <a:extLst>
              <a:ext uri="{FF2B5EF4-FFF2-40B4-BE49-F238E27FC236}">
                <a16:creationId xmlns:a16="http://schemas.microsoft.com/office/drawing/2014/main" id="{D9694A32-3694-2A5B-6DC8-96ECECF314BB}"/>
              </a:ext>
            </a:extLst>
          </p:cNvPr>
          <p:cNvPicPr>
            <a:picLocks noChangeAspect="1"/>
          </p:cNvPicPr>
          <p:nvPr/>
        </p:nvPicPr>
        <p:blipFill>
          <a:blip r:embed="rId7"/>
          <a:stretch>
            <a:fillRect/>
          </a:stretch>
        </p:blipFill>
        <p:spPr>
          <a:xfrm>
            <a:off x="1714698" y="4247043"/>
            <a:ext cx="263550" cy="287509"/>
          </a:xfrm>
          <a:prstGeom prst="rect">
            <a:avLst/>
          </a:prstGeom>
        </p:spPr>
      </p:pic>
      <p:sp>
        <p:nvSpPr>
          <p:cNvPr id="23" name="文本框 22">
            <a:extLst>
              <a:ext uri="{FF2B5EF4-FFF2-40B4-BE49-F238E27FC236}">
                <a16:creationId xmlns:a16="http://schemas.microsoft.com/office/drawing/2014/main" id="{5FA814E7-D6F6-C547-67C5-A2DE6C7E0A7B}"/>
              </a:ext>
            </a:extLst>
          </p:cNvPr>
          <p:cNvSpPr txBox="1"/>
          <p:nvPr/>
        </p:nvSpPr>
        <p:spPr>
          <a:xfrm>
            <a:off x="421381" y="6250278"/>
            <a:ext cx="3041220" cy="276999"/>
          </a:xfrm>
          <a:prstGeom prst="rect">
            <a:avLst/>
          </a:prstGeom>
          <a:noFill/>
        </p:spPr>
        <p:txBody>
          <a:bodyPr wrap="square">
            <a:spAutoFit/>
          </a:bodyPr>
          <a:lstStyle/>
          <a:p>
            <a:pPr algn="ctr"/>
            <a:r>
              <a:rPr lang="zh-CN" altLang="en-US" sz="1200"/>
              <a:t>图</a:t>
            </a:r>
            <a:r>
              <a:rPr lang="en-US" altLang="zh-CN" sz="1200"/>
              <a:t>4-4 </a:t>
            </a:r>
            <a:r>
              <a:rPr lang="zh-CN" altLang="en-US" sz="1200"/>
              <a:t>爆震唯象模型标定流程</a:t>
            </a:r>
          </a:p>
        </p:txBody>
      </p:sp>
      <p:sp>
        <p:nvSpPr>
          <p:cNvPr id="24" name="文本框 23">
            <a:extLst>
              <a:ext uri="{FF2B5EF4-FFF2-40B4-BE49-F238E27FC236}">
                <a16:creationId xmlns:a16="http://schemas.microsoft.com/office/drawing/2014/main" id="{959B6055-65F6-DF6F-72ED-149C6648E08B}"/>
              </a:ext>
            </a:extLst>
          </p:cNvPr>
          <p:cNvSpPr txBox="1"/>
          <p:nvPr/>
        </p:nvSpPr>
        <p:spPr>
          <a:xfrm>
            <a:off x="6287547" y="1461138"/>
            <a:ext cx="3713570" cy="276999"/>
          </a:xfrm>
          <a:prstGeom prst="rect">
            <a:avLst/>
          </a:prstGeom>
          <a:noFill/>
        </p:spPr>
        <p:txBody>
          <a:bodyPr wrap="square">
            <a:spAutoFit/>
          </a:bodyPr>
          <a:lstStyle/>
          <a:p>
            <a:pPr algn="ctr"/>
            <a:r>
              <a:rPr lang="zh-CN" altLang="en-US" sz="1200"/>
              <a:t>表 </a:t>
            </a:r>
            <a:r>
              <a:rPr lang="en-US" altLang="zh-CN" sz="1200"/>
              <a:t>4-5 </a:t>
            </a:r>
            <a:r>
              <a:rPr lang="zh-CN" altLang="en-US" sz="1200"/>
              <a:t>爆震唯象标定工况及标定结果</a:t>
            </a:r>
          </a:p>
        </p:txBody>
      </p:sp>
      <p:sp>
        <p:nvSpPr>
          <p:cNvPr id="25" name="文本框 24">
            <a:extLst>
              <a:ext uri="{FF2B5EF4-FFF2-40B4-BE49-F238E27FC236}">
                <a16:creationId xmlns:a16="http://schemas.microsoft.com/office/drawing/2014/main" id="{F6246A5B-87FB-B159-244E-98196D85B367}"/>
              </a:ext>
            </a:extLst>
          </p:cNvPr>
          <p:cNvSpPr txBox="1"/>
          <p:nvPr/>
        </p:nvSpPr>
        <p:spPr>
          <a:xfrm>
            <a:off x="4532663" y="5865885"/>
            <a:ext cx="3133804" cy="276999"/>
          </a:xfrm>
          <a:prstGeom prst="rect">
            <a:avLst/>
          </a:prstGeom>
          <a:noFill/>
        </p:spPr>
        <p:txBody>
          <a:bodyPr wrap="square">
            <a:spAutoFit/>
          </a:bodyPr>
          <a:lstStyle/>
          <a:p>
            <a:pPr algn="ctr"/>
            <a:r>
              <a:rPr lang="zh-CN" altLang="en-US" sz="1200"/>
              <a:t>图</a:t>
            </a:r>
            <a:r>
              <a:rPr lang="en-US" altLang="zh-CN" sz="1200"/>
              <a:t>4-5 </a:t>
            </a:r>
            <a:r>
              <a:rPr lang="zh-CN" altLang="en-US" sz="1200"/>
              <a:t>爆震唯象模型</a:t>
            </a:r>
            <a:r>
              <a:rPr lang="en-US" altLang="zh-CN" sz="1200"/>
              <a:t>case1-case4</a:t>
            </a:r>
            <a:r>
              <a:rPr lang="zh-CN" altLang="en-US" sz="1200"/>
              <a:t>验证结果图</a:t>
            </a:r>
          </a:p>
        </p:txBody>
      </p:sp>
      <p:cxnSp>
        <p:nvCxnSpPr>
          <p:cNvPr id="31" name="直接连接符 30">
            <a:extLst>
              <a:ext uri="{FF2B5EF4-FFF2-40B4-BE49-F238E27FC236}">
                <a16:creationId xmlns:a16="http://schemas.microsoft.com/office/drawing/2014/main" id="{A2523ED4-F445-A390-0D5B-26980BF0BCA2}"/>
              </a:ext>
            </a:extLst>
          </p:cNvPr>
          <p:cNvCxnSpPr>
            <a:cxnSpLocks/>
          </p:cNvCxnSpPr>
          <p:nvPr/>
        </p:nvCxnSpPr>
        <p:spPr>
          <a:xfrm>
            <a:off x="3718560" y="1599637"/>
            <a:ext cx="0" cy="478914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3" name="文本框 32">
            <a:extLst>
              <a:ext uri="{FF2B5EF4-FFF2-40B4-BE49-F238E27FC236}">
                <a16:creationId xmlns:a16="http://schemas.microsoft.com/office/drawing/2014/main" id="{7A1EA88B-52E4-9CBC-FCD7-94E60BAD70D5}"/>
              </a:ext>
            </a:extLst>
          </p:cNvPr>
          <p:cNvSpPr txBox="1"/>
          <p:nvPr/>
        </p:nvSpPr>
        <p:spPr>
          <a:xfrm>
            <a:off x="8321416" y="2577550"/>
            <a:ext cx="1893467" cy="307777"/>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u"/>
            </a:pPr>
            <a:r>
              <a:rPr lang="zh-CN" altLang="en-US" sz="1400" b="1">
                <a:solidFill>
                  <a:srgbClr val="2F5597"/>
                </a:solidFill>
              </a:rPr>
              <a:t>典型工况验证结果</a:t>
            </a:r>
          </a:p>
        </p:txBody>
      </p:sp>
      <p:cxnSp>
        <p:nvCxnSpPr>
          <p:cNvPr id="35" name="直接连接符 34">
            <a:extLst>
              <a:ext uri="{FF2B5EF4-FFF2-40B4-BE49-F238E27FC236}">
                <a16:creationId xmlns:a16="http://schemas.microsoft.com/office/drawing/2014/main" id="{4C5765ED-C895-36D4-897E-B051F61CF1AB}"/>
              </a:ext>
            </a:extLst>
          </p:cNvPr>
          <p:cNvCxnSpPr>
            <a:cxnSpLocks/>
          </p:cNvCxnSpPr>
          <p:nvPr/>
        </p:nvCxnSpPr>
        <p:spPr>
          <a:xfrm flipV="1">
            <a:off x="8389620" y="2885327"/>
            <a:ext cx="3596590"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文本框 37">
            <a:extLst>
              <a:ext uri="{FF2B5EF4-FFF2-40B4-BE49-F238E27FC236}">
                <a16:creationId xmlns:a16="http://schemas.microsoft.com/office/drawing/2014/main" id="{9CAC984E-389A-3784-29C6-E0BEBD30476C}"/>
              </a:ext>
            </a:extLst>
          </p:cNvPr>
          <p:cNvSpPr txBox="1"/>
          <p:nvPr/>
        </p:nvSpPr>
        <p:spPr>
          <a:xfrm>
            <a:off x="9022368" y="2898725"/>
            <a:ext cx="800219" cy="461665"/>
          </a:xfrm>
          <a:prstGeom prst="rect">
            <a:avLst/>
          </a:prstGeom>
          <a:noFill/>
        </p:spPr>
        <p:txBody>
          <a:bodyPr wrap="none" rtlCol="0">
            <a:spAutoFit/>
          </a:bodyPr>
          <a:lstStyle/>
          <a:p>
            <a:pPr algn="ctr"/>
            <a:r>
              <a:rPr lang="zh-CN" altLang="en-US" sz="1200"/>
              <a:t>预测自燃</a:t>
            </a:r>
            <a:endParaRPr lang="en-US" altLang="zh-CN" sz="1200"/>
          </a:p>
          <a:p>
            <a:pPr algn="ctr"/>
            <a:r>
              <a:rPr lang="zh-CN" altLang="en-US" sz="1200"/>
              <a:t>相位</a:t>
            </a:r>
          </a:p>
        </p:txBody>
      </p:sp>
      <p:sp>
        <p:nvSpPr>
          <p:cNvPr id="39" name="文本框 38">
            <a:extLst>
              <a:ext uri="{FF2B5EF4-FFF2-40B4-BE49-F238E27FC236}">
                <a16:creationId xmlns:a16="http://schemas.microsoft.com/office/drawing/2014/main" id="{162B51A0-0C88-0BC6-91C2-4A9F4295F7CE}"/>
              </a:ext>
            </a:extLst>
          </p:cNvPr>
          <p:cNvSpPr txBox="1"/>
          <p:nvPr/>
        </p:nvSpPr>
        <p:spPr>
          <a:xfrm>
            <a:off x="9753576" y="2898725"/>
            <a:ext cx="800219" cy="461665"/>
          </a:xfrm>
          <a:prstGeom prst="rect">
            <a:avLst/>
          </a:prstGeom>
          <a:noFill/>
        </p:spPr>
        <p:txBody>
          <a:bodyPr wrap="none" rtlCol="0">
            <a:spAutoFit/>
          </a:bodyPr>
          <a:lstStyle/>
          <a:p>
            <a:pPr algn="ctr"/>
            <a:r>
              <a:rPr lang="zh-CN" altLang="en-US" sz="1200"/>
              <a:t>试验起爆</a:t>
            </a:r>
            <a:endParaRPr lang="en-US" altLang="zh-CN" sz="1200"/>
          </a:p>
          <a:p>
            <a:pPr algn="ctr"/>
            <a:r>
              <a:rPr lang="zh-CN" altLang="en-US" sz="1200"/>
              <a:t>相位</a:t>
            </a:r>
          </a:p>
        </p:txBody>
      </p:sp>
      <p:sp>
        <p:nvSpPr>
          <p:cNvPr id="40" name="文本框 39">
            <a:extLst>
              <a:ext uri="{FF2B5EF4-FFF2-40B4-BE49-F238E27FC236}">
                <a16:creationId xmlns:a16="http://schemas.microsoft.com/office/drawing/2014/main" id="{A80A9AB2-9776-C72D-0D62-B2FC4CB2CE8D}"/>
              </a:ext>
            </a:extLst>
          </p:cNvPr>
          <p:cNvSpPr txBox="1"/>
          <p:nvPr/>
        </p:nvSpPr>
        <p:spPr>
          <a:xfrm>
            <a:off x="10553795" y="2991058"/>
            <a:ext cx="644728" cy="276999"/>
          </a:xfrm>
          <a:prstGeom prst="rect">
            <a:avLst/>
          </a:prstGeom>
          <a:noFill/>
        </p:spPr>
        <p:txBody>
          <a:bodyPr wrap="none" rtlCol="0">
            <a:spAutoFit/>
          </a:bodyPr>
          <a:lstStyle/>
          <a:p>
            <a:pPr algn="ctr"/>
            <a:r>
              <a:rPr lang="en-US" altLang="zh-CN" sz="1200"/>
              <a:t>x_ub,bl</a:t>
            </a:r>
            <a:endParaRPr lang="zh-CN" altLang="en-US" sz="1200"/>
          </a:p>
        </p:txBody>
      </p:sp>
      <p:sp>
        <p:nvSpPr>
          <p:cNvPr id="41" name="文本框 40">
            <a:extLst>
              <a:ext uri="{FF2B5EF4-FFF2-40B4-BE49-F238E27FC236}">
                <a16:creationId xmlns:a16="http://schemas.microsoft.com/office/drawing/2014/main" id="{F5DE72C5-67CA-9FF0-2DC2-32664D6E2508}"/>
              </a:ext>
            </a:extLst>
          </p:cNvPr>
          <p:cNvSpPr txBox="1"/>
          <p:nvPr/>
        </p:nvSpPr>
        <p:spPr>
          <a:xfrm>
            <a:off x="11285003" y="2991058"/>
            <a:ext cx="800219" cy="276999"/>
          </a:xfrm>
          <a:prstGeom prst="rect">
            <a:avLst/>
          </a:prstGeom>
          <a:noFill/>
        </p:spPr>
        <p:txBody>
          <a:bodyPr wrap="none" rtlCol="0">
            <a:spAutoFit/>
          </a:bodyPr>
          <a:lstStyle/>
          <a:p>
            <a:pPr algn="ctr"/>
            <a:r>
              <a:rPr lang="zh-CN" altLang="en-US" sz="1200"/>
              <a:t>评估结果</a:t>
            </a:r>
          </a:p>
        </p:txBody>
      </p:sp>
      <p:grpSp>
        <p:nvGrpSpPr>
          <p:cNvPr id="46" name="组合 45">
            <a:extLst>
              <a:ext uri="{FF2B5EF4-FFF2-40B4-BE49-F238E27FC236}">
                <a16:creationId xmlns:a16="http://schemas.microsoft.com/office/drawing/2014/main" id="{BC37FADA-848E-A541-CF16-BA17B0249C96}"/>
              </a:ext>
            </a:extLst>
          </p:cNvPr>
          <p:cNvGrpSpPr/>
          <p:nvPr/>
        </p:nvGrpSpPr>
        <p:grpSpPr>
          <a:xfrm>
            <a:off x="8424077" y="3301276"/>
            <a:ext cx="3609233" cy="461665"/>
            <a:chOff x="8264588" y="3270481"/>
            <a:chExt cx="3609233" cy="461665"/>
          </a:xfrm>
        </p:grpSpPr>
        <p:sp>
          <p:nvSpPr>
            <p:cNvPr id="37" name="文本框 36">
              <a:extLst>
                <a:ext uri="{FF2B5EF4-FFF2-40B4-BE49-F238E27FC236}">
                  <a16:creationId xmlns:a16="http://schemas.microsoft.com/office/drawing/2014/main" id="{A11BD476-C28B-3F11-6875-3A876885B44E}"/>
                </a:ext>
              </a:extLst>
            </p:cNvPr>
            <p:cNvSpPr txBox="1"/>
            <p:nvPr/>
          </p:nvSpPr>
          <p:spPr>
            <a:xfrm>
              <a:off x="8264588" y="3270481"/>
              <a:ext cx="646331" cy="461665"/>
            </a:xfrm>
            <a:prstGeom prst="rect">
              <a:avLst/>
            </a:prstGeom>
            <a:noFill/>
          </p:spPr>
          <p:txBody>
            <a:bodyPr wrap="none" rtlCol="0">
              <a:spAutoFit/>
            </a:bodyPr>
            <a:lstStyle/>
            <a:p>
              <a:pPr algn="ctr"/>
              <a:r>
                <a:rPr lang="en-US" altLang="zh-CN" sz="1200"/>
                <a:t>case1</a:t>
              </a:r>
            </a:p>
            <a:p>
              <a:pPr algn="ctr"/>
              <a:r>
                <a:rPr lang="zh-CN" altLang="en-US" sz="1200"/>
                <a:t>无爆震</a:t>
              </a:r>
              <a:endParaRPr lang="en-US" altLang="zh-CN" sz="1200"/>
            </a:p>
          </p:txBody>
        </p:sp>
        <p:sp>
          <p:nvSpPr>
            <p:cNvPr id="42" name="文本框 41">
              <a:extLst>
                <a:ext uri="{FF2B5EF4-FFF2-40B4-BE49-F238E27FC236}">
                  <a16:creationId xmlns:a16="http://schemas.microsoft.com/office/drawing/2014/main" id="{7F507041-88DC-FE7A-6267-536D80C3F310}"/>
                </a:ext>
              </a:extLst>
            </p:cNvPr>
            <p:cNvSpPr txBox="1"/>
            <p:nvPr/>
          </p:nvSpPr>
          <p:spPr>
            <a:xfrm>
              <a:off x="8835373" y="3270481"/>
              <a:ext cx="904415" cy="461665"/>
            </a:xfrm>
            <a:prstGeom prst="rect">
              <a:avLst/>
            </a:prstGeom>
            <a:noFill/>
          </p:spPr>
          <p:txBody>
            <a:bodyPr wrap="none" rtlCol="0">
              <a:spAutoFit/>
            </a:bodyPr>
            <a:lstStyle/>
            <a:p>
              <a:pPr algn="ctr"/>
              <a:r>
                <a:rPr lang="en-US" altLang="zh-CN" sz="1200"/>
                <a:t>—(LW</a:t>
              </a:r>
              <a:r>
                <a:rPr lang="zh-CN" altLang="en-US" sz="1200"/>
                <a:t>最高</a:t>
              </a:r>
              <a:endParaRPr lang="en-US" altLang="zh-CN" sz="1200"/>
            </a:p>
            <a:p>
              <a:pPr algn="ctr"/>
              <a:r>
                <a:rPr lang="en-US" altLang="zh-CN" sz="1200"/>
                <a:t>0.0000)</a:t>
              </a:r>
              <a:endParaRPr lang="zh-CN" altLang="en-US" sz="1200"/>
            </a:p>
          </p:txBody>
        </p:sp>
        <p:sp>
          <p:nvSpPr>
            <p:cNvPr id="43" name="文本框 42">
              <a:extLst>
                <a:ext uri="{FF2B5EF4-FFF2-40B4-BE49-F238E27FC236}">
                  <a16:creationId xmlns:a16="http://schemas.microsoft.com/office/drawing/2014/main" id="{0B6E238D-A8B2-CDB1-5CD8-0ED87EB48518}"/>
                </a:ext>
              </a:extLst>
            </p:cNvPr>
            <p:cNvSpPr txBox="1"/>
            <p:nvPr/>
          </p:nvSpPr>
          <p:spPr>
            <a:xfrm>
              <a:off x="9849952" y="3362814"/>
              <a:ext cx="338554" cy="276999"/>
            </a:xfrm>
            <a:prstGeom prst="rect">
              <a:avLst/>
            </a:prstGeom>
            <a:noFill/>
          </p:spPr>
          <p:txBody>
            <a:bodyPr wrap="none" rtlCol="0">
              <a:spAutoFit/>
            </a:bodyPr>
            <a:lstStyle/>
            <a:p>
              <a:pPr algn="ctr"/>
              <a:r>
                <a:rPr lang="en-US" altLang="zh-CN" sz="1200"/>
                <a:t>—</a:t>
              </a:r>
            </a:p>
          </p:txBody>
        </p:sp>
        <p:sp>
          <p:nvSpPr>
            <p:cNvPr id="44" name="文本框 43">
              <a:extLst>
                <a:ext uri="{FF2B5EF4-FFF2-40B4-BE49-F238E27FC236}">
                  <a16:creationId xmlns:a16="http://schemas.microsoft.com/office/drawing/2014/main" id="{1923CD71-25E7-6D58-4A91-47AA80D1D20C}"/>
                </a:ext>
              </a:extLst>
            </p:cNvPr>
            <p:cNvSpPr txBox="1"/>
            <p:nvPr/>
          </p:nvSpPr>
          <p:spPr>
            <a:xfrm>
              <a:off x="10563923" y="3362814"/>
              <a:ext cx="338554" cy="276999"/>
            </a:xfrm>
            <a:prstGeom prst="rect">
              <a:avLst/>
            </a:prstGeom>
            <a:noFill/>
          </p:spPr>
          <p:txBody>
            <a:bodyPr wrap="none" rtlCol="0">
              <a:spAutoFit/>
            </a:bodyPr>
            <a:lstStyle/>
            <a:p>
              <a:pPr algn="ctr"/>
              <a:r>
                <a:rPr lang="en-US" altLang="zh-CN" sz="1200"/>
                <a:t>—</a:t>
              </a:r>
            </a:p>
          </p:txBody>
        </p:sp>
        <p:sp>
          <p:nvSpPr>
            <p:cNvPr id="45" name="文本框 44">
              <a:extLst>
                <a:ext uri="{FF2B5EF4-FFF2-40B4-BE49-F238E27FC236}">
                  <a16:creationId xmlns:a16="http://schemas.microsoft.com/office/drawing/2014/main" id="{D744DA6B-D172-36E6-EA36-52FFCDFC00ED}"/>
                </a:ext>
              </a:extLst>
            </p:cNvPr>
            <p:cNvSpPr txBox="1"/>
            <p:nvPr/>
          </p:nvSpPr>
          <p:spPr>
            <a:xfrm>
              <a:off x="11227490" y="3270481"/>
              <a:ext cx="646331" cy="461665"/>
            </a:xfrm>
            <a:prstGeom prst="rect">
              <a:avLst/>
            </a:prstGeom>
            <a:noFill/>
          </p:spPr>
          <p:txBody>
            <a:bodyPr wrap="none" rtlCol="0">
              <a:spAutoFit/>
            </a:bodyPr>
            <a:lstStyle/>
            <a:p>
              <a:pPr algn="ctr"/>
              <a:r>
                <a:rPr lang="zh-CN" altLang="en-US" sz="1200" b="1">
                  <a:solidFill>
                    <a:srgbClr val="FF0000"/>
                  </a:solidFill>
                </a:rPr>
                <a:t>未自燃</a:t>
              </a:r>
              <a:endParaRPr lang="en-US" altLang="zh-CN" sz="1200" b="1">
                <a:solidFill>
                  <a:srgbClr val="FF0000"/>
                </a:solidFill>
              </a:endParaRPr>
            </a:p>
            <a:p>
              <a:pPr algn="ctr"/>
              <a:r>
                <a:rPr lang="zh-CN" altLang="en-US" sz="1200" b="1"/>
                <a:t>未爆震</a:t>
              </a:r>
              <a:endParaRPr lang="en-US" altLang="zh-CN" sz="1200" b="1"/>
            </a:p>
          </p:txBody>
        </p:sp>
      </p:grpSp>
      <p:grpSp>
        <p:nvGrpSpPr>
          <p:cNvPr id="47" name="组合 46">
            <a:extLst>
              <a:ext uri="{FF2B5EF4-FFF2-40B4-BE49-F238E27FC236}">
                <a16:creationId xmlns:a16="http://schemas.microsoft.com/office/drawing/2014/main" id="{A01F2240-C973-2680-AE22-A0F8B4099416}"/>
              </a:ext>
            </a:extLst>
          </p:cNvPr>
          <p:cNvGrpSpPr/>
          <p:nvPr/>
        </p:nvGrpSpPr>
        <p:grpSpPr>
          <a:xfrm>
            <a:off x="8347134" y="3752970"/>
            <a:ext cx="3686176" cy="461665"/>
            <a:chOff x="8187645" y="3270481"/>
            <a:chExt cx="3686176" cy="461665"/>
          </a:xfrm>
        </p:grpSpPr>
        <p:sp>
          <p:nvSpPr>
            <p:cNvPr id="48" name="文本框 47">
              <a:extLst>
                <a:ext uri="{FF2B5EF4-FFF2-40B4-BE49-F238E27FC236}">
                  <a16:creationId xmlns:a16="http://schemas.microsoft.com/office/drawing/2014/main" id="{9DA2E877-DD3A-BECE-8DC0-357FABBA293A}"/>
                </a:ext>
              </a:extLst>
            </p:cNvPr>
            <p:cNvSpPr txBox="1"/>
            <p:nvPr/>
          </p:nvSpPr>
          <p:spPr>
            <a:xfrm>
              <a:off x="8187645" y="3270481"/>
              <a:ext cx="800219" cy="461665"/>
            </a:xfrm>
            <a:prstGeom prst="rect">
              <a:avLst/>
            </a:prstGeom>
            <a:noFill/>
          </p:spPr>
          <p:txBody>
            <a:bodyPr wrap="none" rtlCol="0">
              <a:spAutoFit/>
            </a:bodyPr>
            <a:lstStyle/>
            <a:p>
              <a:pPr algn="ctr"/>
              <a:r>
                <a:rPr lang="en-US" altLang="zh-CN" sz="1200"/>
                <a:t>case2</a:t>
              </a:r>
            </a:p>
            <a:p>
              <a:pPr algn="ctr"/>
              <a:r>
                <a:rPr lang="zh-CN" altLang="en-US" sz="1200"/>
                <a:t>轻微爆震</a:t>
              </a:r>
              <a:endParaRPr lang="en-US" altLang="zh-CN" sz="1200"/>
            </a:p>
          </p:txBody>
        </p:sp>
        <p:sp>
          <p:nvSpPr>
            <p:cNvPr id="49" name="文本框 48">
              <a:extLst>
                <a:ext uri="{FF2B5EF4-FFF2-40B4-BE49-F238E27FC236}">
                  <a16:creationId xmlns:a16="http://schemas.microsoft.com/office/drawing/2014/main" id="{AFE032BF-697A-831C-85D9-7E6673F08BEC}"/>
                </a:ext>
              </a:extLst>
            </p:cNvPr>
            <p:cNvSpPr txBox="1"/>
            <p:nvPr/>
          </p:nvSpPr>
          <p:spPr>
            <a:xfrm>
              <a:off x="8835373" y="3270481"/>
              <a:ext cx="904415" cy="461665"/>
            </a:xfrm>
            <a:prstGeom prst="rect">
              <a:avLst/>
            </a:prstGeom>
            <a:noFill/>
          </p:spPr>
          <p:txBody>
            <a:bodyPr wrap="none" rtlCol="0">
              <a:spAutoFit/>
            </a:bodyPr>
            <a:lstStyle/>
            <a:p>
              <a:pPr algn="ctr"/>
              <a:r>
                <a:rPr lang="en-US" altLang="zh-CN" sz="1200"/>
                <a:t>—(LW</a:t>
              </a:r>
              <a:r>
                <a:rPr lang="zh-CN" altLang="en-US" sz="1200"/>
                <a:t>最高</a:t>
              </a:r>
              <a:endParaRPr lang="en-US" altLang="zh-CN" sz="1200"/>
            </a:p>
            <a:p>
              <a:pPr algn="ctr"/>
              <a:r>
                <a:rPr lang="en-US" altLang="zh-CN" sz="1200"/>
                <a:t>0.3157)</a:t>
              </a:r>
              <a:endParaRPr lang="zh-CN" altLang="en-US" sz="1200"/>
            </a:p>
          </p:txBody>
        </p:sp>
        <p:sp>
          <p:nvSpPr>
            <p:cNvPr id="50" name="文本框 49">
              <a:extLst>
                <a:ext uri="{FF2B5EF4-FFF2-40B4-BE49-F238E27FC236}">
                  <a16:creationId xmlns:a16="http://schemas.microsoft.com/office/drawing/2014/main" id="{D99ACE5A-C774-4FC6-E1BB-23D3D4090001}"/>
                </a:ext>
              </a:extLst>
            </p:cNvPr>
            <p:cNvSpPr txBox="1"/>
            <p:nvPr/>
          </p:nvSpPr>
          <p:spPr>
            <a:xfrm>
              <a:off x="9849952" y="3362814"/>
              <a:ext cx="338554" cy="276999"/>
            </a:xfrm>
            <a:prstGeom prst="rect">
              <a:avLst/>
            </a:prstGeom>
            <a:noFill/>
          </p:spPr>
          <p:txBody>
            <a:bodyPr wrap="none" rtlCol="0">
              <a:spAutoFit/>
            </a:bodyPr>
            <a:lstStyle/>
            <a:p>
              <a:pPr algn="ctr"/>
              <a:r>
                <a:rPr lang="en-US" altLang="zh-CN" sz="1200"/>
                <a:t>—</a:t>
              </a:r>
            </a:p>
          </p:txBody>
        </p:sp>
        <p:sp>
          <p:nvSpPr>
            <p:cNvPr id="51" name="文本框 50">
              <a:extLst>
                <a:ext uri="{FF2B5EF4-FFF2-40B4-BE49-F238E27FC236}">
                  <a16:creationId xmlns:a16="http://schemas.microsoft.com/office/drawing/2014/main" id="{703E0391-262A-900C-3ECA-ED88011906D9}"/>
                </a:ext>
              </a:extLst>
            </p:cNvPr>
            <p:cNvSpPr txBox="1"/>
            <p:nvPr/>
          </p:nvSpPr>
          <p:spPr>
            <a:xfrm>
              <a:off x="10563923" y="3362814"/>
              <a:ext cx="338554" cy="276999"/>
            </a:xfrm>
            <a:prstGeom prst="rect">
              <a:avLst/>
            </a:prstGeom>
            <a:noFill/>
          </p:spPr>
          <p:txBody>
            <a:bodyPr wrap="none" rtlCol="0">
              <a:spAutoFit/>
            </a:bodyPr>
            <a:lstStyle/>
            <a:p>
              <a:pPr algn="ctr"/>
              <a:r>
                <a:rPr lang="en-US" altLang="zh-CN" sz="1200"/>
                <a:t>—</a:t>
              </a:r>
            </a:p>
          </p:txBody>
        </p:sp>
        <p:sp>
          <p:nvSpPr>
            <p:cNvPr id="52" name="文本框 51">
              <a:extLst>
                <a:ext uri="{FF2B5EF4-FFF2-40B4-BE49-F238E27FC236}">
                  <a16:creationId xmlns:a16="http://schemas.microsoft.com/office/drawing/2014/main" id="{A522161B-6DE5-A1B3-55DF-E12EFADDE8A0}"/>
                </a:ext>
              </a:extLst>
            </p:cNvPr>
            <p:cNvSpPr txBox="1"/>
            <p:nvPr/>
          </p:nvSpPr>
          <p:spPr>
            <a:xfrm>
              <a:off x="11227490" y="3270481"/>
              <a:ext cx="646331" cy="461665"/>
            </a:xfrm>
            <a:prstGeom prst="rect">
              <a:avLst/>
            </a:prstGeom>
            <a:noFill/>
          </p:spPr>
          <p:txBody>
            <a:bodyPr wrap="none" rtlCol="0">
              <a:spAutoFit/>
            </a:bodyPr>
            <a:lstStyle/>
            <a:p>
              <a:pPr algn="ctr"/>
              <a:r>
                <a:rPr lang="zh-CN" altLang="en-US" sz="1200" b="1">
                  <a:solidFill>
                    <a:srgbClr val="FF0000"/>
                  </a:solidFill>
                </a:rPr>
                <a:t>未自燃</a:t>
              </a:r>
              <a:endParaRPr lang="en-US" altLang="zh-CN" sz="1200" b="1">
                <a:solidFill>
                  <a:srgbClr val="FF0000"/>
                </a:solidFill>
              </a:endParaRPr>
            </a:p>
            <a:p>
              <a:pPr algn="ctr"/>
              <a:r>
                <a:rPr lang="zh-CN" altLang="en-US" sz="1200" b="1"/>
                <a:t>未爆震</a:t>
              </a:r>
              <a:endParaRPr lang="en-US" altLang="zh-CN" sz="1200" b="1"/>
            </a:p>
          </p:txBody>
        </p:sp>
      </p:grpSp>
      <p:grpSp>
        <p:nvGrpSpPr>
          <p:cNvPr id="53" name="组合 52">
            <a:extLst>
              <a:ext uri="{FF2B5EF4-FFF2-40B4-BE49-F238E27FC236}">
                <a16:creationId xmlns:a16="http://schemas.microsoft.com/office/drawing/2014/main" id="{B7C4DF67-40CE-9BAE-CD99-E628CA6CF811}"/>
              </a:ext>
            </a:extLst>
          </p:cNvPr>
          <p:cNvGrpSpPr/>
          <p:nvPr/>
        </p:nvGrpSpPr>
        <p:grpSpPr>
          <a:xfrm>
            <a:off x="8347135" y="4204664"/>
            <a:ext cx="3686175" cy="461665"/>
            <a:chOff x="8187646" y="3270481"/>
            <a:chExt cx="3686175" cy="461665"/>
          </a:xfrm>
        </p:grpSpPr>
        <p:sp>
          <p:nvSpPr>
            <p:cNvPr id="54" name="文本框 53">
              <a:extLst>
                <a:ext uri="{FF2B5EF4-FFF2-40B4-BE49-F238E27FC236}">
                  <a16:creationId xmlns:a16="http://schemas.microsoft.com/office/drawing/2014/main" id="{35670BED-74F8-88DB-C93D-4374861CA86E}"/>
                </a:ext>
              </a:extLst>
            </p:cNvPr>
            <p:cNvSpPr txBox="1"/>
            <p:nvPr/>
          </p:nvSpPr>
          <p:spPr>
            <a:xfrm>
              <a:off x="8187646" y="3270481"/>
              <a:ext cx="800219" cy="461665"/>
            </a:xfrm>
            <a:prstGeom prst="rect">
              <a:avLst/>
            </a:prstGeom>
            <a:noFill/>
          </p:spPr>
          <p:txBody>
            <a:bodyPr wrap="none" rtlCol="0">
              <a:spAutoFit/>
            </a:bodyPr>
            <a:lstStyle/>
            <a:p>
              <a:pPr algn="ctr"/>
              <a:r>
                <a:rPr lang="en-US" altLang="zh-CN" sz="1200"/>
                <a:t>case3</a:t>
              </a:r>
            </a:p>
            <a:p>
              <a:pPr algn="ctr"/>
              <a:r>
                <a:rPr lang="zh-CN" altLang="en-US" sz="1200"/>
                <a:t>中度爆震</a:t>
              </a:r>
              <a:endParaRPr lang="en-US" altLang="zh-CN" sz="1200"/>
            </a:p>
          </p:txBody>
        </p:sp>
        <p:sp>
          <p:nvSpPr>
            <p:cNvPr id="55" name="文本框 54">
              <a:extLst>
                <a:ext uri="{FF2B5EF4-FFF2-40B4-BE49-F238E27FC236}">
                  <a16:creationId xmlns:a16="http://schemas.microsoft.com/office/drawing/2014/main" id="{CC27D192-6EAD-1294-B35A-B0345DE72EA4}"/>
                </a:ext>
              </a:extLst>
            </p:cNvPr>
            <p:cNvSpPr txBox="1"/>
            <p:nvPr/>
          </p:nvSpPr>
          <p:spPr>
            <a:xfrm>
              <a:off x="8968035" y="3379582"/>
              <a:ext cx="635110" cy="276999"/>
            </a:xfrm>
            <a:prstGeom prst="rect">
              <a:avLst/>
            </a:prstGeom>
            <a:noFill/>
          </p:spPr>
          <p:txBody>
            <a:bodyPr wrap="none" rtlCol="0">
              <a:spAutoFit/>
            </a:bodyPr>
            <a:lstStyle/>
            <a:p>
              <a:pPr algn="ctr"/>
              <a:r>
                <a:rPr lang="en-US" altLang="zh-CN" sz="1200"/>
                <a:t>0.3°CA</a:t>
              </a:r>
              <a:endParaRPr lang="zh-CN" altLang="en-US" sz="1200"/>
            </a:p>
          </p:txBody>
        </p:sp>
        <p:sp>
          <p:nvSpPr>
            <p:cNvPr id="56" name="文本框 55">
              <a:extLst>
                <a:ext uri="{FF2B5EF4-FFF2-40B4-BE49-F238E27FC236}">
                  <a16:creationId xmlns:a16="http://schemas.microsoft.com/office/drawing/2014/main" id="{110B5EAF-EB81-0A48-4292-84BCA7A97BB8}"/>
                </a:ext>
              </a:extLst>
            </p:cNvPr>
            <p:cNvSpPr txBox="1"/>
            <p:nvPr/>
          </p:nvSpPr>
          <p:spPr>
            <a:xfrm>
              <a:off x="9663205" y="3362814"/>
              <a:ext cx="712054" cy="276999"/>
            </a:xfrm>
            <a:prstGeom prst="rect">
              <a:avLst/>
            </a:prstGeom>
            <a:noFill/>
          </p:spPr>
          <p:txBody>
            <a:bodyPr wrap="none" rtlCol="0">
              <a:spAutoFit/>
            </a:bodyPr>
            <a:lstStyle/>
            <a:p>
              <a:pPr algn="ctr"/>
              <a:r>
                <a:rPr lang="en-US" altLang="zh-CN" sz="1200"/>
                <a:t>-0.6°CA</a:t>
              </a:r>
            </a:p>
          </p:txBody>
        </p:sp>
        <p:sp>
          <p:nvSpPr>
            <p:cNvPr id="57" name="文本框 56">
              <a:extLst>
                <a:ext uri="{FF2B5EF4-FFF2-40B4-BE49-F238E27FC236}">
                  <a16:creationId xmlns:a16="http://schemas.microsoft.com/office/drawing/2014/main" id="{68658987-B2CB-0747-9C2A-DE8B6DC87FB4}"/>
                </a:ext>
              </a:extLst>
            </p:cNvPr>
            <p:cNvSpPr txBox="1"/>
            <p:nvPr/>
          </p:nvSpPr>
          <p:spPr>
            <a:xfrm>
              <a:off x="10422058" y="3362814"/>
              <a:ext cx="622286" cy="276999"/>
            </a:xfrm>
            <a:prstGeom prst="rect">
              <a:avLst/>
            </a:prstGeom>
            <a:noFill/>
          </p:spPr>
          <p:txBody>
            <a:bodyPr wrap="none" rtlCol="0">
              <a:spAutoFit/>
            </a:bodyPr>
            <a:lstStyle/>
            <a:p>
              <a:pPr algn="ctr"/>
              <a:r>
                <a:rPr lang="en-US" altLang="zh-CN" sz="1200"/>
                <a:t>26.30%</a:t>
              </a:r>
            </a:p>
          </p:txBody>
        </p:sp>
        <p:sp>
          <p:nvSpPr>
            <p:cNvPr id="58" name="文本框 57">
              <a:extLst>
                <a:ext uri="{FF2B5EF4-FFF2-40B4-BE49-F238E27FC236}">
                  <a16:creationId xmlns:a16="http://schemas.microsoft.com/office/drawing/2014/main" id="{C7D30CBC-2745-2E98-8BE4-C4E6A1AB876B}"/>
                </a:ext>
              </a:extLst>
            </p:cNvPr>
            <p:cNvSpPr txBox="1"/>
            <p:nvPr/>
          </p:nvSpPr>
          <p:spPr>
            <a:xfrm>
              <a:off x="11227490" y="3270481"/>
              <a:ext cx="646331" cy="461665"/>
            </a:xfrm>
            <a:prstGeom prst="rect">
              <a:avLst/>
            </a:prstGeom>
            <a:noFill/>
          </p:spPr>
          <p:txBody>
            <a:bodyPr wrap="none" rtlCol="0">
              <a:spAutoFit/>
            </a:bodyPr>
            <a:lstStyle/>
            <a:p>
              <a:pPr algn="ctr"/>
              <a:r>
                <a:rPr lang="zh-CN" altLang="en-US" sz="1200" b="1"/>
                <a:t>已自燃</a:t>
              </a:r>
              <a:endParaRPr lang="en-US" altLang="zh-CN" sz="1200" b="1"/>
            </a:p>
            <a:p>
              <a:pPr algn="ctr"/>
              <a:r>
                <a:rPr lang="zh-CN" altLang="en-US" sz="1200" b="1">
                  <a:solidFill>
                    <a:srgbClr val="FF0000"/>
                  </a:solidFill>
                </a:rPr>
                <a:t>已爆震</a:t>
              </a:r>
              <a:endParaRPr lang="en-US" altLang="zh-CN" sz="1200" b="1">
                <a:solidFill>
                  <a:srgbClr val="FF0000"/>
                </a:solidFill>
              </a:endParaRPr>
            </a:p>
          </p:txBody>
        </p:sp>
      </p:grpSp>
      <p:grpSp>
        <p:nvGrpSpPr>
          <p:cNvPr id="60" name="组合 59">
            <a:extLst>
              <a:ext uri="{FF2B5EF4-FFF2-40B4-BE49-F238E27FC236}">
                <a16:creationId xmlns:a16="http://schemas.microsoft.com/office/drawing/2014/main" id="{FE1D1688-289C-BB4A-2C59-EE89DA5F64C4}"/>
              </a:ext>
            </a:extLst>
          </p:cNvPr>
          <p:cNvGrpSpPr/>
          <p:nvPr/>
        </p:nvGrpSpPr>
        <p:grpSpPr>
          <a:xfrm>
            <a:off x="8347136" y="4656358"/>
            <a:ext cx="3686174" cy="461665"/>
            <a:chOff x="8187647" y="3270481"/>
            <a:chExt cx="3686174" cy="461665"/>
          </a:xfrm>
        </p:grpSpPr>
        <p:sp>
          <p:nvSpPr>
            <p:cNvPr id="61" name="文本框 60">
              <a:extLst>
                <a:ext uri="{FF2B5EF4-FFF2-40B4-BE49-F238E27FC236}">
                  <a16:creationId xmlns:a16="http://schemas.microsoft.com/office/drawing/2014/main" id="{7650DA34-97D6-67A5-702D-4AEAA1EA44C1}"/>
                </a:ext>
              </a:extLst>
            </p:cNvPr>
            <p:cNvSpPr txBox="1"/>
            <p:nvPr/>
          </p:nvSpPr>
          <p:spPr>
            <a:xfrm>
              <a:off x="8187647" y="3270481"/>
              <a:ext cx="800219" cy="461665"/>
            </a:xfrm>
            <a:prstGeom prst="rect">
              <a:avLst/>
            </a:prstGeom>
            <a:noFill/>
          </p:spPr>
          <p:txBody>
            <a:bodyPr wrap="none" rtlCol="0">
              <a:spAutoFit/>
            </a:bodyPr>
            <a:lstStyle/>
            <a:p>
              <a:pPr algn="ctr"/>
              <a:r>
                <a:rPr lang="en-US" altLang="zh-CN" sz="1200"/>
                <a:t>case4</a:t>
              </a:r>
            </a:p>
            <a:p>
              <a:pPr algn="ctr"/>
              <a:r>
                <a:rPr lang="zh-CN" altLang="en-US" sz="1200"/>
                <a:t>强烈爆震</a:t>
              </a:r>
              <a:endParaRPr lang="en-US" altLang="zh-CN" sz="1200"/>
            </a:p>
          </p:txBody>
        </p:sp>
        <p:sp>
          <p:nvSpPr>
            <p:cNvPr id="62" name="文本框 61">
              <a:extLst>
                <a:ext uri="{FF2B5EF4-FFF2-40B4-BE49-F238E27FC236}">
                  <a16:creationId xmlns:a16="http://schemas.microsoft.com/office/drawing/2014/main" id="{B7A435ED-7BDC-7FC2-C184-42C2197D4ACD}"/>
                </a:ext>
              </a:extLst>
            </p:cNvPr>
            <p:cNvSpPr txBox="1"/>
            <p:nvPr/>
          </p:nvSpPr>
          <p:spPr>
            <a:xfrm>
              <a:off x="8968034" y="3379582"/>
              <a:ext cx="635110" cy="276999"/>
            </a:xfrm>
            <a:prstGeom prst="rect">
              <a:avLst/>
            </a:prstGeom>
            <a:noFill/>
          </p:spPr>
          <p:txBody>
            <a:bodyPr wrap="none" rtlCol="0">
              <a:spAutoFit/>
            </a:bodyPr>
            <a:lstStyle/>
            <a:p>
              <a:pPr algn="ctr"/>
              <a:r>
                <a:rPr lang="en-US" altLang="zh-CN" sz="1200"/>
                <a:t>3.0°CA</a:t>
              </a:r>
              <a:endParaRPr lang="zh-CN" altLang="en-US" sz="1200"/>
            </a:p>
          </p:txBody>
        </p:sp>
        <p:sp>
          <p:nvSpPr>
            <p:cNvPr id="63" name="文本框 62">
              <a:extLst>
                <a:ext uri="{FF2B5EF4-FFF2-40B4-BE49-F238E27FC236}">
                  <a16:creationId xmlns:a16="http://schemas.microsoft.com/office/drawing/2014/main" id="{DD0214F3-9E62-A431-61DA-35A17614FC18}"/>
                </a:ext>
              </a:extLst>
            </p:cNvPr>
            <p:cNvSpPr txBox="1"/>
            <p:nvPr/>
          </p:nvSpPr>
          <p:spPr>
            <a:xfrm>
              <a:off x="9701677" y="3362814"/>
              <a:ext cx="635110" cy="276999"/>
            </a:xfrm>
            <a:prstGeom prst="rect">
              <a:avLst/>
            </a:prstGeom>
            <a:noFill/>
          </p:spPr>
          <p:txBody>
            <a:bodyPr wrap="none" rtlCol="0">
              <a:spAutoFit/>
            </a:bodyPr>
            <a:lstStyle/>
            <a:p>
              <a:pPr algn="ctr"/>
              <a:r>
                <a:rPr lang="en-US" altLang="zh-CN" sz="1200"/>
                <a:t>6.6°CA</a:t>
              </a:r>
            </a:p>
          </p:txBody>
        </p:sp>
        <p:sp>
          <p:nvSpPr>
            <p:cNvPr id="1024" name="文本框 1023">
              <a:extLst>
                <a:ext uri="{FF2B5EF4-FFF2-40B4-BE49-F238E27FC236}">
                  <a16:creationId xmlns:a16="http://schemas.microsoft.com/office/drawing/2014/main" id="{C6049CF4-F194-DBD8-C997-50841DA91DD8}"/>
                </a:ext>
              </a:extLst>
            </p:cNvPr>
            <p:cNvSpPr txBox="1"/>
            <p:nvPr/>
          </p:nvSpPr>
          <p:spPr>
            <a:xfrm>
              <a:off x="10422058" y="3362814"/>
              <a:ext cx="622286" cy="276999"/>
            </a:xfrm>
            <a:prstGeom prst="rect">
              <a:avLst/>
            </a:prstGeom>
            <a:noFill/>
          </p:spPr>
          <p:txBody>
            <a:bodyPr wrap="none" rtlCol="0">
              <a:spAutoFit/>
            </a:bodyPr>
            <a:lstStyle/>
            <a:p>
              <a:pPr algn="ctr"/>
              <a:r>
                <a:rPr lang="en-US" altLang="zh-CN" sz="1200"/>
                <a:t>17.17%</a:t>
              </a:r>
            </a:p>
          </p:txBody>
        </p:sp>
        <p:sp>
          <p:nvSpPr>
            <p:cNvPr id="1025" name="文本框 1024">
              <a:extLst>
                <a:ext uri="{FF2B5EF4-FFF2-40B4-BE49-F238E27FC236}">
                  <a16:creationId xmlns:a16="http://schemas.microsoft.com/office/drawing/2014/main" id="{D8135E9B-2257-90DA-F14B-2E8C0F0D45D6}"/>
                </a:ext>
              </a:extLst>
            </p:cNvPr>
            <p:cNvSpPr txBox="1"/>
            <p:nvPr/>
          </p:nvSpPr>
          <p:spPr>
            <a:xfrm>
              <a:off x="11227490" y="3270481"/>
              <a:ext cx="646331" cy="461665"/>
            </a:xfrm>
            <a:prstGeom prst="rect">
              <a:avLst/>
            </a:prstGeom>
            <a:noFill/>
          </p:spPr>
          <p:txBody>
            <a:bodyPr wrap="none" rtlCol="0">
              <a:spAutoFit/>
            </a:bodyPr>
            <a:lstStyle/>
            <a:p>
              <a:pPr algn="ctr"/>
              <a:r>
                <a:rPr lang="zh-CN" altLang="en-US" sz="1200" b="1"/>
                <a:t>已自燃</a:t>
              </a:r>
              <a:endParaRPr lang="en-US" altLang="zh-CN" sz="1200" b="1"/>
            </a:p>
            <a:p>
              <a:pPr algn="ctr"/>
              <a:r>
                <a:rPr lang="zh-CN" altLang="en-US" sz="1200" b="1">
                  <a:solidFill>
                    <a:srgbClr val="FF0000"/>
                  </a:solidFill>
                </a:rPr>
                <a:t>已爆震</a:t>
              </a:r>
              <a:endParaRPr lang="en-US" altLang="zh-CN" sz="1200" b="1">
                <a:solidFill>
                  <a:srgbClr val="FF0000"/>
                </a:solidFill>
              </a:endParaRPr>
            </a:p>
          </p:txBody>
        </p:sp>
      </p:grpSp>
      <p:sp>
        <p:nvSpPr>
          <p:cNvPr id="1034" name="文本框 1033">
            <a:extLst>
              <a:ext uri="{FF2B5EF4-FFF2-40B4-BE49-F238E27FC236}">
                <a16:creationId xmlns:a16="http://schemas.microsoft.com/office/drawing/2014/main" id="{127FCB4D-FCD5-4F6A-E7ED-D5C2EECA9477}"/>
              </a:ext>
            </a:extLst>
          </p:cNvPr>
          <p:cNvSpPr txBox="1"/>
          <p:nvPr/>
        </p:nvSpPr>
        <p:spPr>
          <a:xfrm>
            <a:off x="8566317" y="5325684"/>
            <a:ext cx="3153427" cy="83099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en-US" altLang="zh-CN" sz="1200"/>
              <a:t>case1</a:t>
            </a:r>
            <a:r>
              <a:rPr lang="zh-CN" altLang="en-US" sz="1200"/>
              <a:t>、</a:t>
            </a:r>
            <a:r>
              <a:rPr lang="en-US" altLang="zh-CN" sz="1200"/>
              <a:t>case3</a:t>
            </a:r>
            <a:r>
              <a:rPr lang="zh-CN" altLang="en-US" sz="1200"/>
              <a:t>、</a:t>
            </a:r>
            <a:r>
              <a:rPr lang="en-US" altLang="zh-CN" sz="1200"/>
              <a:t>case4</a:t>
            </a:r>
            <a:r>
              <a:rPr lang="zh-CN" altLang="en-US" sz="1200"/>
              <a:t>判断结果</a:t>
            </a:r>
            <a:r>
              <a:rPr lang="zh-CN" altLang="en-US" sz="1200" b="1">
                <a:solidFill>
                  <a:srgbClr val="C00000"/>
                </a:solidFill>
              </a:rPr>
              <a:t>符合预期</a:t>
            </a:r>
            <a:endParaRPr lang="en-US" altLang="zh-CN" sz="1200" b="1">
              <a:solidFill>
                <a:srgbClr val="C00000"/>
              </a:solidFill>
            </a:endParaRPr>
          </a:p>
          <a:p>
            <a:pPr>
              <a:buClr>
                <a:srgbClr val="C00000"/>
              </a:buClr>
            </a:pPr>
            <a:r>
              <a:rPr lang="zh-CN" altLang="en-US" sz="1200"/>
              <a:t>       ，</a:t>
            </a:r>
            <a:r>
              <a:rPr lang="en-US" altLang="zh-CN" sz="1200"/>
              <a:t>case2</a:t>
            </a:r>
            <a:r>
              <a:rPr lang="zh-CN" altLang="en-US" sz="1200"/>
              <a:t>轻微爆震工况</a:t>
            </a:r>
            <a:r>
              <a:rPr lang="zh-CN" altLang="en-US" sz="1200" b="1">
                <a:solidFill>
                  <a:srgbClr val="C00000"/>
                </a:solidFill>
              </a:rPr>
              <a:t>误判未爆震</a:t>
            </a:r>
            <a:r>
              <a:rPr lang="zh-CN" altLang="en-US" sz="1200"/>
              <a:t>。自燃</a:t>
            </a:r>
            <a:endParaRPr lang="en-US" altLang="zh-CN" sz="1200"/>
          </a:p>
          <a:p>
            <a:pPr>
              <a:buClr>
                <a:srgbClr val="C00000"/>
              </a:buClr>
            </a:pPr>
            <a:r>
              <a:rPr lang="zh-CN" altLang="en-US" sz="1200"/>
              <a:t>       时刻预测在</a:t>
            </a:r>
            <a:r>
              <a:rPr lang="zh-CN" altLang="en-US" sz="1200" b="1">
                <a:solidFill>
                  <a:srgbClr val="C00000"/>
                </a:solidFill>
              </a:rPr>
              <a:t>可接受范围内</a:t>
            </a:r>
            <a:r>
              <a:rPr lang="zh-CN" altLang="en-US" sz="1200" b="1"/>
              <a:t>。</a:t>
            </a:r>
            <a:r>
              <a:rPr lang="en-US" altLang="zh-CN" sz="1200"/>
              <a:t>x_ub,bl</a:t>
            </a:r>
            <a:r>
              <a:rPr lang="zh-CN" altLang="en-US" sz="1200" b="1">
                <a:solidFill>
                  <a:srgbClr val="C00000"/>
                </a:solidFill>
              </a:rPr>
              <a:t>符合</a:t>
            </a:r>
            <a:endParaRPr lang="en-US" altLang="zh-CN" sz="1200" b="1">
              <a:solidFill>
                <a:srgbClr val="C00000"/>
              </a:solidFill>
            </a:endParaRPr>
          </a:p>
          <a:p>
            <a:pPr>
              <a:buClr>
                <a:srgbClr val="C00000"/>
              </a:buClr>
            </a:pPr>
            <a:r>
              <a:rPr lang="en-US" altLang="zh-CN" sz="1200" b="1">
                <a:solidFill>
                  <a:srgbClr val="C00000"/>
                </a:solidFill>
              </a:rPr>
              <a:t>        </a:t>
            </a:r>
            <a:r>
              <a:rPr lang="zh-CN" altLang="en-US" sz="1200" b="1">
                <a:solidFill>
                  <a:srgbClr val="C00000"/>
                </a:solidFill>
              </a:rPr>
              <a:t>预期趋势。</a:t>
            </a:r>
            <a:endParaRPr lang="en-US" altLang="zh-CN" sz="1200" b="1">
              <a:solidFill>
                <a:srgbClr val="C00000"/>
              </a:solidFill>
            </a:endParaRPr>
          </a:p>
        </p:txBody>
      </p:sp>
      <p:grpSp>
        <p:nvGrpSpPr>
          <p:cNvPr id="1036" name="组合 1035">
            <a:extLst>
              <a:ext uri="{FF2B5EF4-FFF2-40B4-BE49-F238E27FC236}">
                <a16:creationId xmlns:a16="http://schemas.microsoft.com/office/drawing/2014/main" id="{DAFCB061-A6A4-F69A-6E2C-89A234E3CC9E}"/>
              </a:ext>
            </a:extLst>
          </p:cNvPr>
          <p:cNvGrpSpPr/>
          <p:nvPr/>
        </p:nvGrpSpPr>
        <p:grpSpPr>
          <a:xfrm>
            <a:off x="9268149" y="6096389"/>
            <a:ext cx="1961649" cy="307777"/>
            <a:chOff x="9660427" y="6077817"/>
            <a:chExt cx="1961649" cy="307777"/>
          </a:xfrm>
        </p:grpSpPr>
        <p:sp>
          <p:nvSpPr>
            <p:cNvPr id="1037" name="箭头: V 形 1036">
              <a:extLst>
                <a:ext uri="{FF2B5EF4-FFF2-40B4-BE49-F238E27FC236}">
                  <a16:creationId xmlns:a16="http://schemas.microsoft.com/office/drawing/2014/main" id="{4462A4EE-D282-BDF5-D120-94F7C692C2D2}"/>
                </a:ext>
              </a:extLst>
            </p:cNvPr>
            <p:cNvSpPr/>
            <p:nvPr/>
          </p:nvSpPr>
          <p:spPr>
            <a:xfrm>
              <a:off x="9660427" y="6133414"/>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8" name="箭头: V 形 1037">
              <a:extLst>
                <a:ext uri="{FF2B5EF4-FFF2-40B4-BE49-F238E27FC236}">
                  <a16:creationId xmlns:a16="http://schemas.microsoft.com/office/drawing/2014/main" id="{A9966434-DF83-AA70-73BD-15A14A67358B}"/>
                </a:ext>
              </a:extLst>
            </p:cNvPr>
            <p:cNvSpPr/>
            <p:nvPr/>
          </p:nvSpPr>
          <p:spPr>
            <a:xfrm rot="10800000">
              <a:off x="11474508" y="6133414"/>
              <a:ext cx="147568" cy="207170"/>
            </a:xfrm>
            <a:prstGeom prst="chevron">
              <a:avLst>
                <a:gd name="adj" fmla="val 6513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9" name="文本框 1038">
              <a:extLst>
                <a:ext uri="{FF2B5EF4-FFF2-40B4-BE49-F238E27FC236}">
                  <a16:creationId xmlns:a16="http://schemas.microsoft.com/office/drawing/2014/main" id="{3A9681A8-2C46-CE62-99C5-2FDF1D4F54FF}"/>
                </a:ext>
              </a:extLst>
            </p:cNvPr>
            <p:cNvSpPr txBox="1"/>
            <p:nvPr/>
          </p:nvSpPr>
          <p:spPr>
            <a:xfrm>
              <a:off x="9853555" y="6077817"/>
              <a:ext cx="1620957" cy="307777"/>
            </a:xfrm>
            <a:prstGeom prst="rect">
              <a:avLst/>
            </a:prstGeom>
            <a:noFill/>
          </p:spPr>
          <p:txBody>
            <a:bodyPr wrap="none" rtlCol="0">
              <a:spAutoFit/>
            </a:bodyPr>
            <a:lstStyle/>
            <a:p>
              <a:pPr algn="ctr"/>
              <a:r>
                <a:rPr lang="zh-CN" altLang="en-US" sz="1400" b="1"/>
                <a:t>爆震唯象模型有效</a:t>
              </a:r>
            </a:p>
          </p:txBody>
        </p:sp>
      </p:grpSp>
      <p:cxnSp>
        <p:nvCxnSpPr>
          <p:cNvPr id="1041" name="直接连接符 1040">
            <a:extLst>
              <a:ext uri="{FF2B5EF4-FFF2-40B4-BE49-F238E27FC236}">
                <a16:creationId xmlns:a16="http://schemas.microsoft.com/office/drawing/2014/main" id="{D40C18FC-68D1-6E3F-029C-CC48220E39CE}"/>
              </a:ext>
            </a:extLst>
          </p:cNvPr>
          <p:cNvCxnSpPr>
            <a:cxnSpLocks/>
          </p:cNvCxnSpPr>
          <p:nvPr/>
        </p:nvCxnSpPr>
        <p:spPr>
          <a:xfrm>
            <a:off x="8382263" y="2509388"/>
            <a:ext cx="7357" cy="3879389"/>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044" name="图片 1043">
            <a:extLst>
              <a:ext uri="{FF2B5EF4-FFF2-40B4-BE49-F238E27FC236}">
                <a16:creationId xmlns:a16="http://schemas.microsoft.com/office/drawing/2014/main" id="{E7C833AB-C33C-2CB7-78A3-A7B1F055CE9A}"/>
              </a:ext>
            </a:extLst>
          </p:cNvPr>
          <p:cNvPicPr>
            <a:picLocks noChangeAspect="1"/>
          </p:cNvPicPr>
          <p:nvPr/>
        </p:nvPicPr>
        <p:blipFill>
          <a:blip r:embed="rId8"/>
          <a:stretch>
            <a:fillRect/>
          </a:stretch>
        </p:blipFill>
        <p:spPr>
          <a:xfrm rot="5400000">
            <a:off x="1670437" y="3213108"/>
            <a:ext cx="396854" cy="414712"/>
          </a:xfrm>
          <a:prstGeom prst="rect">
            <a:avLst/>
          </a:prstGeom>
        </p:spPr>
      </p:pic>
      <p:pic>
        <p:nvPicPr>
          <p:cNvPr id="1045" name="图片 1044">
            <a:extLst>
              <a:ext uri="{FF2B5EF4-FFF2-40B4-BE49-F238E27FC236}">
                <a16:creationId xmlns:a16="http://schemas.microsoft.com/office/drawing/2014/main" id="{793F32C8-E111-9C52-F449-20B70C982788}"/>
              </a:ext>
            </a:extLst>
          </p:cNvPr>
          <p:cNvPicPr>
            <a:picLocks noChangeAspect="1"/>
          </p:cNvPicPr>
          <p:nvPr/>
        </p:nvPicPr>
        <p:blipFill>
          <a:blip r:embed="rId8"/>
          <a:stretch>
            <a:fillRect/>
          </a:stretch>
        </p:blipFill>
        <p:spPr>
          <a:xfrm rot="5400000">
            <a:off x="1666181" y="3891214"/>
            <a:ext cx="396854" cy="414712"/>
          </a:xfrm>
          <a:prstGeom prst="rect">
            <a:avLst/>
          </a:prstGeom>
        </p:spPr>
      </p:pic>
      <p:cxnSp>
        <p:nvCxnSpPr>
          <p:cNvPr id="4" name="直接连接符 3">
            <a:extLst>
              <a:ext uri="{FF2B5EF4-FFF2-40B4-BE49-F238E27FC236}">
                <a16:creationId xmlns:a16="http://schemas.microsoft.com/office/drawing/2014/main" id="{E17B508A-CDEE-D254-BB0B-A82FCF8A7739}"/>
              </a:ext>
            </a:extLst>
          </p:cNvPr>
          <p:cNvCxnSpPr>
            <a:cxnSpLocks/>
          </p:cNvCxnSpPr>
          <p:nvPr/>
        </p:nvCxnSpPr>
        <p:spPr>
          <a:xfrm flipV="1">
            <a:off x="8416588" y="5325684"/>
            <a:ext cx="3596590"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123395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8C2AB-0B6B-E23A-FC7C-2C92C56FEBB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FE73D24-D0E0-6DF6-D9AD-8CB826D45D31}"/>
              </a:ext>
            </a:extLst>
          </p:cNvPr>
          <p:cNvSpPr>
            <a:spLocks noGrp="1"/>
          </p:cNvSpPr>
          <p:nvPr>
            <p:ph type="title"/>
          </p:nvPr>
        </p:nvSpPr>
        <p:spPr/>
        <p:txBody>
          <a:bodyPr/>
          <a:lstStyle/>
          <a:p>
            <a:r>
              <a:rPr lang="zh-CN" altLang="en-US"/>
              <a:t>目录</a:t>
            </a:r>
            <a:endParaRPr lang="zh-CN" altLang="en-US" dirty="0"/>
          </a:p>
        </p:txBody>
      </p:sp>
      <p:grpSp>
        <p:nvGrpSpPr>
          <p:cNvPr id="5" name="组合 4">
            <a:extLst>
              <a:ext uri="{FF2B5EF4-FFF2-40B4-BE49-F238E27FC236}">
                <a16:creationId xmlns:a16="http://schemas.microsoft.com/office/drawing/2014/main" id="{C784DC2D-6B8F-6EE0-2616-B90B7E7AA14B}"/>
              </a:ext>
            </a:extLst>
          </p:cNvPr>
          <p:cNvGrpSpPr/>
          <p:nvPr/>
        </p:nvGrpSpPr>
        <p:grpSpPr>
          <a:xfrm>
            <a:off x="2897226" y="2013783"/>
            <a:ext cx="6967210" cy="2830434"/>
            <a:chOff x="2767917" y="1781591"/>
            <a:chExt cx="17305538" cy="2830434"/>
          </a:xfrm>
        </p:grpSpPr>
        <p:sp>
          <p:nvSpPr>
            <p:cNvPr id="6" name="矩形 5">
              <a:extLst>
                <a:ext uri="{FF2B5EF4-FFF2-40B4-BE49-F238E27FC236}">
                  <a16:creationId xmlns:a16="http://schemas.microsoft.com/office/drawing/2014/main" id="{90A72695-E076-3EB9-D018-B9DFA01CEF2E}"/>
                </a:ext>
              </a:extLst>
            </p:cNvPr>
            <p:cNvSpPr/>
            <p:nvPr/>
          </p:nvSpPr>
          <p:spPr>
            <a:xfrm>
              <a:off x="2767920" y="1781591"/>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第一章：绪论</a:t>
              </a:r>
              <a:endParaRPr lang="zh-CN" altLang="en-US"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7" name="矩形 6">
              <a:extLst>
                <a:ext uri="{FF2B5EF4-FFF2-40B4-BE49-F238E27FC236}">
                  <a16:creationId xmlns:a16="http://schemas.microsoft.com/office/drawing/2014/main" id="{F56AF602-7796-2272-E1DE-A7F9387041CE}"/>
                </a:ext>
              </a:extLst>
            </p:cNvPr>
            <p:cNvSpPr/>
            <p:nvPr/>
          </p:nvSpPr>
          <p:spPr>
            <a:xfrm>
              <a:off x="2767919" y="237087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第二章：氢内燃机准维燃烧模型的构建</a:t>
              </a:r>
              <a:endParaRPr lang="zh-CN" altLang="zh-CN"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8" name="矩形 7">
              <a:extLst>
                <a:ext uri="{FF2B5EF4-FFF2-40B4-BE49-F238E27FC236}">
                  <a16:creationId xmlns:a16="http://schemas.microsoft.com/office/drawing/2014/main" id="{3A320D53-8BB2-153E-5781-6F966C66390E}"/>
                </a:ext>
              </a:extLst>
            </p:cNvPr>
            <p:cNvSpPr/>
            <p:nvPr/>
          </p:nvSpPr>
          <p:spPr>
            <a:xfrm>
              <a:off x="2767919" y="2960151"/>
              <a:ext cx="1448369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第三章：氢内燃机爆震唯象模型的构建</a:t>
              </a:r>
              <a:endParaRPr lang="zh-CN" altLang="en-US"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10" name="矩形 9">
              <a:extLst>
                <a:ext uri="{FF2B5EF4-FFF2-40B4-BE49-F238E27FC236}">
                  <a16:creationId xmlns:a16="http://schemas.microsoft.com/office/drawing/2014/main" id="{3C262F26-B9B9-64A6-BF05-DD1B596F504F}"/>
                </a:ext>
              </a:extLst>
            </p:cNvPr>
            <p:cNvSpPr/>
            <p:nvPr/>
          </p:nvSpPr>
          <p:spPr>
            <a:xfrm>
              <a:off x="2767917" y="3549431"/>
              <a:ext cx="17305538"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chemeClr val="accent1">
                      <a:lumMod val="75000"/>
                    </a:schemeClr>
                  </a:solidFill>
                  <a:latin typeface="Times New Roman" panose="02020603050405020304" pitchFamily="18" charset="0"/>
                  <a:ea typeface="微软雅黑" panose="020B0503020204020204" pitchFamily="34" charset="-122"/>
                  <a:cs typeface="+mn-ea"/>
                </a:rPr>
                <a:t>第四章：氢内燃机燃烧与爆震模型的标定与验证</a:t>
              </a:r>
              <a:endParaRPr lang="zh-CN" altLang="en-US" sz="2400" b="1" dirty="0">
                <a:solidFill>
                  <a:schemeClr val="accent1">
                    <a:lumMod val="75000"/>
                  </a:schemeClr>
                </a:solidFill>
                <a:latin typeface="Times New Roman" panose="02020603050405020304" pitchFamily="18" charset="0"/>
                <a:ea typeface="微软雅黑" panose="020B0503020204020204" pitchFamily="34" charset="-122"/>
                <a:cs typeface="+mn-ea"/>
              </a:endParaRPr>
            </a:p>
          </p:txBody>
        </p:sp>
        <p:sp>
          <p:nvSpPr>
            <p:cNvPr id="11" name="矩形 10">
              <a:extLst>
                <a:ext uri="{FF2B5EF4-FFF2-40B4-BE49-F238E27FC236}">
                  <a16:creationId xmlns:a16="http://schemas.microsoft.com/office/drawing/2014/main" id="{E7C91183-EFA6-020B-9A77-0E618E59447E}"/>
                </a:ext>
              </a:extLst>
            </p:cNvPr>
            <p:cNvSpPr/>
            <p:nvPr/>
          </p:nvSpPr>
          <p:spPr>
            <a:xfrm>
              <a:off x="2767917" y="4150360"/>
              <a:ext cx="11753623" cy="461665"/>
            </a:xfrm>
            <a:prstGeom prst="rect">
              <a:avLst/>
            </a:prstGeom>
          </p:spPr>
          <p:txBody>
            <a:bodyPr wrap="square">
              <a:spAutoFit/>
            </a:bodyPr>
            <a:lstStyle/>
            <a:p>
              <a:pPr marL="342900" indent="-342900">
                <a:buFont typeface="Wingdings" panose="05000000000000000000" pitchFamily="2" charset="2"/>
                <a:buChar char="p"/>
              </a:pPr>
              <a:r>
                <a:rPr lang="zh-CN" altLang="en-US" sz="2400" b="1">
                  <a:solidFill>
                    <a:srgbClr val="C00000"/>
                  </a:solidFill>
                  <a:latin typeface="Times New Roman" panose="02020603050405020304" pitchFamily="18" charset="0"/>
                  <a:ea typeface="微软雅黑" panose="020B0503020204020204" pitchFamily="34" charset="-122"/>
                  <a:cs typeface="+mn-ea"/>
                </a:rPr>
                <a:t>第五章：总结与展望</a:t>
              </a:r>
              <a:endParaRPr lang="zh-CN" altLang="en-US" sz="2400" b="1" dirty="0">
                <a:solidFill>
                  <a:srgbClr val="C00000"/>
                </a:solidFill>
                <a:latin typeface="Times New Roman" panose="02020603050405020304" pitchFamily="18" charset="0"/>
                <a:ea typeface="微软雅黑" panose="020B0503020204020204" pitchFamily="34" charset="-122"/>
                <a:cs typeface="+mn-ea"/>
              </a:endParaRPr>
            </a:p>
          </p:txBody>
        </p:sp>
      </p:grpSp>
    </p:spTree>
    <p:extLst>
      <p:ext uri="{BB962C8B-B14F-4D97-AF65-F5344CB8AC3E}">
        <p14:creationId xmlns:p14="http://schemas.microsoft.com/office/powerpoint/2010/main" val="699866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7A6D6-A5E8-9F97-26DD-7980A80C0122}"/>
            </a:ext>
          </a:extLst>
        </p:cNvPr>
        <p:cNvGrpSpPr/>
        <p:nvPr/>
      </p:nvGrpSpPr>
      <p:grpSpPr>
        <a:xfrm>
          <a:off x="0" y="0"/>
          <a:ext cx="0" cy="0"/>
          <a:chOff x="0" y="0"/>
          <a:chExt cx="0" cy="0"/>
        </a:xfrm>
      </p:grpSpPr>
      <p:pic>
        <p:nvPicPr>
          <p:cNvPr id="77" name="图片 76">
            <a:extLst>
              <a:ext uri="{FF2B5EF4-FFF2-40B4-BE49-F238E27FC236}">
                <a16:creationId xmlns:a16="http://schemas.microsoft.com/office/drawing/2014/main" id="{B25DEAB4-AA1D-85FE-56C8-AE45EF2192B2}"/>
              </a:ext>
            </a:extLst>
          </p:cNvPr>
          <p:cNvPicPr>
            <a:picLocks noChangeAspect="1"/>
          </p:cNvPicPr>
          <p:nvPr/>
        </p:nvPicPr>
        <p:blipFill>
          <a:blip r:embed="rId3"/>
          <a:stretch>
            <a:fillRect/>
          </a:stretch>
        </p:blipFill>
        <p:spPr>
          <a:xfrm>
            <a:off x="5127989" y="5578250"/>
            <a:ext cx="1605469" cy="404394"/>
          </a:xfrm>
          <a:prstGeom prst="rect">
            <a:avLst/>
          </a:prstGeom>
        </p:spPr>
      </p:pic>
      <p:sp>
        <p:nvSpPr>
          <p:cNvPr id="3" name="标题 2">
            <a:extLst>
              <a:ext uri="{FF2B5EF4-FFF2-40B4-BE49-F238E27FC236}">
                <a16:creationId xmlns:a16="http://schemas.microsoft.com/office/drawing/2014/main" id="{6B6CA9AF-63E2-D6FC-CE06-E31D68CCD4AA}"/>
              </a:ext>
            </a:extLst>
          </p:cNvPr>
          <p:cNvSpPr>
            <a:spLocks noGrp="1"/>
          </p:cNvSpPr>
          <p:nvPr>
            <p:ph type="title"/>
          </p:nvPr>
        </p:nvSpPr>
        <p:spPr/>
        <p:txBody>
          <a:bodyPr/>
          <a:lstStyle/>
          <a:p>
            <a:r>
              <a:rPr lang="zh-CN" altLang="en-US"/>
              <a:t>第五章：总结与展望</a:t>
            </a:r>
          </a:p>
        </p:txBody>
      </p:sp>
      <p:sp>
        <p:nvSpPr>
          <p:cNvPr id="2" name="文本框 1">
            <a:extLst>
              <a:ext uri="{FF2B5EF4-FFF2-40B4-BE49-F238E27FC236}">
                <a16:creationId xmlns:a16="http://schemas.microsoft.com/office/drawing/2014/main" id="{C4AED30D-7151-F0A4-73BE-F8D25A0A9CD8}"/>
              </a:ext>
            </a:extLst>
          </p:cNvPr>
          <p:cNvSpPr txBox="1"/>
          <p:nvPr/>
        </p:nvSpPr>
        <p:spPr>
          <a:xfrm>
            <a:off x="398451" y="1746878"/>
            <a:ext cx="4576894" cy="338554"/>
          </a:xfrm>
          <a:prstGeom prst="rect">
            <a:avLst/>
          </a:prstGeom>
          <a:noFill/>
        </p:spPr>
        <p:txBody>
          <a:bodyPr wrap="none" rtlCol="0">
            <a:spAutoFit/>
          </a:bodyPr>
          <a:lstStyle/>
          <a:p>
            <a:pPr marL="285750" indent="-285750">
              <a:buFont typeface="Wingdings" panose="05000000000000000000" pitchFamily="2" charset="2"/>
              <a:buChar char="ü"/>
            </a:pPr>
            <a:r>
              <a:rPr lang="zh-CN" altLang="en-US" sz="1600" b="1"/>
              <a:t>准维燃烧模型拟合效果较好，但仍有明显偏差</a:t>
            </a:r>
            <a:endParaRPr lang="en-US" altLang="zh-CN" sz="1600" b="1"/>
          </a:p>
        </p:txBody>
      </p:sp>
      <p:sp>
        <p:nvSpPr>
          <p:cNvPr id="4" name="文本框 3">
            <a:extLst>
              <a:ext uri="{FF2B5EF4-FFF2-40B4-BE49-F238E27FC236}">
                <a16:creationId xmlns:a16="http://schemas.microsoft.com/office/drawing/2014/main" id="{EF615290-528E-5C6C-6995-12C3EBC761DE}"/>
              </a:ext>
            </a:extLst>
          </p:cNvPr>
          <p:cNvSpPr txBox="1"/>
          <p:nvPr/>
        </p:nvSpPr>
        <p:spPr>
          <a:xfrm>
            <a:off x="161403" y="1099563"/>
            <a:ext cx="1858201" cy="369332"/>
          </a:xfrm>
          <a:prstGeom prst="rect">
            <a:avLst/>
          </a:prstGeom>
          <a:noFill/>
        </p:spPr>
        <p:txBody>
          <a:bodyPr wrap="none" rtlCol="0">
            <a:spAutoFit/>
          </a:bodyPr>
          <a:lstStyle/>
          <a:p>
            <a:pPr marL="285750" indent="-285750">
              <a:buClr>
                <a:srgbClr val="2F5597"/>
              </a:buClr>
              <a:buFont typeface="Wingdings" panose="05000000000000000000" pitchFamily="2" charset="2"/>
              <a:buChar char="p"/>
            </a:pPr>
            <a:r>
              <a:rPr lang="zh-CN" altLang="en-US" b="1">
                <a:solidFill>
                  <a:srgbClr val="2F5597"/>
                </a:solidFill>
              </a:rPr>
              <a:t>模型效果总结</a:t>
            </a:r>
            <a:endParaRPr lang="en-US" altLang="zh-CN" b="1">
              <a:solidFill>
                <a:srgbClr val="2F5597"/>
              </a:solidFill>
            </a:endParaRPr>
          </a:p>
        </p:txBody>
      </p:sp>
      <p:sp>
        <p:nvSpPr>
          <p:cNvPr id="5" name="文本框 4">
            <a:extLst>
              <a:ext uri="{FF2B5EF4-FFF2-40B4-BE49-F238E27FC236}">
                <a16:creationId xmlns:a16="http://schemas.microsoft.com/office/drawing/2014/main" id="{4BC0B30F-1855-3DA0-FF2D-A8B62A7CA636}"/>
              </a:ext>
            </a:extLst>
          </p:cNvPr>
          <p:cNvSpPr txBox="1"/>
          <p:nvPr/>
        </p:nvSpPr>
        <p:spPr>
          <a:xfrm>
            <a:off x="398451" y="2073616"/>
            <a:ext cx="4987263" cy="338554"/>
          </a:xfrm>
          <a:prstGeom prst="rect">
            <a:avLst/>
          </a:prstGeom>
          <a:noFill/>
        </p:spPr>
        <p:txBody>
          <a:bodyPr wrap="none" rtlCol="0">
            <a:spAutoFit/>
          </a:bodyPr>
          <a:lstStyle/>
          <a:p>
            <a:pPr marL="285750" indent="-285750">
              <a:buFont typeface="Wingdings" panose="05000000000000000000" pitchFamily="2" charset="2"/>
              <a:buChar char="ü"/>
            </a:pPr>
            <a:r>
              <a:rPr lang="zh-CN" altLang="en-US" sz="1600" b="1"/>
              <a:t>唯象爆震模型结果具有一定的有效性，但精度偏低</a:t>
            </a:r>
            <a:endParaRPr lang="en-US" altLang="zh-CN" sz="1600" b="1"/>
          </a:p>
        </p:txBody>
      </p:sp>
      <p:pic>
        <p:nvPicPr>
          <p:cNvPr id="6" name="图片 5">
            <a:extLst>
              <a:ext uri="{FF2B5EF4-FFF2-40B4-BE49-F238E27FC236}">
                <a16:creationId xmlns:a16="http://schemas.microsoft.com/office/drawing/2014/main" id="{594E1C6C-6F24-9CFE-0763-A5DF7A533846}"/>
              </a:ext>
            </a:extLst>
          </p:cNvPr>
          <p:cNvPicPr>
            <a:picLocks noChangeAspect="1"/>
          </p:cNvPicPr>
          <p:nvPr/>
        </p:nvPicPr>
        <p:blipFill>
          <a:blip r:embed="rId4"/>
          <a:stretch>
            <a:fillRect/>
          </a:stretch>
        </p:blipFill>
        <p:spPr>
          <a:xfrm>
            <a:off x="5653953" y="1659626"/>
            <a:ext cx="396854" cy="414712"/>
          </a:xfrm>
          <a:prstGeom prst="rect">
            <a:avLst/>
          </a:prstGeom>
        </p:spPr>
      </p:pic>
      <p:sp>
        <p:nvSpPr>
          <p:cNvPr id="7" name="文本框 6">
            <a:extLst>
              <a:ext uri="{FF2B5EF4-FFF2-40B4-BE49-F238E27FC236}">
                <a16:creationId xmlns:a16="http://schemas.microsoft.com/office/drawing/2014/main" id="{EBE07469-E50C-2DFF-8755-A45405AC7BC0}"/>
              </a:ext>
            </a:extLst>
          </p:cNvPr>
          <p:cNvSpPr txBox="1"/>
          <p:nvPr/>
        </p:nvSpPr>
        <p:spPr>
          <a:xfrm>
            <a:off x="6196443" y="1099563"/>
            <a:ext cx="2550698" cy="369332"/>
          </a:xfrm>
          <a:prstGeom prst="rect">
            <a:avLst/>
          </a:prstGeom>
          <a:noFill/>
        </p:spPr>
        <p:txBody>
          <a:bodyPr wrap="none" rtlCol="0">
            <a:spAutoFit/>
          </a:bodyPr>
          <a:lstStyle/>
          <a:p>
            <a:pPr marL="285750" indent="-285750">
              <a:buClr>
                <a:srgbClr val="2F5597"/>
              </a:buClr>
              <a:buFont typeface="Wingdings" panose="05000000000000000000" pitchFamily="2" charset="2"/>
              <a:buChar char="p"/>
            </a:pPr>
            <a:r>
              <a:rPr lang="zh-CN" altLang="en-US" b="1">
                <a:solidFill>
                  <a:srgbClr val="2F5597"/>
                </a:solidFill>
              </a:rPr>
              <a:t>模型精度可优化方案</a:t>
            </a:r>
            <a:endParaRPr lang="en-US" altLang="zh-CN" b="1">
              <a:solidFill>
                <a:srgbClr val="2F5597"/>
              </a:solidFill>
            </a:endParaRPr>
          </a:p>
        </p:txBody>
      </p:sp>
      <p:sp>
        <p:nvSpPr>
          <p:cNvPr id="8" name="文本框 7">
            <a:extLst>
              <a:ext uri="{FF2B5EF4-FFF2-40B4-BE49-F238E27FC236}">
                <a16:creationId xmlns:a16="http://schemas.microsoft.com/office/drawing/2014/main" id="{A686809B-E5ED-B67F-21F0-FC149BDC6EA5}"/>
              </a:ext>
            </a:extLst>
          </p:cNvPr>
          <p:cNvSpPr txBox="1"/>
          <p:nvPr/>
        </p:nvSpPr>
        <p:spPr>
          <a:xfrm>
            <a:off x="6196443" y="1536018"/>
            <a:ext cx="2159566"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t>热力学物性参数计算</a:t>
            </a:r>
            <a:endParaRPr lang="en-US" altLang="zh-CN" sz="1400" b="1"/>
          </a:p>
        </p:txBody>
      </p:sp>
      <p:sp>
        <p:nvSpPr>
          <p:cNvPr id="9" name="文本框 8">
            <a:extLst>
              <a:ext uri="{FF2B5EF4-FFF2-40B4-BE49-F238E27FC236}">
                <a16:creationId xmlns:a16="http://schemas.microsoft.com/office/drawing/2014/main" id="{CAEC0951-5FFF-E609-C77D-5FA7B2CF3B92}"/>
              </a:ext>
            </a:extLst>
          </p:cNvPr>
          <p:cNvSpPr txBox="1"/>
          <p:nvPr/>
        </p:nvSpPr>
        <p:spPr>
          <a:xfrm>
            <a:off x="6196443" y="1941642"/>
            <a:ext cx="2089033"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t>机器学习超参数优化</a:t>
            </a:r>
            <a:endParaRPr lang="en-US" altLang="zh-CN" sz="1400" b="1"/>
          </a:p>
        </p:txBody>
      </p:sp>
      <p:sp>
        <p:nvSpPr>
          <p:cNvPr id="10" name="文本框 9">
            <a:extLst>
              <a:ext uri="{FF2B5EF4-FFF2-40B4-BE49-F238E27FC236}">
                <a16:creationId xmlns:a16="http://schemas.microsoft.com/office/drawing/2014/main" id="{07AAF5D7-F6D4-890E-C225-E3A40F215F65}"/>
              </a:ext>
            </a:extLst>
          </p:cNvPr>
          <p:cNvSpPr txBox="1"/>
          <p:nvPr/>
        </p:nvSpPr>
        <p:spPr>
          <a:xfrm>
            <a:off x="10342958" y="1540796"/>
            <a:ext cx="1550424"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t>多点温度标定</a:t>
            </a:r>
            <a:endParaRPr lang="en-US" altLang="zh-CN" sz="1400" b="1"/>
          </a:p>
        </p:txBody>
      </p:sp>
      <p:sp>
        <p:nvSpPr>
          <p:cNvPr id="11" name="文本框 10">
            <a:extLst>
              <a:ext uri="{FF2B5EF4-FFF2-40B4-BE49-F238E27FC236}">
                <a16:creationId xmlns:a16="http://schemas.microsoft.com/office/drawing/2014/main" id="{AFE30CDE-2B29-B07A-A89F-268AEE5C4BE2}"/>
              </a:ext>
            </a:extLst>
          </p:cNvPr>
          <p:cNvSpPr txBox="1"/>
          <p:nvPr/>
        </p:nvSpPr>
        <p:spPr>
          <a:xfrm>
            <a:off x="8183392" y="1941642"/>
            <a:ext cx="1729961"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t>爆震表征物理量</a:t>
            </a:r>
            <a:endParaRPr lang="en-US" altLang="zh-CN" sz="1400" b="1"/>
          </a:p>
        </p:txBody>
      </p:sp>
      <p:sp>
        <p:nvSpPr>
          <p:cNvPr id="12" name="文本框 11">
            <a:extLst>
              <a:ext uri="{FF2B5EF4-FFF2-40B4-BE49-F238E27FC236}">
                <a16:creationId xmlns:a16="http://schemas.microsoft.com/office/drawing/2014/main" id="{EAEE1FEA-49FC-08E0-970E-3BF8540836A7}"/>
              </a:ext>
            </a:extLst>
          </p:cNvPr>
          <p:cNvSpPr txBox="1"/>
          <p:nvPr/>
        </p:nvSpPr>
        <p:spPr>
          <a:xfrm>
            <a:off x="8183392" y="1553332"/>
            <a:ext cx="2268570"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t>爆震工况准维燃烧标定</a:t>
            </a:r>
            <a:endParaRPr lang="en-US" altLang="zh-CN" sz="1400" b="1"/>
          </a:p>
        </p:txBody>
      </p:sp>
      <p:sp>
        <p:nvSpPr>
          <p:cNvPr id="13" name="文本框 12">
            <a:extLst>
              <a:ext uri="{FF2B5EF4-FFF2-40B4-BE49-F238E27FC236}">
                <a16:creationId xmlns:a16="http://schemas.microsoft.com/office/drawing/2014/main" id="{ABFCDC25-523E-77F2-A6DB-7D21BCDADCA1}"/>
              </a:ext>
            </a:extLst>
          </p:cNvPr>
          <p:cNvSpPr txBox="1"/>
          <p:nvPr/>
        </p:nvSpPr>
        <p:spPr>
          <a:xfrm>
            <a:off x="10349878" y="1941642"/>
            <a:ext cx="1550424" cy="307777"/>
          </a:xfrm>
          <a:prstGeom prst="rect">
            <a:avLst/>
          </a:prstGeom>
          <a:noFill/>
        </p:spPr>
        <p:txBody>
          <a:bodyPr wrap="none" rtlCol="0">
            <a:spAutoFit/>
          </a:bodyPr>
          <a:lstStyle/>
          <a:p>
            <a:pPr marL="285750" indent="-285750">
              <a:buClr>
                <a:srgbClr val="C00000"/>
              </a:buClr>
              <a:buFont typeface="Wingdings" panose="05000000000000000000" pitchFamily="2" charset="2"/>
              <a:buChar char="Ø"/>
            </a:pPr>
            <a:r>
              <a:rPr lang="zh-CN" altLang="en-US" sz="1400" b="1"/>
              <a:t>标定方法优化</a:t>
            </a:r>
            <a:endParaRPr lang="en-US" altLang="zh-CN" sz="1400" b="1"/>
          </a:p>
        </p:txBody>
      </p:sp>
      <p:cxnSp>
        <p:nvCxnSpPr>
          <p:cNvPr id="14" name="直接连接符 13">
            <a:extLst>
              <a:ext uri="{FF2B5EF4-FFF2-40B4-BE49-F238E27FC236}">
                <a16:creationId xmlns:a16="http://schemas.microsoft.com/office/drawing/2014/main" id="{240FACB1-7475-8C20-EB81-9721A287D4C3}"/>
              </a:ext>
            </a:extLst>
          </p:cNvPr>
          <p:cNvCxnSpPr>
            <a:cxnSpLocks/>
          </p:cNvCxnSpPr>
          <p:nvPr/>
        </p:nvCxnSpPr>
        <p:spPr>
          <a:xfrm>
            <a:off x="161403" y="2423392"/>
            <a:ext cx="11879530"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文本框 15">
            <a:extLst>
              <a:ext uri="{FF2B5EF4-FFF2-40B4-BE49-F238E27FC236}">
                <a16:creationId xmlns:a16="http://schemas.microsoft.com/office/drawing/2014/main" id="{82FC0A4A-D5D5-B6CF-DBA7-A93E2AFA8BE5}"/>
              </a:ext>
            </a:extLst>
          </p:cNvPr>
          <p:cNvSpPr txBox="1"/>
          <p:nvPr/>
        </p:nvSpPr>
        <p:spPr>
          <a:xfrm>
            <a:off x="161403" y="2553286"/>
            <a:ext cx="2159566" cy="307777"/>
          </a:xfrm>
          <a:prstGeom prst="rect">
            <a:avLst/>
          </a:prstGeom>
          <a:noFill/>
        </p:spPr>
        <p:txBody>
          <a:bodyPr wrap="none" rtlCol="0">
            <a:spAutoFit/>
          </a:bodyPr>
          <a:lstStyle/>
          <a:p>
            <a:pPr marL="285750" indent="-285750">
              <a:buClr>
                <a:srgbClr val="2F5597"/>
              </a:buClr>
              <a:buFont typeface="Wingdings" panose="05000000000000000000" pitchFamily="2" charset="2"/>
              <a:buChar char="u"/>
            </a:pPr>
            <a:r>
              <a:rPr lang="zh-CN" altLang="en-US" sz="1400" b="1"/>
              <a:t>热力学物性参数计算</a:t>
            </a:r>
            <a:endParaRPr lang="en-US" altLang="zh-CN" sz="1400" b="1"/>
          </a:p>
        </p:txBody>
      </p:sp>
      <p:sp>
        <p:nvSpPr>
          <p:cNvPr id="17" name="矩形: 圆角 16">
            <a:extLst>
              <a:ext uri="{FF2B5EF4-FFF2-40B4-BE49-F238E27FC236}">
                <a16:creationId xmlns:a16="http://schemas.microsoft.com/office/drawing/2014/main" id="{2EE597C0-EE4A-5221-A97E-7672674D33C2}"/>
              </a:ext>
            </a:extLst>
          </p:cNvPr>
          <p:cNvSpPr/>
          <p:nvPr/>
        </p:nvSpPr>
        <p:spPr>
          <a:xfrm>
            <a:off x="411480" y="2905479"/>
            <a:ext cx="304800" cy="10375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目前模型</a:t>
            </a:r>
          </a:p>
        </p:txBody>
      </p:sp>
      <p:pic>
        <p:nvPicPr>
          <p:cNvPr id="18" name="图片 17">
            <a:extLst>
              <a:ext uri="{FF2B5EF4-FFF2-40B4-BE49-F238E27FC236}">
                <a16:creationId xmlns:a16="http://schemas.microsoft.com/office/drawing/2014/main" id="{A666B2C7-5B3C-0CD2-F082-ABB291A3CFBE}"/>
              </a:ext>
            </a:extLst>
          </p:cNvPr>
          <p:cNvPicPr>
            <a:picLocks noChangeAspect="1"/>
          </p:cNvPicPr>
          <p:nvPr/>
        </p:nvPicPr>
        <p:blipFill>
          <a:blip r:embed="rId4"/>
          <a:stretch>
            <a:fillRect/>
          </a:stretch>
        </p:blipFill>
        <p:spPr>
          <a:xfrm>
            <a:off x="785703" y="3131278"/>
            <a:ext cx="304800" cy="483681"/>
          </a:xfrm>
          <a:prstGeom prst="rect">
            <a:avLst/>
          </a:prstGeom>
        </p:spPr>
      </p:pic>
      <p:grpSp>
        <p:nvGrpSpPr>
          <p:cNvPr id="22" name="组合 21">
            <a:extLst>
              <a:ext uri="{FF2B5EF4-FFF2-40B4-BE49-F238E27FC236}">
                <a16:creationId xmlns:a16="http://schemas.microsoft.com/office/drawing/2014/main" id="{5155B3FE-1385-AAFA-D8A2-0F7BC85E73A5}"/>
              </a:ext>
            </a:extLst>
          </p:cNvPr>
          <p:cNvGrpSpPr/>
          <p:nvPr/>
        </p:nvGrpSpPr>
        <p:grpSpPr>
          <a:xfrm>
            <a:off x="1159926" y="3003757"/>
            <a:ext cx="1293680" cy="884234"/>
            <a:chOff x="1426103" y="2965180"/>
            <a:chExt cx="1293680" cy="884234"/>
          </a:xfrm>
        </p:grpSpPr>
        <p:sp>
          <p:nvSpPr>
            <p:cNvPr id="19" name="矩形: 圆角 18">
              <a:extLst>
                <a:ext uri="{FF2B5EF4-FFF2-40B4-BE49-F238E27FC236}">
                  <a16:creationId xmlns:a16="http://schemas.microsoft.com/office/drawing/2014/main" id="{EBE19355-B8B5-84CA-3727-84336D367FFC}"/>
                </a:ext>
              </a:extLst>
            </p:cNvPr>
            <p:cNvSpPr/>
            <p:nvPr/>
          </p:nvSpPr>
          <p:spPr>
            <a:xfrm>
              <a:off x="1547737" y="2965180"/>
              <a:ext cx="1050413" cy="3077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经验公式</a:t>
              </a:r>
            </a:p>
          </p:txBody>
        </p:sp>
        <p:sp>
          <p:nvSpPr>
            <p:cNvPr id="20" name="矩形: 圆角 19">
              <a:extLst>
                <a:ext uri="{FF2B5EF4-FFF2-40B4-BE49-F238E27FC236}">
                  <a16:creationId xmlns:a16="http://schemas.microsoft.com/office/drawing/2014/main" id="{92998FD9-AC9F-E2EA-B3BE-E43678EA988C}"/>
                </a:ext>
              </a:extLst>
            </p:cNvPr>
            <p:cNvSpPr/>
            <p:nvPr/>
          </p:nvSpPr>
          <p:spPr>
            <a:xfrm>
              <a:off x="1426103" y="3541637"/>
              <a:ext cx="1293680" cy="3077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理想气体方程</a:t>
              </a:r>
            </a:p>
          </p:txBody>
        </p:sp>
        <p:sp>
          <p:nvSpPr>
            <p:cNvPr id="21" name="文本框 20">
              <a:extLst>
                <a:ext uri="{FF2B5EF4-FFF2-40B4-BE49-F238E27FC236}">
                  <a16:creationId xmlns:a16="http://schemas.microsoft.com/office/drawing/2014/main" id="{D5183AA3-345D-32C4-4ED2-5F146B894FB1}"/>
                </a:ext>
              </a:extLst>
            </p:cNvPr>
            <p:cNvSpPr txBox="1"/>
            <p:nvPr/>
          </p:nvSpPr>
          <p:spPr>
            <a:xfrm>
              <a:off x="1903666" y="3222631"/>
              <a:ext cx="338554" cy="369332"/>
            </a:xfrm>
            <a:prstGeom prst="rect">
              <a:avLst/>
            </a:prstGeom>
            <a:noFill/>
          </p:spPr>
          <p:txBody>
            <a:bodyPr wrap="none" rtlCol="0">
              <a:spAutoFit/>
            </a:bodyPr>
            <a:lstStyle/>
            <a:p>
              <a:r>
                <a:rPr lang="en-US" altLang="zh-CN"/>
                <a:t>+</a:t>
              </a:r>
              <a:endParaRPr lang="zh-CN" altLang="en-US"/>
            </a:p>
          </p:txBody>
        </p:sp>
      </p:grpSp>
      <p:grpSp>
        <p:nvGrpSpPr>
          <p:cNvPr id="24" name="组合 23">
            <a:extLst>
              <a:ext uri="{FF2B5EF4-FFF2-40B4-BE49-F238E27FC236}">
                <a16:creationId xmlns:a16="http://schemas.microsoft.com/office/drawing/2014/main" id="{C209EF65-656F-29E5-E68B-20E15D0192A9}"/>
              </a:ext>
            </a:extLst>
          </p:cNvPr>
          <p:cNvGrpSpPr/>
          <p:nvPr/>
        </p:nvGrpSpPr>
        <p:grpSpPr>
          <a:xfrm>
            <a:off x="2642123" y="2979803"/>
            <a:ext cx="1458553" cy="922593"/>
            <a:chOff x="1378939" y="2965180"/>
            <a:chExt cx="1458553" cy="922593"/>
          </a:xfrm>
        </p:grpSpPr>
        <p:sp>
          <p:nvSpPr>
            <p:cNvPr id="25" name="矩形: 圆角 24">
              <a:extLst>
                <a:ext uri="{FF2B5EF4-FFF2-40B4-BE49-F238E27FC236}">
                  <a16:creationId xmlns:a16="http://schemas.microsoft.com/office/drawing/2014/main" id="{9903E2F9-622B-E1D8-772F-D796DBEA03CA}"/>
                </a:ext>
              </a:extLst>
            </p:cNvPr>
            <p:cNvSpPr/>
            <p:nvPr/>
          </p:nvSpPr>
          <p:spPr>
            <a:xfrm>
              <a:off x="1426103" y="2965180"/>
              <a:ext cx="1293680" cy="307777"/>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状态修正公式</a:t>
              </a:r>
            </a:p>
          </p:txBody>
        </p:sp>
        <p:sp>
          <p:nvSpPr>
            <p:cNvPr id="26" name="矩形: 圆角 25">
              <a:extLst>
                <a:ext uri="{FF2B5EF4-FFF2-40B4-BE49-F238E27FC236}">
                  <a16:creationId xmlns:a16="http://schemas.microsoft.com/office/drawing/2014/main" id="{20CF0233-CA52-F5CB-70D2-BE13C128766F}"/>
                </a:ext>
              </a:extLst>
            </p:cNvPr>
            <p:cNvSpPr/>
            <p:nvPr/>
          </p:nvSpPr>
          <p:spPr>
            <a:xfrm>
              <a:off x="1378939" y="3579996"/>
              <a:ext cx="1458553" cy="307777"/>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物理机理公式</a:t>
              </a:r>
              <a:r>
                <a:rPr lang="en-US" altLang="zh-CN" sz="1400" b="1" baseline="30000">
                  <a:solidFill>
                    <a:schemeClr val="tx1"/>
                  </a:solidFill>
                </a:rPr>
                <a:t>[21]</a:t>
              </a:r>
              <a:endParaRPr lang="zh-CN" altLang="en-US" sz="1400" b="1" baseline="30000">
                <a:solidFill>
                  <a:schemeClr val="tx1"/>
                </a:solidFill>
              </a:endParaRPr>
            </a:p>
          </p:txBody>
        </p:sp>
        <p:sp>
          <p:nvSpPr>
            <p:cNvPr id="27" name="文本框 26">
              <a:extLst>
                <a:ext uri="{FF2B5EF4-FFF2-40B4-BE49-F238E27FC236}">
                  <a16:creationId xmlns:a16="http://schemas.microsoft.com/office/drawing/2014/main" id="{ECD04FD6-C7EA-95EB-DE42-3B7C731CBFFA}"/>
                </a:ext>
              </a:extLst>
            </p:cNvPr>
            <p:cNvSpPr txBox="1"/>
            <p:nvPr/>
          </p:nvSpPr>
          <p:spPr>
            <a:xfrm>
              <a:off x="1903666" y="3222631"/>
              <a:ext cx="338554" cy="369332"/>
            </a:xfrm>
            <a:prstGeom prst="rect">
              <a:avLst/>
            </a:prstGeom>
            <a:noFill/>
          </p:spPr>
          <p:txBody>
            <a:bodyPr wrap="none" rtlCol="0">
              <a:spAutoFit/>
            </a:bodyPr>
            <a:lstStyle/>
            <a:p>
              <a:r>
                <a:rPr lang="en-US" altLang="zh-CN"/>
                <a:t>+</a:t>
              </a:r>
              <a:endParaRPr lang="zh-CN" altLang="en-US"/>
            </a:p>
          </p:txBody>
        </p:sp>
      </p:grpSp>
      <p:cxnSp>
        <p:nvCxnSpPr>
          <p:cNvPr id="29" name="直接连接符 28">
            <a:extLst>
              <a:ext uri="{FF2B5EF4-FFF2-40B4-BE49-F238E27FC236}">
                <a16:creationId xmlns:a16="http://schemas.microsoft.com/office/drawing/2014/main" id="{BED7CAB8-725E-1468-BE15-808872CCC3ED}"/>
              </a:ext>
            </a:extLst>
          </p:cNvPr>
          <p:cNvCxnSpPr>
            <a:cxnSpLocks/>
          </p:cNvCxnSpPr>
          <p:nvPr/>
        </p:nvCxnSpPr>
        <p:spPr>
          <a:xfrm flipH="1">
            <a:off x="2491729" y="3003757"/>
            <a:ext cx="78466" cy="884234"/>
          </a:xfrm>
          <a:prstGeom prst="line">
            <a:avLst/>
          </a:prstGeom>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9F6F48C6-0AC2-7FE0-0724-A6762EC26CD4}"/>
              </a:ext>
            </a:extLst>
          </p:cNvPr>
          <p:cNvSpPr txBox="1"/>
          <p:nvPr/>
        </p:nvSpPr>
        <p:spPr>
          <a:xfrm>
            <a:off x="4260963" y="2597615"/>
            <a:ext cx="2089033" cy="307777"/>
          </a:xfrm>
          <a:prstGeom prst="rect">
            <a:avLst/>
          </a:prstGeom>
          <a:noFill/>
        </p:spPr>
        <p:txBody>
          <a:bodyPr wrap="none" rtlCol="0">
            <a:spAutoFit/>
          </a:bodyPr>
          <a:lstStyle/>
          <a:p>
            <a:pPr marL="285750" indent="-285750">
              <a:buClr>
                <a:srgbClr val="2F5597"/>
              </a:buClr>
              <a:buFont typeface="Wingdings" panose="05000000000000000000" pitchFamily="2" charset="2"/>
              <a:buChar char="u"/>
            </a:pPr>
            <a:r>
              <a:rPr lang="zh-CN" altLang="en-US" sz="1400" b="1"/>
              <a:t>机器学习超参数优化</a:t>
            </a:r>
            <a:endParaRPr lang="en-US" altLang="zh-CN" sz="1400" b="1"/>
          </a:p>
        </p:txBody>
      </p:sp>
      <p:sp>
        <p:nvSpPr>
          <p:cNvPr id="33" name="矩形: 圆角 32">
            <a:extLst>
              <a:ext uri="{FF2B5EF4-FFF2-40B4-BE49-F238E27FC236}">
                <a16:creationId xmlns:a16="http://schemas.microsoft.com/office/drawing/2014/main" id="{8CDA112D-8295-004A-E03A-609F161BFF15}"/>
              </a:ext>
            </a:extLst>
          </p:cNvPr>
          <p:cNvSpPr/>
          <p:nvPr/>
        </p:nvSpPr>
        <p:spPr>
          <a:xfrm>
            <a:off x="4612870" y="2922825"/>
            <a:ext cx="304800" cy="10375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准维模型</a:t>
            </a:r>
          </a:p>
        </p:txBody>
      </p:sp>
      <p:pic>
        <p:nvPicPr>
          <p:cNvPr id="34" name="图片 33">
            <a:extLst>
              <a:ext uri="{FF2B5EF4-FFF2-40B4-BE49-F238E27FC236}">
                <a16:creationId xmlns:a16="http://schemas.microsoft.com/office/drawing/2014/main" id="{C2A5451E-5739-FFA0-18D6-A9900AAA7908}"/>
              </a:ext>
            </a:extLst>
          </p:cNvPr>
          <p:cNvPicPr>
            <a:picLocks noChangeAspect="1"/>
          </p:cNvPicPr>
          <p:nvPr/>
        </p:nvPicPr>
        <p:blipFill>
          <a:blip r:embed="rId4"/>
          <a:stretch>
            <a:fillRect/>
          </a:stretch>
        </p:blipFill>
        <p:spPr>
          <a:xfrm>
            <a:off x="5000707" y="3182423"/>
            <a:ext cx="304800" cy="483681"/>
          </a:xfrm>
          <a:prstGeom prst="rect">
            <a:avLst/>
          </a:prstGeom>
        </p:spPr>
      </p:pic>
      <p:sp>
        <p:nvSpPr>
          <p:cNvPr id="35" name="文本框 34">
            <a:extLst>
              <a:ext uri="{FF2B5EF4-FFF2-40B4-BE49-F238E27FC236}">
                <a16:creationId xmlns:a16="http://schemas.microsoft.com/office/drawing/2014/main" id="{038B581B-6E6D-A7CE-7287-1BC305778725}"/>
              </a:ext>
            </a:extLst>
          </p:cNvPr>
          <p:cNvSpPr txBox="1"/>
          <p:nvPr/>
        </p:nvSpPr>
        <p:spPr>
          <a:xfrm>
            <a:off x="4893271" y="3003757"/>
            <a:ext cx="492443" cy="276999"/>
          </a:xfrm>
          <a:prstGeom prst="rect">
            <a:avLst/>
          </a:prstGeom>
          <a:noFill/>
        </p:spPr>
        <p:txBody>
          <a:bodyPr wrap="none" rtlCol="0">
            <a:spAutoFit/>
          </a:bodyPr>
          <a:lstStyle/>
          <a:p>
            <a:r>
              <a:rPr lang="zh-CN" altLang="en-US" sz="1200"/>
              <a:t>标定</a:t>
            </a:r>
          </a:p>
        </p:txBody>
      </p:sp>
      <p:sp>
        <p:nvSpPr>
          <p:cNvPr id="36" name="矩形: 圆角 35">
            <a:extLst>
              <a:ext uri="{FF2B5EF4-FFF2-40B4-BE49-F238E27FC236}">
                <a16:creationId xmlns:a16="http://schemas.microsoft.com/office/drawing/2014/main" id="{CBF0ECE5-7DFF-3523-8A95-FB3482130F57}"/>
              </a:ext>
            </a:extLst>
          </p:cNvPr>
          <p:cNvSpPr/>
          <p:nvPr/>
        </p:nvSpPr>
        <p:spPr>
          <a:xfrm>
            <a:off x="5309421" y="3194956"/>
            <a:ext cx="1040575" cy="4830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遗传算法（</a:t>
            </a:r>
            <a:r>
              <a:rPr lang="en-US" altLang="zh-CN" sz="1400"/>
              <a:t>GA</a:t>
            </a:r>
            <a:r>
              <a:rPr lang="zh-CN" altLang="en-US" sz="1400"/>
              <a:t>）</a:t>
            </a:r>
          </a:p>
        </p:txBody>
      </p:sp>
      <p:pic>
        <p:nvPicPr>
          <p:cNvPr id="37" name="图片 36">
            <a:extLst>
              <a:ext uri="{FF2B5EF4-FFF2-40B4-BE49-F238E27FC236}">
                <a16:creationId xmlns:a16="http://schemas.microsoft.com/office/drawing/2014/main" id="{2D60872E-84A2-4989-B633-1BA8C0D9556B}"/>
              </a:ext>
            </a:extLst>
          </p:cNvPr>
          <p:cNvPicPr>
            <a:picLocks noChangeAspect="1"/>
          </p:cNvPicPr>
          <p:nvPr/>
        </p:nvPicPr>
        <p:blipFill>
          <a:blip r:embed="rId4"/>
          <a:stretch>
            <a:fillRect/>
          </a:stretch>
        </p:blipFill>
        <p:spPr>
          <a:xfrm>
            <a:off x="6367524" y="3185972"/>
            <a:ext cx="304800" cy="483681"/>
          </a:xfrm>
          <a:prstGeom prst="rect">
            <a:avLst/>
          </a:prstGeom>
        </p:spPr>
      </p:pic>
      <p:sp>
        <p:nvSpPr>
          <p:cNvPr id="38" name="矩形: 圆角 37">
            <a:extLst>
              <a:ext uri="{FF2B5EF4-FFF2-40B4-BE49-F238E27FC236}">
                <a16:creationId xmlns:a16="http://schemas.microsoft.com/office/drawing/2014/main" id="{567AC1D2-6DEC-076E-F68B-649C15C47541}"/>
              </a:ext>
            </a:extLst>
          </p:cNvPr>
          <p:cNvSpPr/>
          <p:nvPr/>
        </p:nvSpPr>
        <p:spPr>
          <a:xfrm>
            <a:off x="6699608" y="3182423"/>
            <a:ext cx="1040575" cy="4830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超参数组合寻优</a:t>
            </a:r>
          </a:p>
        </p:txBody>
      </p:sp>
      <p:sp>
        <p:nvSpPr>
          <p:cNvPr id="39" name="文本框 38">
            <a:extLst>
              <a:ext uri="{FF2B5EF4-FFF2-40B4-BE49-F238E27FC236}">
                <a16:creationId xmlns:a16="http://schemas.microsoft.com/office/drawing/2014/main" id="{EC9BEC37-6803-5AD0-AEFF-1A205F0EB1B5}"/>
              </a:ext>
            </a:extLst>
          </p:cNvPr>
          <p:cNvSpPr txBox="1"/>
          <p:nvPr/>
        </p:nvSpPr>
        <p:spPr>
          <a:xfrm>
            <a:off x="7914087" y="2594594"/>
            <a:ext cx="2268570" cy="307777"/>
          </a:xfrm>
          <a:prstGeom prst="rect">
            <a:avLst/>
          </a:prstGeom>
          <a:noFill/>
        </p:spPr>
        <p:txBody>
          <a:bodyPr wrap="none" rtlCol="0">
            <a:spAutoFit/>
          </a:bodyPr>
          <a:lstStyle/>
          <a:p>
            <a:pPr marL="285750" indent="-285750">
              <a:buClr>
                <a:srgbClr val="2F5597"/>
              </a:buClr>
              <a:buFont typeface="Wingdings" panose="05000000000000000000" pitchFamily="2" charset="2"/>
              <a:buChar char="u"/>
            </a:pPr>
            <a:r>
              <a:rPr lang="zh-CN" altLang="en-US" sz="1400" b="1"/>
              <a:t>爆震工况准维燃烧标定</a:t>
            </a:r>
            <a:endParaRPr lang="en-US" altLang="zh-CN" sz="1400" b="1"/>
          </a:p>
        </p:txBody>
      </p:sp>
      <p:sp>
        <p:nvSpPr>
          <p:cNvPr id="40" name="矩形: 圆角 39">
            <a:extLst>
              <a:ext uri="{FF2B5EF4-FFF2-40B4-BE49-F238E27FC236}">
                <a16:creationId xmlns:a16="http://schemas.microsoft.com/office/drawing/2014/main" id="{D98AD6C7-B3A1-4F95-6644-170729EF5313}"/>
              </a:ext>
            </a:extLst>
          </p:cNvPr>
          <p:cNvSpPr/>
          <p:nvPr/>
        </p:nvSpPr>
        <p:spPr>
          <a:xfrm>
            <a:off x="9871344" y="3280756"/>
            <a:ext cx="304800" cy="10375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准维模型</a:t>
            </a:r>
          </a:p>
        </p:txBody>
      </p:sp>
      <p:pic>
        <p:nvPicPr>
          <p:cNvPr id="41" name="图片 40">
            <a:extLst>
              <a:ext uri="{FF2B5EF4-FFF2-40B4-BE49-F238E27FC236}">
                <a16:creationId xmlns:a16="http://schemas.microsoft.com/office/drawing/2014/main" id="{C73B7DA0-AE28-A65D-70B5-73288E2BF00C}"/>
              </a:ext>
            </a:extLst>
          </p:cNvPr>
          <p:cNvPicPr>
            <a:picLocks noChangeAspect="1"/>
          </p:cNvPicPr>
          <p:nvPr/>
        </p:nvPicPr>
        <p:blipFill>
          <a:blip r:embed="rId4"/>
          <a:stretch>
            <a:fillRect/>
          </a:stretch>
        </p:blipFill>
        <p:spPr>
          <a:xfrm>
            <a:off x="9523263" y="3523439"/>
            <a:ext cx="304800" cy="483681"/>
          </a:xfrm>
          <a:prstGeom prst="rect">
            <a:avLst/>
          </a:prstGeom>
        </p:spPr>
      </p:pic>
      <p:sp>
        <p:nvSpPr>
          <p:cNvPr id="42" name="矩形: 圆角 41">
            <a:extLst>
              <a:ext uri="{FF2B5EF4-FFF2-40B4-BE49-F238E27FC236}">
                <a16:creationId xmlns:a16="http://schemas.microsoft.com/office/drawing/2014/main" id="{62CD7F1B-4E8E-0318-C845-94463E9FAA8F}"/>
              </a:ext>
            </a:extLst>
          </p:cNvPr>
          <p:cNvSpPr/>
          <p:nvPr/>
        </p:nvSpPr>
        <p:spPr>
          <a:xfrm>
            <a:off x="8437876" y="2914531"/>
            <a:ext cx="1040575" cy="3077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爆震工况</a:t>
            </a:r>
          </a:p>
        </p:txBody>
      </p:sp>
      <p:pic>
        <p:nvPicPr>
          <p:cNvPr id="43" name="图片 42">
            <a:extLst>
              <a:ext uri="{FF2B5EF4-FFF2-40B4-BE49-F238E27FC236}">
                <a16:creationId xmlns:a16="http://schemas.microsoft.com/office/drawing/2014/main" id="{B228089E-A919-7387-4819-B268FA073CCC}"/>
              </a:ext>
            </a:extLst>
          </p:cNvPr>
          <p:cNvPicPr>
            <a:picLocks noChangeAspect="1"/>
          </p:cNvPicPr>
          <p:nvPr/>
        </p:nvPicPr>
        <p:blipFill>
          <a:blip r:embed="rId4"/>
          <a:stretch>
            <a:fillRect/>
          </a:stretch>
        </p:blipFill>
        <p:spPr>
          <a:xfrm rot="5400000">
            <a:off x="8836581" y="3145028"/>
            <a:ext cx="304800" cy="483681"/>
          </a:xfrm>
          <a:prstGeom prst="rect">
            <a:avLst/>
          </a:prstGeom>
        </p:spPr>
      </p:pic>
      <p:sp>
        <p:nvSpPr>
          <p:cNvPr id="44" name="矩形: 圆角 43">
            <a:extLst>
              <a:ext uri="{FF2B5EF4-FFF2-40B4-BE49-F238E27FC236}">
                <a16:creationId xmlns:a16="http://schemas.microsoft.com/office/drawing/2014/main" id="{CA01AD0C-B0E7-E7EA-CF91-44827B645980}"/>
              </a:ext>
            </a:extLst>
          </p:cNvPr>
          <p:cNvSpPr/>
          <p:nvPr/>
        </p:nvSpPr>
        <p:spPr>
          <a:xfrm>
            <a:off x="8437876" y="3580213"/>
            <a:ext cx="1040575" cy="4478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缸压高频震荡</a:t>
            </a:r>
          </a:p>
        </p:txBody>
      </p:sp>
      <p:pic>
        <p:nvPicPr>
          <p:cNvPr id="45" name="图片 44">
            <a:extLst>
              <a:ext uri="{FF2B5EF4-FFF2-40B4-BE49-F238E27FC236}">
                <a16:creationId xmlns:a16="http://schemas.microsoft.com/office/drawing/2014/main" id="{C93726AB-C022-538A-F04A-24BD8338D60B}"/>
              </a:ext>
            </a:extLst>
          </p:cNvPr>
          <p:cNvPicPr>
            <a:picLocks noChangeAspect="1"/>
          </p:cNvPicPr>
          <p:nvPr/>
        </p:nvPicPr>
        <p:blipFill>
          <a:blip r:embed="rId4"/>
          <a:stretch>
            <a:fillRect/>
          </a:stretch>
        </p:blipFill>
        <p:spPr>
          <a:xfrm>
            <a:off x="10192530" y="3142256"/>
            <a:ext cx="304800" cy="483681"/>
          </a:xfrm>
          <a:prstGeom prst="rect">
            <a:avLst/>
          </a:prstGeom>
        </p:spPr>
      </p:pic>
      <p:cxnSp>
        <p:nvCxnSpPr>
          <p:cNvPr id="47" name="直接连接符 46">
            <a:extLst>
              <a:ext uri="{FF2B5EF4-FFF2-40B4-BE49-F238E27FC236}">
                <a16:creationId xmlns:a16="http://schemas.microsoft.com/office/drawing/2014/main" id="{A3CDBEC8-F8CA-A5BF-2B9A-873D2E043455}"/>
              </a:ext>
            </a:extLst>
          </p:cNvPr>
          <p:cNvCxnSpPr>
            <a:cxnSpLocks/>
          </p:cNvCxnSpPr>
          <p:nvPr/>
        </p:nvCxnSpPr>
        <p:spPr>
          <a:xfrm>
            <a:off x="10219425" y="3194956"/>
            <a:ext cx="294291" cy="42000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矩形: 圆角 50">
            <a:extLst>
              <a:ext uri="{FF2B5EF4-FFF2-40B4-BE49-F238E27FC236}">
                <a16:creationId xmlns:a16="http://schemas.microsoft.com/office/drawing/2014/main" id="{47221D0D-482F-FFF3-8183-D36F2186F545}"/>
              </a:ext>
            </a:extLst>
          </p:cNvPr>
          <p:cNvSpPr/>
          <p:nvPr/>
        </p:nvSpPr>
        <p:spPr>
          <a:xfrm>
            <a:off x="10568208" y="3251068"/>
            <a:ext cx="1040575" cy="3077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常规标定</a:t>
            </a:r>
          </a:p>
        </p:txBody>
      </p:sp>
      <p:pic>
        <p:nvPicPr>
          <p:cNvPr id="52" name="图片 51">
            <a:extLst>
              <a:ext uri="{FF2B5EF4-FFF2-40B4-BE49-F238E27FC236}">
                <a16:creationId xmlns:a16="http://schemas.microsoft.com/office/drawing/2014/main" id="{A2737586-BA0E-797B-76B1-502FA370C47B}"/>
              </a:ext>
            </a:extLst>
          </p:cNvPr>
          <p:cNvPicPr>
            <a:picLocks noChangeAspect="1"/>
          </p:cNvPicPr>
          <p:nvPr/>
        </p:nvPicPr>
        <p:blipFill>
          <a:blip r:embed="rId4"/>
          <a:stretch>
            <a:fillRect/>
          </a:stretch>
        </p:blipFill>
        <p:spPr>
          <a:xfrm>
            <a:off x="10190558" y="3824815"/>
            <a:ext cx="304800" cy="483681"/>
          </a:xfrm>
          <a:prstGeom prst="rect">
            <a:avLst/>
          </a:prstGeom>
        </p:spPr>
      </p:pic>
      <p:sp>
        <p:nvSpPr>
          <p:cNvPr id="53" name="矩形: 圆角 52">
            <a:extLst>
              <a:ext uri="{FF2B5EF4-FFF2-40B4-BE49-F238E27FC236}">
                <a16:creationId xmlns:a16="http://schemas.microsoft.com/office/drawing/2014/main" id="{5CEF0E34-2CDE-4F09-B298-D8F2B7A55ACA}"/>
              </a:ext>
            </a:extLst>
          </p:cNvPr>
          <p:cNvSpPr/>
          <p:nvPr/>
        </p:nvSpPr>
        <p:spPr>
          <a:xfrm>
            <a:off x="10568208" y="3943050"/>
            <a:ext cx="1040575" cy="307777"/>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局部标定</a:t>
            </a:r>
          </a:p>
        </p:txBody>
      </p:sp>
      <p:sp>
        <p:nvSpPr>
          <p:cNvPr id="55" name="矩形: 圆角 54">
            <a:extLst>
              <a:ext uri="{FF2B5EF4-FFF2-40B4-BE49-F238E27FC236}">
                <a16:creationId xmlns:a16="http://schemas.microsoft.com/office/drawing/2014/main" id="{69740DBC-AB10-98CA-B1B3-E2334B482793}"/>
              </a:ext>
            </a:extLst>
          </p:cNvPr>
          <p:cNvSpPr/>
          <p:nvPr/>
        </p:nvSpPr>
        <p:spPr>
          <a:xfrm>
            <a:off x="6720670" y="4067731"/>
            <a:ext cx="1040575" cy="307777"/>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寻优算法</a:t>
            </a:r>
          </a:p>
        </p:txBody>
      </p:sp>
      <p:pic>
        <p:nvPicPr>
          <p:cNvPr id="56" name="图片 55">
            <a:extLst>
              <a:ext uri="{FF2B5EF4-FFF2-40B4-BE49-F238E27FC236}">
                <a16:creationId xmlns:a16="http://schemas.microsoft.com/office/drawing/2014/main" id="{D35707C6-36B0-38C0-4460-1124916FF88D}"/>
              </a:ext>
            </a:extLst>
          </p:cNvPr>
          <p:cNvPicPr>
            <a:picLocks noChangeAspect="1"/>
          </p:cNvPicPr>
          <p:nvPr/>
        </p:nvPicPr>
        <p:blipFill>
          <a:blip r:embed="rId4"/>
          <a:stretch>
            <a:fillRect/>
          </a:stretch>
        </p:blipFill>
        <p:spPr>
          <a:xfrm rot="-5400000">
            <a:off x="7088558" y="3620351"/>
            <a:ext cx="304800" cy="483681"/>
          </a:xfrm>
          <a:prstGeom prst="rect">
            <a:avLst/>
          </a:prstGeom>
        </p:spPr>
      </p:pic>
      <p:cxnSp>
        <p:nvCxnSpPr>
          <p:cNvPr id="59" name="直接连接符 58">
            <a:extLst>
              <a:ext uri="{FF2B5EF4-FFF2-40B4-BE49-F238E27FC236}">
                <a16:creationId xmlns:a16="http://schemas.microsoft.com/office/drawing/2014/main" id="{F09CA2F8-CF7A-13F0-E34C-298D726B100F}"/>
              </a:ext>
            </a:extLst>
          </p:cNvPr>
          <p:cNvCxnSpPr>
            <a:cxnSpLocks/>
          </p:cNvCxnSpPr>
          <p:nvPr/>
        </p:nvCxnSpPr>
        <p:spPr>
          <a:xfrm>
            <a:off x="161403" y="4452451"/>
            <a:ext cx="11879530"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0" name="文本框 59">
            <a:extLst>
              <a:ext uri="{FF2B5EF4-FFF2-40B4-BE49-F238E27FC236}">
                <a16:creationId xmlns:a16="http://schemas.microsoft.com/office/drawing/2014/main" id="{32DB9416-7937-8AB5-322D-09672F96B8DB}"/>
              </a:ext>
            </a:extLst>
          </p:cNvPr>
          <p:cNvSpPr txBox="1"/>
          <p:nvPr/>
        </p:nvSpPr>
        <p:spPr>
          <a:xfrm>
            <a:off x="145543" y="4523414"/>
            <a:ext cx="1729961" cy="307777"/>
          </a:xfrm>
          <a:prstGeom prst="rect">
            <a:avLst/>
          </a:prstGeom>
          <a:noFill/>
        </p:spPr>
        <p:txBody>
          <a:bodyPr wrap="none" rtlCol="0">
            <a:spAutoFit/>
          </a:bodyPr>
          <a:lstStyle/>
          <a:p>
            <a:pPr marL="285750" indent="-285750">
              <a:buClr>
                <a:srgbClr val="2F5597"/>
              </a:buClr>
              <a:buFont typeface="Wingdings" panose="05000000000000000000" pitchFamily="2" charset="2"/>
              <a:buChar char="u"/>
            </a:pPr>
            <a:r>
              <a:rPr lang="zh-CN" altLang="en-US" sz="1400" b="1"/>
              <a:t>爆震表征物理量</a:t>
            </a:r>
            <a:endParaRPr lang="en-US" altLang="zh-CN" sz="1400" b="1"/>
          </a:p>
        </p:txBody>
      </p:sp>
      <p:sp>
        <p:nvSpPr>
          <p:cNvPr id="62" name="矩形: 圆角 61">
            <a:extLst>
              <a:ext uri="{FF2B5EF4-FFF2-40B4-BE49-F238E27FC236}">
                <a16:creationId xmlns:a16="http://schemas.microsoft.com/office/drawing/2014/main" id="{9AA31262-7AA9-B4DA-DBDF-3AB81C5580B1}"/>
              </a:ext>
            </a:extLst>
          </p:cNvPr>
          <p:cNvSpPr/>
          <p:nvPr/>
        </p:nvSpPr>
        <p:spPr>
          <a:xfrm>
            <a:off x="411480" y="4897014"/>
            <a:ext cx="304800" cy="10375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爆震模型</a:t>
            </a:r>
          </a:p>
        </p:txBody>
      </p:sp>
      <p:pic>
        <p:nvPicPr>
          <p:cNvPr id="63" name="图片 62">
            <a:extLst>
              <a:ext uri="{FF2B5EF4-FFF2-40B4-BE49-F238E27FC236}">
                <a16:creationId xmlns:a16="http://schemas.microsoft.com/office/drawing/2014/main" id="{4A0EAD73-E722-92A6-29C9-C99FDDBAA2EE}"/>
              </a:ext>
            </a:extLst>
          </p:cNvPr>
          <p:cNvPicPr>
            <a:picLocks noChangeAspect="1"/>
          </p:cNvPicPr>
          <p:nvPr/>
        </p:nvPicPr>
        <p:blipFill>
          <a:blip r:embed="rId4"/>
          <a:stretch>
            <a:fillRect/>
          </a:stretch>
        </p:blipFill>
        <p:spPr>
          <a:xfrm>
            <a:off x="785703" y="4793099"/>
            <a:ext cx="304800" cy="483681"/>
          </a:xfrm>
          <a:prstGeom prst="rect">
            <a:avLst/>
          </a:prstGeom>
        </p:spPr>
      </p:pic>
      <p:sp>
        <p:nvSpPr>
          <p:cNvPr id="64" name="矩形: 圆角 63">
            <a:extLst>
              <a:ext uri="{FF2B5EF4-FFF2-40B4-BE49-F238E27FC236}">
                <a16:creationId xmlns:a16="http://schemas.microsoft.com/office/drawing/2014/main" id="{291B00CB-E60E-8270-A677-27BD5E0358D1}"/>
              </a:ext>
            </a:extLst>
          </p:cNvPr>
          <p:cNvSpPr/>
          <p:nvPr/>
        </p:nvSpPr>
        <p:spPr>
          <a:xfrm>
            <a:off x="1159926" y="4892158"/>
            <a:ext cx="871547" cy="3499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t>x_ub,bl</a:t>
            </a:r>
            <a:endParaRPr lang="zh-CN" altLang="en-US" sz="1400"/>
          </a:p>
        </p:txBody>
      </p:sp>
      <p:pic>
        <p:nvPicPr>
          <p:cNvPr id="65" name="图片 64">
            <a:extLst>
              <a:ext uri="{FF2B5EF4-FFF2-40B4-BE49-F238E27FC236}">
                <a16:creationId xmlns:a16="http://schemas.microsoft.com/office/drawing/2014/main" id="{2A45DCA0-1EAF-686F-A09D-B0ECABE381CD}"/>
              </a:ext>
            </a:extLst>
          </p:cNvPr>
          <p:cNvPicPr>
            <a:picLocks noChangeAspect="1"/>
          </p:cNvPicPr>
          <p:nvPr/>
        </p:nvPicPr>
        <p:blipFill>
          <a:blip r:embed="rId4"/>
          <a:stretch>
            <a:fillRect/>
          </a:stretch>
        </p:blipFill>
        <p:spPr>
          <a:xfrm>
            <a:off x="2100896" y="4823388"/>
            <a:ext cx="304800" cy="483681"/>
          </a:xfrm>
          <a:prstGeom prst="rect">
            <a:avLst/>
          </a:prstGeom>
        </p:spPr>
      </p:pic>
      <p:sp>
        <p:nvSpPr>
          <p:cNvPr id="66" name="矩形: 圆角 65">
            <a:extLst>
              <a:ext uri="{FF2B5EF4-FFF2-40B4-BE49-F238E27FC236}">
                <a16:creationId xmlns:a16="http://schemas.microsoft.com/office/drawing/2014/main" id="{A45098A6-1F54-4062-E106-2C4F9E7DA0AE}"/>
              </a:ext>
            </a:extLst>
          </p:cNvPr>
          <p:cNvSpPr/>
          <p:nvPr/>
        </p:nvSpPr>
        <p:spPr>
          <a:xfrm>
            <a:off x="2501325" y="4890121"/>
            <a:ext cx="304800" cy="10375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爆震倾向</a:t>
            </a:r>
          </a:p>
        </p:txBody>
      </p:sp>
      <p:sp>
        <p:nvSpPr>
          <p:cNvPr id="68" name="矩形: 圆角 67">
            <a:extLst>
              <a:ext uri="{FF2B5EF4-FFF2-40B4-BE49-F238E27FC236}">
                <a16:creationId xmlns:a16="http://schemas.microsoft.com/office/drawing/2014/main" id="{BF6AAE6F-6F69-4C30-96AF-C61D376E1D7B}"/>
              </a:ext>
            </a:extLst>
          </p:cNvPr>
          <p:cNvSpPr/>
          <p:nvPr/>
        </p:nvSpPr>
        <p:spPr>
          <a:xfrm>
            <a:off x="1075411" y="5644522"/>
            <a:ext cx="1040575" cy="307777"/>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altLang="zh-CN" sz="1400" b="1">
                <a:solidFill>
                  <a:schemeClr val="tx1"/>
                </a:solidFill>
              </a:rPr>
              <a:t>Π</a:t>
            </a:r>
            <a:r>
              <a:rPr lang="en-US" altLang="zh-CN" sz="1400" b="1">
                <a:solidFill>
                  <a:schemeClr val="tx1"/>
                </a:solidFill>
              </a:rPr>
              <a:t>ub*</a:t>
            </a:r>
          </a:p>
        </p:txBody>
      </p:sp>
      <p:sp>
        <p:nvSpPr>
          <p:cNvPr id="69" name="箭头: 直角上 68">
            <a:extLst>
              <a:ext uri="{FF2B5EF4-FFF2-40B4-BE49-F238E27FC236}">
                <a16:creationId xmlns:a16="http://schemas.microsoft.com/office/drawing/2014/main" id="{0209CC2B-3E92-315E-DB8F-F4F323C234E6}"/>
              </a:ext>
            </a:extLst>
          </p:cNvPr>
          <p:cNvSpPr/>
          <p:nvPr/>
        </p:nvSpPr>
        <p:spPr>
          <a:xfrm flipH="1">
            <a:off x="1434930" y="5999511"/>
            <a:ext cx="945226" cy="296781"/>
          </a:xfrm>
          <a:prstGeom prst="bentUpArrow">
            <a:avLst>
              <a:gd name="adj1" fmla="val 21629"/>
              <a:gd name="adj2" fmla="val 38446"/>
              <a:gd name="adj3"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a:extLst>
              <a:ext uri="{FF2B5EF4-FFF2-40B4-BE49-F238E27FC236}">
                <a16:creationId xmlns:a16="http://schemas.microsoft.com/office/drawing/2014/main" id="{414C3E36-335C-6FAB-3CA4-5D4EBF6286E0}"/>
              </a:ext>
            </a:extLst>
          </p:cNvPr>
          <p:cNvSpPr/>
          <p:nvPr/>
        </p:nvSpPr>
        <p:spPr>
          <a:xfrm>
            <a:off x="2446763" y="6007707"/>
            <a:ext cx="1792354" cy="445328"/>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altLang="zh-CN" sz="1400" b="1">
                <a:solidFill>
                  <a:schemeClr val="tx1"/>
                </a:solidFill>
              </a:rPr>
              <a:t>Π</a:t>
            </a:r>
            <a:r>
              <a:rPr lang="en-US" altLang="zh-CN" sz="1400" b="1">
                <a:solidFill>
                  <a:schemeClr val="tx1"/>
                </a:solidFill>
              </a:rPr>
              <a:t>ub*</a:t>
            </a:r>
            <a:r>
              <a:rPr lang="zh-CN" altLang="en-US" sz="1400" b="1">
                <a:solidFill>
                  <a:schemeClr val="tx1"/>
                </a:solidFill>
              </a:rPr>
              <a:t>与爆震强度呈明显的对数关系</a:t>
            </a:r>
            <a:r>
              <a:rPr lang="en-US" altLang="zh-CN" sz="1400" b="1" baseline="30000">
                <a:solidFill>
                  <a:schemeClr val="tx1"/>
                </a:solidFill>
              </a:rPr>
              <a:t>[42]</a:t>
            </a:r>
          </a:p>
        </p:txBody>
      </p:sp>
      <p:pic>
        <p:nvPicPr>
          <p:cNvPr id="71" name="图片 70">
            <a:extLst>
              <a:ext uri="{FF2B5EF4-FFF2-40B4-BE49-F238E27FC236}">
                <a16:creationId xmlns:a16="http://schemas.microsoft.com/office/drawing/2014/main" id="{2637A06A-B813-C8DA-7C06-72B85EB2825F}"/>
              </a:ext>
            </a:extLst>
          </p:cNvPr>
          <p:cNvPicPr>
            <a:picLocks noChangeAspect="1"/>
          </p:cNvPicPr>
          <p:nvPr/>
        </p:nvPicPr>
        <p:blipFill>
          <a:blip r:embed="rId4"/>
          <a:stretch>
            <a:fillRect/>
          </a:stretch>
        </p:blipFill>
        <p:spPr>
          <a:xfrm>
            <a:off x="722797" y="5546465"/>
            <a:ext cx="304800" cy="483681"/>
          </a:xfrm>
          <a:prstGeom prst="rect">
            <a:avLst/>
          </a:prstGeom>
        </p:spPr>
      </p:pic>
      <p:pic>
        <p:nvPicPr>
          <p:cNvPr id="72" name="图片 71">
            <a:extLst>
              <a:ext uri="{FF2B5EF4-FFF2-40B4-BE49-F238E27FC236}">
                <a16:creationId xmlns:a16="http://schemas.microsoft.com/office/drawing/2014/main" id="{4B5DDB52-0EEC-4B7C-D0BF-0178C01D374A}"/>
              </a:ext>
            </a:extLst>
          </p:cNvPr>
          <p:cNvPicPr>
            <a:picLocks noChangeAspect="1"/>
          </p:cNvPicPr>
          <p:nvPr/>
        </p:nvPicPr>
        <p:blipFill>
          <a:blip r:embed="rId4"/>
          <a:stretch>
            <a:fillRect/>
          </a:stretch>
        </p:blipFill>
        <p:spPr>
          <a:xfrm>
            <a:off x="2155077" y="5538952"/>
            <a:ext cx="291686" cy="483681"/>
          </a:xfrm>
          <a:prstGeom prst="rect">
            <a:avLst/>
          </a:prstGeom>
        </p:spPr>
      </p:pic>
      <p:sp>
        <p:nvSpPr>
          <p:cNvPr id="73" name="文本框 72">
            <a:extLst>
              <a:ext uri="{FF2B5EF4-FFF2-40B4-BE49-F238E27FC236}">
                <a16:creationId xmlns:a16="http://schemas.microsoft.com/office/drawing/2014/main" id="{2920B938-0227-EB75-D338-3B36D7A95549}"/>
              </a:ext>
            </a:extLst>
          </p:cNvPr>
          <p:cNvSpPr txBox="1"/>
          <p:nvPr/>
        </p:nvSpPr>
        <p:spPr>
          <a:xfrm>
            <a:off x="4260963" y="4479133"/>
            <a:ext cx="1550424" cy="307777"/>
          </a:xfrm>
          <a:prstGeom prst="rect">
            <a:avLst/>
          </a:prstGeom>
          <a:noFill/>
        </p:spPr>
        <p:txBody>
          <a:bodyPr wrap="none" rtlCol="0">
            <a:spAutoFit/>
          </a:bodyPr>
          <a:lstStyle/>
          <a:p>
            <a:pPr marL="285750" indent="-285750">
              <a:buClr>
                <a:srgbClr val="2F5597"/>
              </a:buClr>
              <a:buFont typeface="Wingdings" panose="05000000000000000000" pitchFamily="2" charset="2"/>
              <a:buChar char="u"/>
            </a:pPr>
            <a:r>
              <a:rPr lang="zh-CN" altLang="en-US" sz="1400" b="1"/>
              <a:t>多点温度标定</a:t>
            </a:r>
            <a:endParaRPr lang="en-US" altLang="zh-CN" sz="1400" b="1"/>
          </a:p>
        </p:txBody>
      </p:sp>
      <p:sp>
        <p:nvSpPr>
          <p:cNvPr id="74" name="矩形: 圆角 73">
            <a:extLst>
              <a:ext uri="{FF2B5EF4-FFF2-40B4-BE49-F238E27FC236}">
                <a16:creationId xmlns:a16="http://schemas.microsoft.com/office/drawing/2014/main" id="{FA5EBC82-124B-1D7D-164E-DC2D8E189A33}"/>
              </a:ext>
            </a:extLst>
          </p:cNvPr>
          <p:cNvSpPr/>
          <p:nvPr/>
        </p:nvSpPr>
        <p:spPr>
          <a:xfrm>
            <a:off x="4591170" y="4890120"/>
            <a:ext cx="304800" cy="10375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爆震模型</a:t>
            </a:r>
          </a:p>
        </p:txBody>
      </p:sp>
      <p:pic>
        <p:nvPicPr>
          <p:cNvPr id="75" name="图片 74">
            <a:extLst>
              <a:ext uri="{FF2B5EF4-FFF2-40B4-BE49-F238E27FC236}">
                <a16:creationId xmlns:a16="http://schemas.microsoft.com/office/drawing/2014/main" id="{015D7274-06B4-0449-B074-A363B5AE69C4}"/>
              </a:ext>
            </a:extLst>
          </p:cNvPr>
          <p:cNvPicPr>
            <a:picLocks noChangeAspect="1"/>
          </p:cNvPicPr>
          <p:nvPr/>
        </p:nvPicPr>
        <p:blipFill>
          <a:blip r:embed="rId4"/>
          <a:stretch>
            <a:fillRect/>
          </a:stretch>
        </p:blipFill>
        <p:spPr>
          <a:xfrm>
            <a:off x="4964566" y="5160841"/>
            <a:ext cx="304800" cy="483681"/>
          </a:xfrm>
          <a:prstGeom prst="rect">
            <a:avLst/>
          </a:prstGeom>
        </p:spPr>
      </p:pic>
      <p:sp>
        <p:nvSpPr>
          <p:cNvPr id="76" name="文本框 75">
            <a:extLst>
              <a:ext uri="{FF2B5EF4-FFF2-40B4-BE49-F238E27FC236}">
                <a16:creationId xmlns:a16="http://schemas.microsoft.com/office/drawing/2014/main" id="{BA289789-F194-42E2-9804-085C5A610C82}"/>
              </a:ext>
            </a:extLst>
          </p:cNvPr>
          <p:cNvSpPr txBox="1"/>
          <p:nvPr/>
        </p:nvSpPr>
        <p:spPr>
          <a:xfrm>
            <a:off x="4870744" y="5030070"/>
            <a:ext cx="492443" cy="276999"/>
          </a:xfrm>
          <a:prstGeom prst="rect">
            <a:avLst/>
          </a:prstGeom>
          <a:noFill/>
        </p:spPr>
        <p:txBody>
          <a:bodyPr wrap="none" rtlCol="0">
            <a:spAutoFit/>
          </a:bodyPr>
          <a:lstStyle/>
          <a:p>
            <a:r>
              <a:rPr lang="zh-CN" altLang="en-US" sz="1200"/>
              <a:t>标定</a:t>
            </a:r>
          </a:p>
        </p:txBody>
      </p:sp>
      <p:pic>
        <p:nvPicPr>
          <p:cNvPr id="78" name="图片 77">
            <a:extLst>
              <a:ext uri="{FF2B5EF4-FFF2-40B4-BE49-F238E27FC236}">
                <a16:creationId xmlns:a16="http://schemas.microsoft.com/office/drawing/2014/main" id="{ABC34D8D-DDA8-4283-5895-AC29FBCDFD8C}"/>
              </a:ext>
            </a:extLst>
          </p:cNvPr>
          <p:cNvPicPr>
            <a:picLocks noChangeAspect="1"/>
          </p:cNvPicPr>
          <p:nvPr/>
        </p:nvPicPr>
        <p:blipFill>
          <a:blip r:embed="rId4"/>
          <a:stretch>
            <a:fillRect/>
          </a:stretch>
        </p:blipFill>
        <p:spPr>
          <a:xfrm>
            <a:off x="6528615" y="4945692"/>
            <a:ext cx="304800" cy="483681"/>
          </a:xfrm>
          <a:prstGeom prst="rect">
            <a:avLst/>
          </a:prstGeom>
        </p:spPr>
      </p:pic>
      <p:sp>
        <p:nvSpPr>
          <p:cNvPr id="79" name="矩形: 圆角 78">
            <a:extLst>
              <a:ext uri="{FF2B5EF4-FFF2-40B4-BE49-F238E27FC236}">
                <a16:creationId xmlns:a16="http://schemas.microsoft.com/office/drawing/2014/main" id="{A6EB23CC-E956-AECE-DBE7-551E398B1F34}"/>
              </a:ext>
            </a:extLst>
          </p:cNvPr>
          <p:cNvSpPr/>
          <p:nvPr/>
        </p:nvSpPr>
        <p:spPr>
          <a:xfrm>
            <a:off x="6873511" y="5065228"/>
            <a:ext cx="1040575" cy="3077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单点标定</a:t>
            </a:r>
          </a:p>
        </p:txBody>
      </p:sp>
      <p:pic>
        <p:nvPicPr>
          <p:cNvPr id="80" name="图片 79">
            <a:extLst>
              <a:ext uri="{FF2B5EF4-FFF2-40B4-BE49-F238E27FC236}">
                <a16:creationId xmlns:a16="http://schemas.microsoft.com/office/drawing/2014/main" id="{AE88F12A-0950-DB56-46CB-84FBAFFEF7AB}"/>
              </a:ext>
            </a:extLst>
          </p:cNvPr>
          <p:cNvPicPr>
            <a:picLocks noChangeAspect="1"/>
          </p:cNvPicPr>
          <p:nvPr/>
        </p:nvPicPr>
        <p:blipFill>
          <a:blip r:embed="rId4"/>
          <a:stretch>
            <a:fillRect/>
          </a:stretch>
        </p:blipFill>
        <p:spPr>
          <a:xfrm>
            <a:off x="6534498" y="5350762"/>
            <a:ext cx="304800" cy="483681"/>
          </a:xfrm>
          <a:prstGeom prst="rect">
            <a:avLst/>
          </a:prstGeom>
        </p:spPr>
      </p:pic>
      <p:sp>
        <p:nvSpPr>
          <p:cNvPr id="82" name="文本框 81">
            <a:extLst>
              <a:ext uri="{FF2B5EF4-FFF2-40B4-BE49-F238E27FC236}">
                <a16:creationId xmlns:a16="http://schemas.microsoft.com/office/drawing/2014/main" id="{317E58A5-7515-F44D-92A3-9AB8A4234381}"/>
              </a:ext>
            </a:extLst>
          </p:cNvPr>
          <p:cNvSpPr txBox="1"/>
          <p:nvPr/>
        </p:nvSpPr>
        <p:spPr>
          <a:xfrm>
            <a:off x="6434793" y="4780258"/>
            <a:ext cx="492443" cy="276999"/>
          </a:xfrm>
          <a:prstGeom prst="rect">
            <a:avLst/>
          </a:prstGeom>
          <a:noFill/>
        </p:spPr>
        <p:txBody>
          <a:bodyPr wrap="none" rtlCol="0">
            <a:spAutoFit/>
          </a:bodyPr>
          <a:lstStyle/>
          <a:p>
            <a:r>
              <a:rPr lang="zh-CN" altLang="en-US" sz="1200"/>
              <a:t>降维</a:t>
            </a:r>
          </a:p>
        </p:txBody>
      </p:sp>
      <p:sp>
        <p:nvSpPr>
          <p:cNvPr id="83" name="矩形: 圆角 82">
            <a:extLst>
              <a:ext uri="{FF2B5EF4-FFF2-40B4-BE49-F238E27FC236}">
                <a16:creationId xmlns:a16="http://schemas.microsoft.com/office/drawing/2014/main" id="{9903D9B7-9464-632C-CB92-E4DDC60190D5}"/>
              </a:ext>
            </a:extLst>
          </p:cNvPr>
          <p:cNvSpPr/>
          <p:nvPr/>
        </p:nvSpPr>
        <p:spPr>
          <a:xfrm>
            <a:off x="6873511" y="5473015"/>
            <a:ext cx="1040575" cy="307777"/>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多点标定</a:t>
            </a:r>
          </a:p>
        </p:txBody>
      </p:sp>
      <p:sp>
        <p:nvSpPr>
          <p:cNvPr id="84" name="矩形: 圆角 83">
            <a:extLst>
              <a:ext uri="{FF2B5EF4-FFF2-40B4-BE49-F238E27FC236}">
                <a16:creationId xmlns:a16="http://schemas.microsoft.com/office/drawing/2014/main" id="{C09D19BB-C623-DFC3-0A07-8F58EFC7CB26}"/>
              </a:ext>
            </a:extLst>
          </p:cNvPr>
          <p:cNvSpPr/>
          <p:nvPr/>
        </p:nvSpPr>
        <p:spPr>
          <a:xfrm>
            <a:off x="6448474" y="6030146"/>
            <a:ext cx="1792354" cy="445328"/>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新增足够标定工况</a:t>
            </a:r>
            <a:r>
              <a:rPr lang="en-US" altLang="zh-CN" sz="1400" b="1">
                <a:solidFill>
                  <a:schemeClr val="tx1"/>
                </a:solidFill>
              </a:rPr>
              <a:t>/</a:t>
            </a:r>
            <a:r>
              <a:rPr lang="zh-CN" altLang="en-US" sz="1400" b="1">
                <a:solidFill>
                  <a:schemeClr val="tx1"/>
                </a:solidFill>
              </a:rPr>
              <a:t>解决多解性</a:t>
            </a:r>
            <a:endParaRPr lang="en-US" altLang="zh-CN" sz="1400" b="1" baseline="30000">
              <a:solidFill>
                <a:schemeClr val="tx1"/>
              </a:solidFill>
            </a:endParaRPr>
          </a:p>
        </p:txBody>
      </p:sp>
      <p:sp>
        <p:nvSpPr>
          <p:cNvPr id="85" name="箭头: 下 84">
            <a:extLst>
              <a:ext uri="{FF2B5EF4-FFF2-40B4-BE49-F238E27FC236}">
                <a16:creationId xmlns:a16="http://schemas.microsoft.com/office/drawing/2014/main" id="{5B1102FD-AA5B-A4C6-40B2-21F906F2E377}"/>
              </a:ext>
            </a:extLst>
          </p:cNvPr>
          <p:cNvSpPr/>
          <p:nvPr/>
        </p:nvSpPr>
        <p:spPr>
          <a:xfrm rot="10800000">
            <a:off x="7233007" y="5803154"/>
            <a:ext cx="291687" cy="196357"/>
          </a:xfrm>
          <a:prstGeom prst="downArrow">
            <a:avLst>
              <a:gd name="adj1" fmla="val 28829"/>
              <a:gd name="adj2" fmla="val 43133"/>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C0989747-CC8E-49E6-F9EB-545ED400232B}"/>
              </a:ext>
            </a:extLst>
          </p:cNvPr>
          <p:cNvSpPr txBox="1"/>
          <p:nvPr/>
        </p:nvSpPr>
        <p:spPr>
          <a:xfrm>
            <a:off x="7914086" y="4497731"/>
            <a:ext cx="1550424" cy="307777"/>
          </a:xfrm>
          <a:prstGeom prst="rect">
            <a:avLst/>
          </a:prstGeom>
          <a:noFill/>
        </p:spPr>
        <p:txBody>
          <a:bodyPr wrap="none" rtlCol="0">
            <a:spAutoFit/>
          </a:bodyPr>
          <a:lstStyle/>
          <a:p>
            <a:pPr marL="285750" indent="-285750">
              <a:buClr>
                <a:srgbClr val="2F5597"/>
              </a:buClr>
              <a:buFont typeface="Wingdings" panose="05000000000000000000" pitchFamily="2" charset="2"/>
              <a:buChar char="u"/>
            </a:pPr>
            <a:r>
              <a:rPr lang="zh-CN" altLang="en-US" sz="1400" b="1"/>
              <a:t>标定方法优化</a:t>
            </a:r>
            <a:endParaRPr lang="en-US" altLang="zh-CN" sz="1400" b="1"/>
          </a:p>
        </p:txBody>
      </p:sp>
      <p:sp>
        <p:nvSpPr>
          <p:cNvPr id="87" name="矩形: 圆角 86">
            <a:extLst>
              <a:ext uri="{FF2B5EF4-FFF2-40B4-BE49-F238E27FC236}">
                <a16:creationId xmlns:a16="http://schemas.microsoft.com/office/drawing/2014/main" id="{8122B4CB-8D10-1336-CE2A-C2CC1DC45A53}"/>
              </a:ext>
            </a:extLst>
          </p:cNvPr>
          <p:cNvSpPr/>
          <p:nvPr/>
        </p:nvSpPr>
        <p:spPr>
          <a:xfrm>
            <a:off x="5332093" y="5199545"/>
            <a:ext cx="1040575" cy="4830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温度修正标定</a:t>
            </a:r>
          </a:p>
        </p:txBody>
      </p:sp>
      <p:sp>
        <p:nvSpPr>
          <p:cNvPr id="89" name="矩形: 圆角 88">
            <a:extLst>
              <a:ext uri="{FF2B5EF4-FFF2-40B4-BE49-F238E27FC236}">
                <a16:creationId xmlns:a16="http://schemas.microsoft.com/office/drawing/2014/main" id="{676E6CF8-6254-7185-DBC0-4CE5180CA7B0}"/>
              </a:ext>
            </a:extLst>
          </p:cNvPr>
          <p:cNvSpPr/>
          <p:nvPr/>
        </p:nvSpPr>
        <p:spPr>
          <a:xfrm>
            <a:off x="8515435" y="4884251"/>
            <a:ext cx="304800" cy="10375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爆震模型</a:t>
            </a:r>
          </a:p>
        </p:txBody>
      </p:sp>
      <p:pic>
        <p:nvPicPr>
          <p:cNvPr id="90" name="图片 89">
            <a:extLst>
              <a:ext uri="{FF2B5EF4-FFF2-40B4-BE49-F238E27FC236}">
                <a16:creationId xmlns:a16="http://schemas.microsoft.com/office/drawing/2014/main" id="{2018B44E-C4FF-2A65-F264-D51963E1A017}"/>
              </a:ext>
            </a:extLst>
          </p:cNvPr>
          <p:cNvPicPr>
            <a:picLocks noChangeAspect="1"/>
          </p:cNvPicPr>
          <p:nvPr/>
        </p:nvPicPr>
        <p:blipFill>
          <a:blip r:embed="rId4"/>
          <a:stretch>
            <a:fillRect/>
          </a:stretch>
        </p:blipFill>
        <p:spPr>
          <a:xfrm>
            <a:off x="8888831" y="5154972"/>
            <a:ext cx="304800" cy="483681"/>
          </a:xfrm>
          <a:prstGeom prst="rect">
            <a:avLst/>
          </a:prstGeom>
        </p:spPr>
      </p:pic>
      <p:sp>
        <p:nvSpPr>
          <p:cNvPr id="91" name="文本框 90">
            <a:extLst>
              <a:ext uri="{FF2B5EF4-FFF2-40B4-BE49-F238E27FC236}">
                <a16:creationId xmlns:a16="http://schemas.microsoft.com/office/drawing/2014/main" id="{E80E7B6D-18A8-B75D-054F-385E41251A58}"/>
              </a:ext>
            </a:extLst>
          </p:cNvPr>
          <p:cNvSpPr txBox="1"/>
          <p:nvPr/>
        </p:nvSpPr>
        <p:spPr>
          <a:xfrm>
            <a:off x="8795009" y="5024201"/>
            <a:ext cx="492443" cy="276999"/>
          </a:xfrm>
          <a:prstGeom prst="rect">
            <a:avLst/>
          </a:prstGeom>
          <a:noFill/>
        </p:spPr>
        <p:txBody>
          <a:bodyPr wrap="none" rtlCol="0">
            <a:spAutoFit/>
          </a:bodyPr>
          <a:lstStyle/>
          <a:p>
            <a:r>
              <a:rPr lang="zh-CN" altLang="en-US" sz="1200"/>
              <a:t>标定</a:t>
            </a:r>
          </a:p>
        </p:txBody>
      </p:sp>
      <p:sp>
        <p:nvSpPr>
          <p:cNvPr id="97" name="矩形: 圆角 96">
            <a:extLst>
              <a:ext uri="{FF2B5EF4-FFF2-40B4-BE49-F238E27FC236}">
                <a16:creationId xmlns:a16="http://schemas.microsoft.com/office/drawing/2014/main" id="{6C96381B-7791-B05D-DBD2-02EDFF54C7B5}"/>
              </a:ext>
            </a:extLst>
          </p:cNvPr>
          <p:cNvSpPr/>
          <p:nvPr/>
        </p:nvSpPr>
        <p:spPr>
          <a:xfrm>
            <a:off x="10762555" y="4895180"/>
            <a:ext cx="608411" cy="1041238"/>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tx1"/>
                </a:solidFill>
              </a:rPr>
              <a:t>机器学习寻优标定</a:t>
            </a:r>
            <a:endParaRPr lang="en-US" altLang="zh-CN" sz="1400" b="1">
              <a:solidFill>
                <a:schemeClr val="tx1"/>
              </a:solidFill>
            </a:endParaRPr>
          </a:p>
        </p:txBody>
      </p:sp>
      <p:sp>
        <p:nvSpPr>
          <p:cNvPr id="99" name="矩形: 圆角 98">
            <a:extLst>
              <a:ext uri="{FF2B5EF4-FFF2-40B4-BE49-F238E27FC236}">
                <a16:creationId xmlns:a16="http://schemas.microsoft.com/office/drawing/2014/main" id="{94B191B1-329F-52CA-1F1D-9D285E606F4B}"/>
              </a:ext>
            </a:extLst>
          </p:cNvPr>
          <p:cNvSpPr/>
          <p:nvPr/>
        </p:nvSpPr>
        <p:spPr>
          <a:xfrm>
            <a:off x="9256358" y="5193676"/>
            <a:ext cx="1040575" cy="4830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t>温度修正标定</a:t>
            </a:r>
          </a:p>
        </p:txBody>
      </p:sp>
      <p:pic>
        <p:nvPicPr>
          <p:cNvPr id="102" name="图片 101">
            <a:extLst>
              <a:ext uri="{FF2B5EF4-FFF2-40B4-BE49-F238E27FC236}">
                <a16:creationId xmlns:a16="http://schemas.microsoft.com/office/drawing/2014/main" id="{6D67B5D9-5867-A22B-7AA5-9F2A32509FA5}"/>
              </a:ext>
            </a:extLst>
          </p:cNvPr>
          <p:cNvPicPr>
            <a:picLocks noChangeAspect="1"/>
          </p:cNvPicPr>
          <p:nvPr/>
        </p:nvPicPr>
        <p:blipFill>
          <a:blip r:embed="rId4"/>
          <a:stretch>
            <a:fillRect/>
          </a:stretch>
        </p:blipFill>
        <p:spPr>
          <a:xfrm>
            <a:off x="10359660" y="5158181"/>
            <a:ext cx="304800" cy="483681"/>
          </a:xfrm>
          <a:prstGeom prst="rect">
            <a:avLst/>
          </a:prstGeom>
        </p:spPr>
      </p:pic>
      <p:sp>
        <p:nvSpPr>
          <p:cNvPr id="15" name="文本框 14">
            <a:extLst>
              <a:ext uri="{FF2B5EF4-FFF2-40B4-BE49-F238E27FC236}">
                <a16:creationId xmlns:a16="http://schemas.microsoft.com/office/drawing/2014/main" id="{4544E92E-9750-25E8-32D4-EB60924A013A}"/>
              </a:ext>
            </a:extLst>
          </p:cNvPr>
          <p:cNvSpPr txBox="1"/>
          <p:nvPr/>
        </p:nvSpPr>
        <p:spPr>
          <a:xfrm>
            <a:off x="411480" y="1420139"/>
            <a:ext cx="5059398" cy="338554"/>
          </a:xfrm>
          <a:prstGeom prst="rect">
            <a:avLst/>
          </a:prstGeom>
          <a:noFill/>
        </p:spPr>
        <p:txBody>
          <a:bodyPr wrap="none" rtlCol="0">
            <a:spAutoFit/>
          </a:bodyPr>
          <a:lstStyle/>
          <a:p>
            <a:pPr marL="285750" indent="-285750">
              <a:buFont typeface="Wingdings" panose="05000000000000000000" pitchFamily="2" charset="2"/>
              <a:buChar char="ü"/>
            </a:pPr>
            <a:r>
              <a:rPr lang="zh-CN" altLang="en-US" sz="1600" b="1"/>
              <a:t>模型能够实现燃烧快速仿真和爆震倾向的快速预测</a:t>
            </a:r>
            <a:endParaRPr lang="en-US" altLang="zh-CN" sz="1600" b="1"/>
          </a:p>
        </p:txBody>
      </p:sp>
    </p:spTree>
    <p:extLst>
      <p:ext uri="{BB962C8B-B14F-4D97-AF65-F5344CB8AC3E}">
        <p14:creationId xmlns:p14="http://schemas.microsoft.com/office/powerpoint/2010/main" val="1305951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B0407-36B0-4CD6-05C5-A57B763DCED6}"/>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2CF09E14-241D-2B63-8E85-F41CFAEFD15A}"/>
              </a:ext>
            </a:extLst>
          </p:cNvPr>
          <p:cNvSpPr txBox="1"/>
          <p:nvPr/>
        </p:nvSpPr>
        <p:spPr>
          <a:xfrm>
            <a:off x="0" y="2659559"/>
            <a:ext cx="12192000" cy="769441"/>
          </a:xfrm>
          <a:prstGeom prst="rect">
            <a:avLst/>
          </a:prstGeom>
          <a:noFill/>
        </p:spPr>
        <p:txBody>
          <a:bodyPr wrap="square" rtlCol="0">
            <a:spAutoFit/>
          </a:bodyPr>
          <a:lstStyle/>
          <a:p>
            <a:pPr algn="ctr"/>
            <a:r>
              <a:rPr lang="zh-CN" altLang="en-US" sz="4400" b="1">
                <a:solidFill>
                  <a:schemeClr val="bg1"/>
                </a:solidFill>
                <a:latin typeface="Times New Roman" panose="02020603050405020304" pitchFamily="18" charset="0"/>
                <a:ea typeface="微软雅黑" panose="020B0503020204020204" pitchFamily="34" charset="-122"/>
              </a:rPr>
              <a:t>感谢您的聆听，请批评指正！</a:t>
            </a:r>
          </a:p>
        </p:txBody>
      </p:sp>
      <p:sp>
        <p:nvSpPr>
          <p:cNvPr id="6" name="文本框 5">
            <a:extLst>
              <a:ext uri="{FF2B5EF4-FFF2-40B4-BE49-F238E27FC236}">
                <a16:creationId xmlns:a16="http://schemas.microsoft.com/office/drawing/2014/main" id="{62024B7D-3812-CBB5-405F-1A63488B6286}"/>
              </a:ext>
            </a:extLst>
          </p:cNvPr>
          <p:cNvSpPr txBox="1"/>
          <p:nvPr/>
        </p:nvSpPr>
        <p:spPr>
          <a:xfrm>
            <a:off x="2734322" y="87083"/>
            <a:ext cx="7048869" cy="461665"/>
          </a:xfrm>
          <a:prstGeom prst="rect">
            <a:avLst/>
          </a:prstGeom>
          <a:noFill/>
        </p:spPr>
        <p:txBody>
          <a:bodyPr wrap="square" rtlCol="0">
            <a:spAutoFit/>
          </a:bodyPr>
          <a:lstStyle/>
          <a:p>
            <a:pPr algn="ctr"/>
            <a:r>
              <a:rPr lang="zh-CN" altLang="en-US" sz="2400" b="1">
                <a:solidFill>
                  <a:schemeClr val="bg1"/>
                </a:solidFill>
                <a:latin typeface="Times New Roman" panose="02020603050405020304" pitchFamily="18" charset="0"/>
                <a:ea typeface="微软雅黑" panose="020B0503020204020204" pitchFamily="34" charset="-122"/>
              </a:rPr>
              <a:t>毕业设计答辩</a:t>
            </a:r>
            <a:endParaRPr lang="zh-CN" altLang="en-US" sz="2400" b="1" dirty="0">
              <a:solidFill>
                <a:schemeClr val="bg1"/>
              </a:solidFill>
              <a:latin typeface="Times New Roman" panose="02020603050405020304" pitchFamily="18" charset="0"/>
              <a:ea typeface="微软雅黑" panose="020B0503020204020204" pitchFamily="34" charset="-122"/>
            </a:endParaRPr>
          </a:p>
        </p:txBody>
      </p:sp>
      <p:sp>
        <p:nvSpPr>
          <p:cNvPr id="7" name="文本框 6">
            <a:extLst>
              <a:ext uri="{FF2B5EF4-FFF2-40B4-BE49-F238E27FC236}">
                <a16:creationId xmlns:a16="http://schemas.microsoft.com/office/drawing/2014/main" id="{0A18AFB7-F1F1-0A96-3611-FC74F16D6CCD}"/>
              </a:ext>
            </a:extLst>
          </p:cNvPr>
          <p:cNvSpPr txBox="1"/>
          <p:nvPr/>
        </p:nvSpPr>
        <p:spPr>
          <a:xfrm>
            <a:off x="0" y="4801311"/>
            <a:ext cx="12192000" cy="1307537"/>
          </a:xfrm>
          <a:prstGeom prst="rect">
            <a:avLst/>
          </a:prstGeom>
          <a:noFill/>
        </p:spPr>
        <p:txBody>
          <a:bodyPr wrap="square" rtlCol="0">
            <a:spAutoFit/>
          </a:bodyPr>
          <a:lstStyle/>
          <a:p>
            <a:pPr algn="ctr">
              <a:lnSpc>
                <a:spcPct val="150000"/>
              </a:lnSpc>
            </a:pPr>
            <a:r>
              <a:rPr lang="zh-CN" altLang="en-US" sz="2800" dirty="0">
                <a:latin typeface="Times New Roman" panose="02020603050405020304" pitchFamily="18" charset="0"/>
                <a:ea typeface="微软雅黑" panose="020B0503020204020204" pitchFamily="34" charset="-122"/>
              </a:rPr>
              <a:t>汇报</a:t>
            </a:r>
            <a:r>
              <a:rPr lang="zh-CN" altLang="en-US" sz="2800">
                <a:latin typeface="Times New Roman" panose="02020603050405020304" pitchFamily="18" charset="0"/>
                <a:ea typeface="微软雅黑" panose="020B0503020204020204" pitchFamily="34" charset="-122"/>
              </a:rPr>
              <a:t>人：熊浩</a:t>
            </a:r>
            <a:endParaRPr lang="en-US" altLang="zh-CN" sz="2800">
              <a:latin typeface="Times New Roman" panose="02020603050405020304" pitchFamily="18" charset="0"/>
              <a:ea typeface="微软雅黑" panose="020B0503020204020204" pitchFamily="34" charset="-122"/>
            </a:endParaRPr>
          </a:p>
          <a:p>
            <a:pPr algn="ctr">
              <a:lnSpc>
                <a:spcPct val="150000"/>
              </a:lnSpc>
            </a:pPr>
            <a:r>
              <a:rPr lang="zh-CN" altLang="en-US" sz="2800">
                <a:latin typeface="Times New Roman" panose="02020603050405020304" pitchFamily="18" charset="0"/>
                <a:ea typeface="微软雅黑" panose="020B0503020204020204" pitchFamily="34" charset="-122"/>
              </a:rPr>
              <a:t>指导老师：杨灿</a:t>
            </a:r>
            <a:endParaRPr lang="en-US" altLang="zh-CN" sz="280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0102632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195.85,&quot;left&quot;:93.85,&quot;top&quot;:152.75,&quot;width&quot;:244.55}"/>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10087</TotalTime>
  <Words>4263</Words>
  <Application>Microsoft Office PowerPoint</Application>
  <PresentationFormat>宽屏</PresentationFormat>
  <Paragraphs>600</Paragraphs>
  <Slides>22</Slides>
  <Notes>22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MS PGothic</vt:lpstr>
      <vt:lpstr>等线</vt:lpstr>
      <vt:lpstr>等线 Light</vt:lpstr>
      <vt:lpstr>汉仪宋韵朗黑W</vt:lpstr>
      <vt:lpstr>隶书</vt:lpstr>
      <vt:lpstr>宋体</vt:lpstr>
      <vt:lpstr>微软雅黑</vt:lpstr>
      <vt:lpstr>Arial</vt:lpstr>
      <vt:lpstr>Times New Roman</vt:lpstr>
      <vt:lpstr>Wingdings</vt:lpstr>
      <vt:lpstr>Office 主题​​</vt:lpstr>
      <vt:lpstr>PowerPoint 演示文稿</vt:lpstr>
      <vt:lpstr>目录</vt:lpstr>
      <vt:lpstr>第一章:绪论</vt:lpstr>
      <vt:lpstr>第一章:绪论</vt:lpstr>
      <vt:lpstr>第一章:绪论</vt:lpstr>
      <vt:lpstr>目录</vt:lpstr>
      <vt:lpstr>第二章：氢内燃机准维燃烧模型的构建</vt:lpstr>
      <vt:lpstr>第二章：氢内燃机准维燃烧模型的构建</vt:lpstr>
      <vt:lpstr>第二章：氢内燃机准维燃烧模型的构建</vt:lpstr>
      <vt:lpstr>第二章：氢内燃机准维燃烧模型的构建</vt:lpstr>
      <vt:lpstr>目录</vt:lpstr>
      <vt:lpstr>第三章：氢内燃机爆震唯象模型的构建</vt:lpstr>
      <vt:lpstr>第三章：氢内燃机爆震唯象模型的构建</vt:lpstr>
      <vt:lpstr>第三章：氢内燃机爆震唯象模型的构建</vt:lpstr>
      <vt:lpstr>第三章：氢内燃机爆震唯象模型的构建</vt:lpstr>
      <vt:lpstr>目录</vt:lpstr>
      <vt:lpstr>第四章：氢内燃机燃烧与爆震模型的标定与验证</vt:lpstr>
      <vt:lpstr>第四章：氢内燃机燃烧与爆震模型的标定与验证</vt:lpstr>
      <vt:lpstr>第四章：氢内燃机燃烧与爆震模型的标定与验证</vt:lpstr>
      <vt:lpstr>目录</vt:lpstr>
      <vt:lpstr>第五章：总结与展望</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博文 汪</dc:creator>
  <cp:lastModifiedBy>浩 熊</cp:lastModifiedBy>
  <cp:revision>703</cp:revision>
  <dcterms:created xsi:type="dcterms:W3CDTF">2024-07-16T12:05:39Z</dcterms:created>
  <dcterms:modified xsi:type="dcterms:W3CDTF">2026-05-29T09:46:40Z</dcterms:modified>
</cp:coreProperties>
</file>